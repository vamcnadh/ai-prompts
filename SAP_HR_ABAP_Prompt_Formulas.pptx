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comprehensive tutorial.,[Sources]
- SAP_HR_ABAP_Prompt_Formulas_for_Better_Code_Generation.docx (user-provided content)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map for all ten modules.,[Sources]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visual as a high-level motivation for the course.,[Sources]
- SAP_HR_ABAP_Prompt_Formulas_for_Better_Code_Generation.docx (user-provided content)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eleven components.,[Sources]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workflow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workflow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prompt template and explanation.,[Sources]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exercise with a suggested answer.,[Sources]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review scorecard.,[Sources]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explanation slide.,[Sources]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slide.,[Sources]
- SAP_HR_ABAP_Prompt_Formulas_for_Better_Code_Generation.docx (user-provided content)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6519672"/>
            <a:ext cx="4754880" cy="164592"/>
          </a:xfrm>
          <a:prstGeom prst="rect">
            <a:avLst/>
          </a:prstGeom>
          <a:noFill/>
          <a:ln/>
        </p:spPr>
        <p:txBody>
          <a:bodyPr wrap="square" lIns="0" tIns="0" rIns="0" bIns="0" rtlCol="0" anchor="ctr"/>
          <a:lstStyle/>
          <a:p>
            <a:pPr marL="0" indent="0">
              <a:buNone/>
            </a:pPr>
            <a:r>
              <a:rPr lang="en-US" sz="850" dirty="0">
                <a:solidFill>
                  <a:srgbClr val="7A8494"/>
                </a:solidFill>
              </a:rPr>
              <a:t>SAP HR ABAP Prompt Learning Tutorial</a:t>
            </a:r>
            <a:endParaRPr lang="en-US" sz="8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1" cy="1"/>
          <a:chOff x="0" y="0"/>
          <a:chExt cx="1" cy="1"/>
        </a:xfrm>
      </p:grpSpPr>
      <p:pic>
        <p:nvPicPr>
          <p:cNvPr id="2" name="Image 0" descr="/mnt/data/cf2bfb0269.png"/>
          <p:cNvPicPr>
            <a:picLocks noChangeAspect="1"/>
          </p:cNvPicPr>
          <p:nvPr/>
        </p:nvPicPr>
        <p:blipFill>
          <a:blip r:embed="rId3"/>
          <a:stretch>
            <a:fillRect/>
          </a:stretch>
        </p:blipFill>
        <p:spPr>
          <a:xfrm>
            <a:off x="6766560" y="0"/>
            <a:ext cx="5425135" cy="6858000"/>
          </a:xfrm>
          <a:prstGeom prst="rect">
            <a:avLst/>
          </a:prstGeom>
        </p:spPr>
      </p:pic>
      <p:sp>
        <p:nvSpPr>
          <p:cNvPr id="3" name="Shape 0"/>
          <p:cNvSpPr/>
          <p:nvPr/>
        </p:nvSpPr>
        <p:spPr>
          <a:xfrm>
            <a:off x="6537960" y="0"/>
            <a:ext cx="5653735" cy="6858000"/>
          </a:xfrm>
          <a:prstGeom prst="rect">
            <a:avLst/>
          </a:prstGeom>
          <a:solidFill>
            <a:srgbClr val="0B1F33">
              <a:alpha val="60000"/>
            </a:srgbClr>
          </a:solidFill>
          <a:ln w="12700">
            <a:solidFill>
              <a:srgbClr val="0B1F33">
                <a:alpha val="0"/>
              </a:srgbClr>
            </a:solidFill>
            <a:prstDash val="solid"/>
          </a:ln>
        </p:spPr>
      </p:sp>
      <p:sp>
        <p:nvSpPr>
          <p:cNvPr id="4" name="Text 1"/>
          <p:cNvSpPr/>
          <p:nvPr/>
        </p:nvSpPr>
        <p:spPr>
          <a:xfrm>
            <a:off x="749808" y="914400"/>
            <a:ext cx="5577840" cy="512064"/>
          </a:xfrm>
          <a:prstGeom prst="rect">
            <a:avLst/>
          </a:prstGeom>
          <a:noFill/>
          <a:ln/>
        </p:spPr>
        <p:txBody>
          <a:bodyPr wrap="square" lIns="0" tIns="0" rIns="0" bIns="0" rtlCol="0" anchor="ctr"/>
          <a:lstStyle/>
          <a:p>
            <a:pPr marL="0" indent="0">
              <a:buNone/>
            </a:pPr>
            <a:r>
              <a:rPr lang="en-US" sz="3100" b="1" dirty="0">
                <a:solidFill>
                  <a:srgbClr val="FFFFFF"/>
                </a:solidFill>
              </a:rPr>
              <a:t>SAP HR ABAP</a:t>
            </a:r>
            <a:endParaRPr lang="en-US" sz="3100" dirty="0"/>
          </a:p>
        </p:txBody>
      </p:sp>
      <p:sp>
        <p:nvSpPr>
          <p:cNvPr id="5" name="Text 2"/>
          <p:cNvSpPr/>
          <p:nvPr/>
        </p:nvSpPr>
        <p:spPr>
          <a:xfrm>
            <a:off x="749808" y="1536192"/>
            <a:ext cx="5669280" cy="566928"/>
          </a:xfrm>
          <a:prstGeom prst="rect">
            <a:avLst/>
          </a:prstGeom>
          <a:noFill/>
          <a:ln/>
        </p:spPr>
        <p:txBody>
          <a:bodyPr wrap="square" lIns="0" tIns="0" rIns="0" bIns="0" rtlCol="0" anchor="ctr"/>
          <a:lstStyle/>
          <a:p>
            <a:pPr marL="0" indent="0">
              <a:buNone/>
            </a:pPr>
            <a:r>
              <a:rPr lang="en-US" sz="3400" b="1" dirty="0">
                <a:solidFill>
                  <a:srgbClr val="5EEAD4"/>
                </a:solidFill>
              </a:rPr>
              <a:t>Prompt Formulas</a:t>
            </a:r>
            <a:endParaRPr lang="en-US" sz="3400" dirty="0"/>
          </a:p>
        </p:txBody>
      </p:sp>
      <p:sp>
        <p:nvSpPr>
          <p:cNvPr id="6" name="Text 3"/>
          <p:cNvSpPr/>
          <p:nvPr/>
        </p:nvSpPr>
        <p:spPr>
          <a:xfrm>
            <a:off x="749808" y="2267712"/>
            <a:ext cx="5669280" cy="475488"/>
          </a:xfrm>
          <a:prstGeom prst="rect">
            <a:avLst/>
          </a:prstGeom>
          <a:noFill/>
          <a:ln/>
        </p:spPr>
        <p:txBody>
          <a:bodyPr wrap="square" lIns="0" tIns="0" rIns="0" bIns="0" rtlCol="0" anchor="ctr"/>
          <a:lstStyle/>
          <a:p>
            <a:pPr marL="0" indent="0">
              <a:buNone/>
            </a:pPr>
            <a:r>
              <a:rPr lang="en-US" sz="2600" b="1" dirty="0">
                <a:solidFill>
                  <a:srgbClr val="F59E0B"/>
                </a:solidFill>
              </a:rPr>
              <a:t>100-Slide Learning Tutorial</a:t>
            </a:r>
            <a:endParaRPr lang="en-US" sz="2600" dirty="0"/>
          </a:p>
        </p:txBody>
      </p:sp>
      <p:sp>
        <p:nvSpPr>
          <p:cNvPr id="7" name="Text 4"/>
          <p:cNvSpPr/>
          <p:nvPr/>
        </p:nvSpPr>
        <p:spPr>
          <a:xfrm>
            <a:off x="777240" y="3246120"/>
            <a:ext cx="5212080" cy="658368"/>
          </a:xfrm>
          <a:prstGeom prst="rect">
            <a:avLst/>
          </a:prstGeom>
          <a:noFill/>
          <a:ln/>
        </p:spPr>
        <p:txBody>
          <a:bodyPr wrap="square" lIns="0" tIns="0" rIns="0" bIns="0" rtlCol="0" anchor="ctr"/>
          <a:lstStyle/>
          <a:p>
            <a:pPr marL="0" indent="0">
              <a:buNone/>
            </a:pPr>
            <a:r>
              <a:rPr lang="en-US" sz="1800" dirty="0">
                <a:solidFill>
                  <a:srgbClr val="D7E7F2"/>
                </a:solidFill>
              </a:rPr>
              <a:t>From first prompt to production-ready SAP HR ABAP code requests</a:t>
            </a:r>
            <a:endParaRPr lang="en-US" sz="1800" dirty="0"/>
          </a:p>
        </p:txBody>
      </p:sp>
      <p:sp>
        <p:nvSpPr>
          <p:cNvPr id="8" name="Shape 5"/>
          <p:cNvSpPr/>
          <p:nvPr/>
        </p:nvSpPr>
        <p:spPr>
          <a:xfrm>
            <a:off x="822960" y="4370832"/>
            <a:ext cx="1097280" cy="310896"/>
          </a:xfrm>
          <a:prstGeom prst="roundRect">
            <a:avLst>
              <a:gd name="adj" fmla="val 23529"/>
            </a:avLst>
          </a:prstGeom>
          <a:solidFill>
            <a:srgbClr val="0B5CAD"/>
          </a:solidFill>
          <a:ln w="12700">
            <a:solidFill>
              <a:srgbClr val="0B5CAD"/>
            </a:solidFill>
            <a:prstDash val="solid"/>
          </a:ln>
        </p:spPr>
      </p:sp>
      <p:sp>
        <p:nvSpPr>
          <p:cNvPr id="9" name="Text 6"/>
          <p:cNvSpPr/>
          <p:nvPr/>
        </p:nvSpPr>
        <p:spPr>
          <a:xfrm>
            <a:off x="877824" y="4439412"/>
            <a:ext cx="987552" cy="164592"/>
          </a:xfrm>
          <a:prstGeom prst="rect">
            <a:avLst/>
          </a:prstGeom>
          <a:noFill/>
          <a:ln/>
        </p:spPr>
        <p:txBody>
          <a:bodyPr wrap="square" lIns="0" tIns="0" rIns="0" bIns="0" rtlCol="0" anchor="ctr"/>
          <a:lstStyle/>
          <a:p>
            <a:pPr marL="0" indent="0" algn="ctr">
              <a:buNone/>
            </a:pPr>
            <a:r>
              <a:rPr lang="en-US" sz="900" b="1" dirty="0">
                <a:solidFill>
                  <a:srgbClr val="FFFFFF"/>
                </a:solidFill>
              </a:rPr>
              <a:t>Foundations</a:t>
            </a:r>
            <a:endParaRPr lang="en-US" sz="900" dirty="0"/>
          </a:p>
        </p:txBody>
      </p:sp>
      <p:sp>
        <p:nvSpPr>
          <p:cNvPr id="10" name="Shape 7"/>
          <p:cNvSpPr/>
          <p:nvPr/>
        </p:nvSpPr>
        <p:spPr>
          <a:xfrm>
            <a:off x="2148840" y="4370832"/>
            <a:ext cx="1005840" cy="310896"/>
          </a:xfrm>
          <a:prstGeom prst="roundRect">
            <a:avLst>
              <a:gd name="adj" fmla="val 23529"/>
            </a:avLst>
          </a:prstGeom>
          <a:solidFill>
            <a:srgbClr val="15B8A6"/>
          </a:solidFill>
          <a:ln w="12700">
            <a:solidFill>
              <a:srgbClr val="15B8A6"/>
            </a:solidFill>
            <a:prstDash val="solid"/>
          </a:ln>
        </p:spPr>
      </p:sp>
      <p:sp>
        <p:nvSpPr>
          <p:cNvPr id="11" name="Text 8"/>
          <p:cNvSpPr/>
          <p:nvPr/>
        </p:nvSpPr>
        <p:spPr>
          <a:xfrm>
            <a:off x="2203704" y="4439412"/>
            <a:ext cx="896112" cy="164592"/>
          </a:xfrm>
          <a:prstGeom prst="rect">
            <a:avLst/>
          </a:prstGeom>
          <a:noFill/>
          <a:ln/>
        </p:spPr>
        <p:txBody>
          <a:bodyPr wrap="square" lIns="0" tIns="0" rIns="0" bIns="0" rtlCol="0" anchor="ctr"/>
          <a:lstStyle/>
          <a:p>
            <a:pPr marL="0" indent="0" algn="ctr">
              <a:buNone/>
            </a:pPr>
            <a:r>
              <a:rPr lang="en-US" sz="900" b="1" dirty="0">
                <a:solidFill>
                  <a:srgbClr val="FFFFFF"/>
                </a:solidFill>
              </a:rPr>
              <a:t>Templates</a:t>
            </a:r>
            <a:endParaRPr lang="en-US" sz="900" dirty="0"/>
          </a:p>
        </p:txBody>
      </p:sp>
      <p:sp>
        <p:nvSpPr>
          <p:cNvPr id="12" name="Shape 9"/>
          <p:cNvSpPr/>
          <p:nvPr/>
        </p:nvSpPr>
        <p:spPr>
          <a:xfrm>
            <a:off x="3383280" y="4370832"/>
            <a:ext cx="1508760" cy="310896"/>
          </a:xfrm>
          <a:prstGeom prst="roundRect">
            <a:avLst>
              <a:gd name="adj" fmla="val 23529"/>
            </a:avLst>
          </a:prstGeom>
          <a:solidFill>
            <a:srgbClr val="F59E0B"/>
          </a:solidFill>
          <a:ln w="12700">
            <a:solidFill>
              <a:srgbClr val="F59E0B"/>
            </a:solidFill>
            <a:prstDash val="solid"/>
          </a:ln>
        </p:spPr>
      </p:sp>
      <p:sp>
        <p:nvSpPr>
          <p:cNvPr id="13" name="Text 10"/>
          <p:cNvSpPr/>
          <p:nvPr/>
        </p:nvSpPr>
        <p:spPr>
          <a:xfrm>
            <a:off x="3438144" y="4439412"/>
            <a:ext cx="1399032" cy="164592"/>
          </a:xfrm>
          <a:prstGeom prst="rect">
            <a:avLst/>
          </a:prstGeom>
          <a:noFill/>
          <a:ln/>
        </p:spPr>
        <p:txBody>
          <a:bodyPr wrap="square" lIns="0" tIns="0" rIns="0" bIns="0" rtlCol="0" anchor="ctr"/>
          <a:lstStyle/>
          <a:p>
            <a:pPr marL="0" indent="0" algn="ctr">
              <a:buNone/>
            </a:pPr>
            <a:r>
              <a:rPr lang="en-US" sz="900" b="1" dirty="0">
                <a:solidFill>
                  <a:srgbClr val="FFFFFF"/>
                </a:solidFill>
              </a:rPr>
              <a:t>Worked examples</a:t>
            </a:r>
            <a:endParaRPr lang="en-US" sz="900" dirty="0"/>
          </a:p>
        </p:txBody>
      </p:sp>
      <p:sp>
        <p:nvSpPr>
          <p:cNvPr id="14" name="Shape 11"/>
          <p:cNvSpPr/>
          <p:nvPr/>
        </p:nvSpPr>
        <p:spPr>
          <a:xfrm>
            <a:off x="5120640" y="4370832"/>
            <a:ext cx="960120" cy="310896"/>
          </a:xfrm>
          <a:prstGeom prst="roundRect">
            <a:avLst>
              <a:gd name="adj" fmla="val 23529"/>
            </a:avLst>
          </a:prstGeom>
          <a:solidFill>
            <a:srgbClr val="7C3AED"/>
          </a:solidFill>
          <a:ln w="12700">
            <a:solidFill>
              <a:srgbClr val="7C3AED"/>
            </a:solidFill>
            <a:prstDash val="solid"/>
          </a:ln>
        </p:spPr>
      </p:sp>
      <p:sp>
        <p:nvSpPr>
          <p:cNvPr id="15" name="Text 12"/>
          <p:cNvSpPr/>
          <p:nvPr/>
        </p:nvSpPr>
        <p:spPr>
          <a:xfrm>
            <a:off x="5175504" y="4439412"/>
            <a:ext cx="850392" cy="164592"/>
          </a:xfrm>
          <a:prstGeom prst="rect">
            <a:avLst/>
          </a:prstGeom>
          <a:noFill/>
          <a:ln/>
        </p:spPr>
        <p:txBody>
          <a:bodyPr wrap="square" lIns="0" tIns="0" rIns="0" bIns="0" rtlCol="0" anchor="ctr"/>
          <a:lstStyle/>
          <a:p>
            <a:pPr marL="0" indent="0" algn="ctr">
              <a:buNone/>
            </a:pPr>
            <a:r>
              <a:rPr lang="en-US" sz="900" b="1" dirty="0">
                <a:solidFill>
                  <a:srgbClr val="FFFFFF"/>
                </a:solidFill>
              </a:rPr>
              <a:t>Exercises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How to use this tutorial</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One concept per slide keeps the material readable and presentation-friendly.</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Follow the modules in sequence for classroom learning.</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Jump directly to a task template for day-to-day development.</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Copy prompt blocks and replace the bracketed placeholders.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Use the exercises to test whether a prompt is complete.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Apply the final checklist before requesting production code.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Course map</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Ten modules, each covering one stage of better SAP HR ABAP prompting.</a:t>
            </a:r>
            <a:endParaRPr lang="en-US" sz="1150" dirty="0"/>
          </a:p>
        </p:txBody>
      </p:sp>
      <p:sp>
        <p:nvSpPr>
          <p:cNvPr id="4" name="Shape 2"/>
          <p:cNvSpPr/>
          <p:nvPr/>
        </p:nvSpPr>
        <p:spPr>
          <a:xfrm>
            <a:off x="777240" y="1234440"/>
            <a:ext cx="5074920" cy="694944"/>
          </a:xfrm>
          <a:prstGeom prst="roundRect">
            <a:avLst>
              <a:gd name="adj" fmla="val 10526"/>
            </a:avLst>
          </a:prstGeom>
          <a:solidFill>
            <a:srgbClr val="EDF5FB"/>
          </a:solidFill>
          <a:ln w="12700">
            <a:solidFill>
              <a:srgbClr val="D9E1EA"/>
            </a:solidFill>
            <a:prstDash val="solid"/>
          </a:ln>
        </p:spPr>
      </p:sp>
      <p:sp>
        <p:nvSpPr>
          <p:cNvPr id="5" name="Text 3"/>
          <p:cNvSpPr/>
          <p:nvPr/>
        </p:nvSpPr>
        <p:spPr>
          <a:xfrm>
            <a:off x="941832" y="1426464"/>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01</a:t>
            </a:r>
            <a:endParaRPr lang="en-US" sz="1200" dirty="0"/>
          </a:p>
        </p:txBody>
      </p:sp>
      <p:sp>
        <p:nvSpPr>
          <p:cNvPr id="6" name="Text 4"/>
          <p:cNvSpPr/>
          <p:nvPr/>
        </p:nvSpPr>
        <p:spPr>
          <a:xfrm>
            <a:off x="1463040" y="1399032"/>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Prompt foundations</a:t>
            </a:r>
            <a:endParaRPr lang="en-US" sz="1550" dirty="0"/>
          </a:p>
        </p:txBody>
      </p:sp>
      <p:sp>
        <p:nvSpPr>
          <p:cNvPr id="7" name="Shape 5"/>
          <p:cNvSpPr/>
          <p:nvPr/>
        </p:nvSpPr>
        <p:spPr>
          <a:xfrm>
            <a:off x="6355080" y="1234440"/>
            <a:ext cx="5074920" cy="694944"/>
          </a:xfrm>
          <a:prstGeom prst="roundRect">
            <a:avLst>
              <a:gd name="adj" fmla="val 10526"/>
            </a:avLst>
          </a:prstGeom>
          <a:solidFill>
            <a:srgbClr val="F0FAF8"/>
          </a:solidFill>
          <a:ln w="12700">
            <a:solidFill>
              <a:srgbClr val="D9E1EA"/>
            </a:solidFill>
            <a:prstDash val="solid"/>
          </a:ln>
        </p:spPr>
      </p:sp>
      <p:sp>
        <p:nvSpPr>
          <p:cNvPr id="8" name="Text 6"/>
          <p:cNvSpPr/>
          <p:nvPr/>
        </p:nvSpPr>
        <p:spPr>
          <a:xfrm>
            <a:off x="6519672" y="1426464"/>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02</a:t>
            </a:r>
            <a:endParaRPr lang="en-US" sz="1200" dirty="0"/>
          </a:p>
        </p:txBody>
      </p:sp>
      <p:sp>
        <p:nvSpPr>
          <p:cNvPr id="9" name="Text 7"/>
          <p:cNvSpPr/>
          <p:nvPr/>
        </p:nvSpPr>
        <p:spPr>
          <a:xfrm>
            <a:off x="7040880" y="1399032"/>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Core formula</a:t>
            </a:r>
            <a:endParaRPr lang="en-US" sz="1550" dirty="0"/>
          </a:p>
        </p:txBody>
      </p:sp>
      <p:sp>
        <p:nvSpPr>
          <p:cNvPr id="10" name="Shape 8"/>
          <p:cNvSpPr/>
          <p:nvPr/>
        </p:nvSpPr>
        <p:spPr>
          <a:xfrm>
            <a:off x="777240" y="2176272"/>
            <a:ext cx="5074920" cy="694944"/>
          </a:xfrm>
          <a:prstGeom prst="roundRect">
            <a:avLst>
              <a:gd name="adj" fmla="val 10526"/>
            </a:avLst>
          </a:prstGeom>
          <a:solidFill>
            <a:srgbClr val="EDF5FB"/>
          </a:solidFill>
          <a:ln w="12700">
            <a:solidFill>
              <a:srgbClr val="D9E1EA"/>
            </a:solidFill>
            <a:prstDash val="solid"/>
          </a:ln>
        </p:spPr>
      </p:sp>
      <p:sp>
        <p:nvSpPr>
          <p:cNvPr id="11" name="Text 9"/>
          <p:cNvSpPr/>
          <p:nvPr/>
        </p:nvSpPr>
        <p:spPr>
          <a:xfrm>
            <a:off x="941832" y="2368296"/>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03</a:t>
            </a:r>
            <a:endParaRPr lang="en-US" sz="1200" dirty="0"/>
          </a:p>
        </p:txBody>
      </p:sp>
      <p:sp>
        <p:nvSpPr>
          <p:cNvPr id="12" name="Text 10"/>
          <p:cNvSpPr/>
          <p:nvPr/>
        </p:nvSpPr>
        <p:spPr>
          <a:xfrm>
            <a:off x="1463040" y="2340864"/>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System and compatibility</a:t>
            </a:r>
            <a:endParaRPr lang="en-US" sz="1550" dirty="0"/>
          </a:p>
        </p:txBody>
      </p:sp>
      <p:sp>
        <p:nvSpPr>
          <p:cNvPr id="13" name="Shape 11"/>
          <p:cNvSpPr/>
          <p:nvPr/>
        </p:nvSpPr>
        <p:spPr>
          <a:xfrm>
            <a:off x="6355080" y="2176272"/>
            <a:ext cx="5074920" cy="694944"/>
          </a:xfrm>
          <a:prstGeom prst="roundRect">
            <a:avLst>
              <a:gd name="adj" fmla="val 10526"/>
            </a:avLst>
          </a:prstGeom>
          <a:solidFill>
            <a:srgbClr val="F0FAF8"/>
          </a:solidFill>
          <a:ln w="12700">
            <a:solidFill>
              <a:srgbClr val="D9E1EA"/>
            </a:solidFill>
            <a:prstDash val="solid"/>
          </a:ln>
        </p:spPr>
      </p:sp>
      <p:sp>
        <p:nvSpPr>
          <p:cNvPr id="14" name="Text 12"/>
          <p:cNvSpPr/>
          <p:nvPr/>
        </p:nvSpPr>
        <p:spPr>
          <a:xfrm>
            <a:off x="6519672" y="2368296"/>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04</a:t>
            </a:r>
            <a:endParaRPr lang="en-US" sz="1200" dirty="0"/>
          </a:p>
        </p:txBody>
      </p:sp>
      <p:sp>
        <p:nvSpPr>
          <p:cNvPr id="15" name="Text 13"/>
          <p:cNvSpPr/>
          <p:nvPr/>
        </p:nvSpPr>
        <p:spPr>
          <a:xfrm>
            <a:off x="7040880" y="2340864"/>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Data and business rules</a:t>
            </a:r>
            <a:endParaRPr lang="en-US" sz="1550" dirty="0"/>
          </a:p>
        </p:txBody>
      </p:sp>
      <p:sp>
        <p:nvSpPr>
          <p:cNvPr id="16" name="Shape 14"/>
          <p:cNvSpPr/>
          <p:nvPr/>
        </p:nvSpPr>
        <p:spPr>
          <a:xfrm>
            <a:off x="777240" y="3118104"/>
            <a:ext cx="5074920" cy="694944"/>
          </a:xfrm>
          <a:prstGeom prst="roundRect">
            <a:avLst>
              <a:gd name="adj" fmla="val 10526"/>
            </a:avLst>
          </a:prstGeom>
          <a:solidFill>
            <a:srgbClr val="EDF5FB"/>
          </a:solidFill>
          <a:ln w="12700">
            <a:solidFill>
              <a:srgbClr val="D9E1EA"/>
            </a:solidFill>
            <a:prstDash val="solid"/>
          </a:ln>
        </p:spPr>
      </p:sp>
      <p:sp>
        <p:nvSpPr>
          <p:cNvPr id="17" name="Text 15"/>
          <p:cNvSpPr/>
          <p:nvPr/>
        </p:nvSpPr>
        <p:spPr>
          <a:xfrm>
            <a:off x="941832" y="3310128"/>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05</a:t>
            </a:r>
            <a:endParaRPr lang="en-US" sz="1200" dirty="0"/>
          </a:p>
        </p:txBody>
      </p:sp>
      <p:sp>
        <p:nvSpPr>
          <p:cNvPr id="18" name="Text 16"/>
          <p:cNvSpPr/>
          <p:nvPr/>
        </p:nvSpPr>
        <p:spPr>
          <a:xfrm>
            <a:off x="1463040" y="3282696"/>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Quality and delivery</a:t>
            </a:r>
            <a:endParaRPr lang="en-US" sz="1550" dirty="0"/>
          </a:p>
        </p:txBody>
      </p:sp>
      <p:sp>
        <p:nvSpPr>
          <p:cNvPr id="19" name="Shape 17"/>
          <p:cNvSpPr/>
          <p:nvPr/>
        </p:nvSpPr>
        <p:spPr>
          <a:xfrm>
            <a:off x="6355080" y="3118104"/>
            <a:ext cx="5074920" cy="694944"/>
          </a:xfrm>
          <a:prstGeom prst="roundRect">
            <a:avLst>
              <a:gd name="adj" fmla="val 10526"/>
            </a:avLst>
          </a:prstGeom>
          <a:solidFill>
            <a:srgbClr val="F0FAF8"/>
          </a:solidFill>
          <a:ln w="12700">
            <a:solidFill>
              <a:srgbClr val="D9E1EA"/>
            </a:solidFill>
            <a:prstDash val="solid"/>
          </a:ln>
        </p:spPr>
      </p:sp>
      <p:sp>
        <p:nvSpPr>
          <p:cNvPr id="20" name="Text 18"/>
          <p:cNvSpPr/>
          <p:nvPr/>
        </p:nvSpPr>
        <p:spPr>
          <a:xfrm>
            <a:off x="6519672" y="3310128"/>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06</a:t>
            </a:r>
            <a:endParaRPr lang="en-US" sz="1200" dirty="0"/>
          </a:p>
        </p:txBody>
      </p:sp>
      <p:sp>
        <p:nvSpPr>
          <p:cNvPr id="21" name="Text 19"/>
          <p:cNvSpPr/>
          <p:nvPr/>
        </p:nvSpPr>
        <p:spPr>
          <a:xfrm>
            <a:off x="7040880" y="3282696"/>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ALV reporting</a:t>
            </a:r>
            <a:endParaRPr lang="en-US" sz="1550" dirty="0"/>
          </a:p>
        </p:txBody>
      </p:sp>
      <p:sp>
        <p:nvSpPr>
          <p:cNvPr id="22" name="Shape 20"/>
          <p:cNvSpPr/>
          <p:nvPr/>
        </p:nvSpPr>
        <p:spPr>
          <a:xfrm>
            <a:off x="777240" y="4059936"/>
            <a:ext cx="5074920" cy="694944"/>
          </a:xfrm>
          <a:prstGeom prst="roundRect">
            <a:avLst>
              <a:gd name="adj" fmla="val 10526"/>
            </a:avLst>
          </a:prstGeom>
          <a:solidFill>
            <a:srgbClr val="EDF5FB"/>
          </a:solidFill>
          <a:ln w="12700">
            <a:solidFill>
              <a:srgbClr val="D9E1EA"/>
            </a:solidFill>
            <a:prstDash val="solid"/>
          </a:ln>
        </p:spPr>
      </p:sp>
      <p:sp>
        <p:nvSpPr>
          <p:cNvPr id="23" name="Text 21"/>
          <p:cNvSpPr/>
          <p:nvPr/>
        </p:nvSpPr>
        <p:spPr>
          <a:xfrm>
            <a:off x="941832" y="4251960"/>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07</a:t>
            </a:r>
            <a:endParaRPr lang="en-US" sz="1200" dirty="0"/>
          </a:p>
        </p:txBody>
      </p:sp>
      <p:sp>
        <p:nvSpPr>
          <p:cNvPr id="24" name="Text 22"/>
          <p:cNvSpPr/>
          <p:nvPr/>
        </p:nvSpPr>
        <p:spPr>
          <a:xfrm>
            <a:off x="1463040" y="4224528"/>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Integration and updates</a:t>
            </a:r>
            <a:endParaRPr lang="en-US" sz="1550" dirty="0"/>
          </a:p>
        </p:txBody>
      </p:sp>
      <p:sp>
        <p:nvSpPr>
          <p:cNvPr id="25" name="Shape 23"/>
          <p:cNvSpPr/>
          <p:nvPr/>
        </p:nvSpPr>
        <p:spPr>
          <a:xfrm>
            <a:off x="6355080" y="4059936"/>
            <a:ext cx="5074920" cy="694944"/>
          </a:xfrm>
          <a:prstGeom prst="roundRect">
            <a:avLst>
              <a:gd name="adj" fmla="val 10526"/>
            </a:avLst>
          </a:prstGeom>
          <a:solidFill>
            <a:srgbClr val="F0FAF8"/>
          </a:solidFill>
          <a:ln w="12700">
            <a:solidFill>
              <a:srgbClr val="D9E1EA"/>
            </a:solidFill>
            <a:prstDash val="solid"/>
          </a:ln>
        </p:spPr>
      </p:sp>
      <p:sp>
        <p:nvSpPr>
          <p:cNvPr id="26" name="Text 24"/>
          <p:cNvSpPr/>
          <p:nvPr/>
        </p:nvSpPr>
        <p:spPr>
          <a:xfrm>
            <a:off x="6519672" y="4251960"/>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08</a:t>
            </a:r>
            <a:endParaRPr lang="en-US" sz="1200" dirty="0"/>
          </a:p>
        </p:txBody>
      </p:sp>
      <p:sp>
        <p:nvSpPr>
          <p:cNvPr id="27" name="Text 25"/>
          <p:cNvSpPr/>
          <p:nvPr/>
        </p:nvSpPr>
        <p:spPr>
          <a:xfrm>
            <a:off x="7040880" y="4224528"/>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Performance and modernization</a:t>
            </a:r>
            <a:endParaRPr lang="en-US" sz="1550" dirty="0"/>
          </a:p>
        </p:txBody>
      </p:sp>
      <p:sp>
        <p:nvSpPr>
          <p:cNvPr id="28" name="Shape 26"/>
          <p:cNvSpPr/>
          <p:nvPr/>
        </p:nvSpPr>
        <p:spPr>
          <a:xfrm>
            <a:off x="777240" y="5001768"/>
            <a:ext cx="5074920" cy="694944"/>
          </a:xfrm>
          <a:prstGeom prst="roundRect">
            <a:avLst>
              <a:gd name="adj" fmla="val 10526"/>
            </a:avLst>
          </a:prstGeom>
          <a:solidFill>
            <a:srgbClr val="EDF5FB"/>
          </a:solidFill>
          <a:ln w="12700">
            <a:solidFill>
              <a:srgbClr val="D9E1EA"/>
            </a:solidFill>
            <a:prstDash val="solid"/>
          </a:ln>
        </p:spPr>
      </p:sp>
      <p:sp>
        <p:nvSpPr>
          <p:cNvPr id="29" name="Text 27"/>
          <p:cNvSpPr/>
          <p:nvPr/>
        </p:nvSpPr>
        <p:spPr>
          <a:xfrm>
            <a:off x="941832" y="5193792"/>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09</a:t>
            </a:r>
            <a:endParaRPr lang="en-US" sz="1200" dirty="0"/>
          </a:p>
        </p:txBody>
      </p:sp>
      <p:sp>
        <p:nvSpPr>
          <p:cNvPr id="30" name="Text 28"/>
          <p:cNvSpPr/>
          <p:nvPr/>
        </p:nvSpPr>
        <p:spPr>
          <a:xfrm>
            <a:off x="1463040" y="5166360"/>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Debugging and tracing</a:t>
            </a:r>
            <a:endParaRPr lang="en-US" sz="1550" dirty="0"/>
          </a:p>
        </p:txBody>
      </p:sp>
      <p:sp>
        <p:nvSpPr>
          <p:cNvPr id="31" name="Shape 29"/>
          <p:cNvSpPr/>
          <p:nvPr/>
        </p:nvSpPr>
        <p:spPr>
          <a:xfrm>
            <a:off x="6355080" y="5001768"/>
            <a:ext cx="5074920" cy="694944"/>
          </a:xfrm>
          <a:prstGeom prst="roundRect">
            <a:avLst>
              <a:gd name="adj" fmla="val 10526"/>
            </a:avLst>
          </a:prstGeom>
          <a:solidFill>
            <a:srgbClr val="F0FAF8"/>
          </a:solidFill>
          <a:ln w="12700">
            <a:solidFill>
              <a:srgbClr val="D9E1EA"/>
            </a:solidFill>
            <a:prstDash val="solid"/>
          </a:ln>
        </p:spPr>
      </p:sp>
      <p:sp>
        <p:nvSpPr>
          <p:cNvPr id="32" name="Text 30"/>
          <p:cNvSpPr/>
          <p:nvPr/>
        </p:nvSpPr>
        <p:spPr>
          <a:xfrm>
            <a:off x="6519672" y="5193792"/>
            <a:ext cx="365760" cy="201168"/>
          </a:xfrm>
          <a:prstGeom prst="rect">
            <a:avLst/>
          </a:prstGeom>
          <a:noFill/>
          <a:ln/>
        </p:spPr>
        <p:txBody>
          <a:bodyPr wrap="square" lIns="0" tIns="0" rIns="0" bIns="0" rtlCol="0" anchor="ctr"/>
          <a:lstStyle/>
          <a:p>
            <a:pPr marL="0" indent="0">
              <a:buNone/>
            </a:pPr>
            <a:r>
              <a:rPr lang="en-US" sz="1200" b="1" dirty="0">
                <a:solidFill>
                  <a:srgbClr val="F59E0B"/>
                </a:solidFill>
              </a:rPr>
              <a:t>10</a:t>
            </a:r>
            <a:endParaRPr lang="en-US" sz="1200" dirty="0"/>
          </a:p>
        </p:txBody>
      </p:sp>
      <p:sp>
        <p:nvSpPr>
          <p:cNvPr id="33" name="Text 31"/>
          <p:cNvSpPr/>
          <p:nvPr/>
        </p:nvSpPr>
        <p:spPr>
          <a:xfrm>
            <a:off x="7040880" y="5166360"/>
            <a:ext cx="4069080" cy="274320"/>
          </a:xfrm>
          <a:prstGeom prst="rect">
            <a:avLst/>
          </a:prstGeom>
          <a:noFill/>
          <a:ln/>
        </p:spPr>
        <p:txBody>
          <a:bodyPr wrap="square" lIns="0" tIns="0" rIns="0" bIns="0" rtlCol="0" anchor="ctr"/>
          <a:lstStyle/>
          <a:p>
            <a:pPr marL="0" indent="0">
              <a:buNone/>
            </a:pPr>
            <a:r>
              <a:rPr lang="en-US" sz="1550" b="1" dirty="0">
                <a:solidFill>
                  <a:srgbClr val="0B1F33"/>
                </a:solidFill>
              </a:rPr>
              <a:t>Practice and reference</a:t>
            </a:r>
            <a:endParaRPr lang="en-US" sz="1550" dirty="0"/>
          </a:p>
        </p:txBody>
      </p:sp>
      <p:sp>
        <p:nvSpPr>
          <p:cNvPr id="34"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Learning outcomes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By the end, participants should be able to compose and review SAP HR ABAP prompts.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Separate business requirements from technical constraints.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Specify ECC or S/4HANA and the correct ABAP release.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Describe infotype validity, payroll context and authorization needs.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runnable code, tests, error handling and activation guidance.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Identify assumptions and prevent invented SAP objects.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Why prompt quality matters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structured request moves the interaction from vague output to reviewable code.</a:t>
            </a:r>
            <a:endParaRPr lang="en-US" sz="1150" dirty="0"/>
          </a:p>
        </p:txBody>
      </p:sp>
      <p:pic>
        <p:nvPicPr>
          <p:cNvPr id="4" name="Image 0" descr="/mnt/data/53f2b796f0.png"/>
          <p:cNvPicPr>
            <a:picLocks noChangeAspect="1"/>
          </p:cNvPicPr>
          <p:nvPr/>
        </p:nvPicPr>
        <p:blipFill>
          <a:blip r:embed="rId3"/>
          <a:stretch>
            <a:fillRect/>
          </a:stretch>
        </p:blipFill>
        <p:spPr>
          <a:xfrm>
            <a:off x="685800" y="1234440"/>
            <a:ext cx="10808208" cy="4846320"/>
          </a:xfrm>
          <a:prstGeom prst="rect">
            <a:avLst/>
          </a:prstGeom>
        </p:spPr>
      </p:pic>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01</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PROMPT FOUNDATIONS</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What makes an ABAP prompt useful</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Learn the difference between a coding request and a technical development contract.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Vague vs. structured request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More context reduces iteration and incompatible output.</a:t>
            </a:r>
            <a:endParaRPr lang="en-US" sz="1150" dirty="0"/>
          </a:p>
        </p:txBody>
      </p:sp>
      <p:sp>
        <p:nvSpPr>
          <p:cNvPr id="4" name="Shape 2"/>
          <p:cNvSpPr/>
          <p:nvPr/>
        </p:nvSpPr>
        <p:spPr>
          <a:xfrm>
            <a:off x="658368" y="1280160"/>
            <a:ext cx="5349240" cy="4709160"/>
          </a:xfrm>
          <a:prstGeom prst="roundRect">
            <a:avLst>
              <a:gd name="adj" fmla="val 1553"/>
            </a:avLst>
          </a:prstGeom>
          <a:solidFill>
            <a:srgbClr val="FFF7F7"/>
          </a:solidFill>
          <a:ln w="12700">
            <a:solidFill>
              <a:srgbClr val="F1C7C7"/>
            </a:solidFill>
            <a:prstDash val="solid"/>
          </a:ln>
        </p:spPr>
      </p:sp>
      <p:sp>
        <p:nvSpPr>
          <p:cNvPr id="5" name="Shape 3"/>
          <p:cNvSpPr/>
          <p:nvPr/>
        </p:nvSpPr>
        <p:spPr>
          <a:xfrm>
            <a:off x="6190488" y="1280160"/>
            <a:ext cx="5349240" cy="4709160"/>
          </a:xfrm>
          <a:prstGeom prst="roundRect">
            <a:avLst>
              <a:gd name="adj" fmla="val 1553"/>
            </a:avLst>
          </a:prstGeom>
          <a:solidFill>
            <a:srgbClr val="F2FBFA"/>
          </a:solidFill>
          <a:ln w="12700">
            <a:solidFill>
              <a:srgbClr val="A7DDD6"/>
            </a:solidFill>
            <a:prstDash val="solid"/>
          </a:ln>
        </p:spPr>
      </p:sp>
      <p:sp>
        <p:nvSpPr>
          <p:cNvPr id="6" name="Shape 4"/>
          <p:cNvSpPr/>
          <p:nvPr/>
        </p:nvSpPr>
        <p:spPr>
          <a:xfrm>
            <a:off x="914400" y="1536192"/>
            <a:ext cx="1554480" cy="310896"/>
          </a:xfrm>
          <a:prstGeom prst="roundRect">
            <a:avLst>
              <a:gd name="adj" fmla="val 23529"/>
            </a:avLst>
          </a:prstGeom>
          <a:solidFill>
            <a:srgbClr val="D14343"/>
          </a:solidFill>
          <a:ln w="12700">
            <a:solidFill>
              <a:srgbClr val="D14343"/>
            </a:solidFill>
            <a:prstDash val="solid"/>
          </a:ln>
        </p:spPr>
      </p:sp>
      <p:sp>
        <p:nvSpPr>
          <p:cNvPr id="7" name="Text 5"/>
          <p:cNvSpPr/>
          <p:nvPr/>
        </p:nvSpPr>
        <p:spPr>
          <a:xfrm>
            <a:off x="969264" y="1604772"/>
            <a:ext cx="1444752" cy="164592"/>
          </a:xfrm>
          <a:prstGeom prst="rect">
            <a:avLst/>
          </a:prstGeom>
          <a:noFill/>
          <a:ln/>
        </p:spPr>
        <p:txBody>
          <a:bodyPr wrap="square" lIns="0" tIns="0" rIns="0" bIns="0" rtlCol="0" anchor="ctr"/>
          <a:lstStyle/>
          <a:p>
            <a:pPr marL="0" indent="0" algn="ctr">
              <a:buNone/>
            </a:pPr>
            <a:r>
              <a:rPr lang="en-US" sz="900" b="1" dirty="0">
                <a:solidFill>
                  <a:srgbClr val="FFFFFF"/>
                </a:solidFill>
              </a:rPr>
              <a:t>Vague</a:t>
            </a:r>
            <a:endParaRPr lang="en-US" sz="900" dirty="0"/>
          </a:p>
        </p:txBody>
      </p:sp>
      <p:sp>
        <p:nvSpPr>
          <p:cNvPr id="8" name="Shape 6"/>
          <p:cNvSpPr/>
          <p:nvPr/>
        </p:nvSpPr>
        <p:spPr>
          <a:xfrm>
            <a:off x="6446520" y="1536192"/>
            <a:ext cx="1737360" cy="310896"/>
          </a:xfrm>
          <a:prstGeom prst="roundRect">
            <a:avLst>
              <a:gd name="adj" fmla="val 23529"/>
            </a:avLst>
          </a:prstGeom>
          <a:solidFill>
            <a:srgbClr val="15B8A6"/>
          </a:solidFill>
          <a:ln w="12700">
            <a:solidFill>
              <a:srgbClr val="15B8A6"/>
            </a:solidFill>
            <a:prstDash val="solid"/>
          </a:ln>
        </p:spPr>
      </p:sp>
      <p:sp>
        <p:nvSpPr>
          <p:cNvPr id="9" name="Text 7"/>
          <p:cNvSpPr/>
          <p:nvPr/>
        </p:nvSpPr>
        <p:spPr>
          <a:xfrm>
            <a:off x="6501384" y="1604772"/>
            <a:ext cx="1627632" cy="164592"/>
          </a:xfrm>
          <a:prstGeom prst="rect">
            <a:avLst/>
          </a:prstGeom>
          <a:noFill/>
          <a:ln/>
        </p:spPr>
        <p:txBody>
          <a:bodyPr wrap="square" lIns="0" tIns="0" rIns="0" bIns="0" rtlCol="0" anchor="ctr"/>
          <a:lstStyle/>
          <a:p>
            <a:pPr marL="0" indent="0" algn="ctr">
              <a:buNone/>
            </a:pPr>
            <a:r>
              <a:rPr lang="en-US" sz="900" b="1" dirty="0">
                <a:solidFill>
                  <a:srgbClr val="FFFFFF"/>
                </a:solidFill>
              </a:rPr>
              <a:t>Structured</a:t>
            </a:r>
            <a:endParaRPr lang="en-US" sz="900" dirty="0"/>
          </a:p>
        </p:txBody>
      </p:sp>
      <p:sp>
        <p:nvSpPr>
          <p:cNvPr id="10" name="Shape 8"/>
          <p:cNvSpPr/>
          <p:nvPr/>
        </p:nvSpPr>
        <p:spPr>
          <a:xfrm>
            <a:off x="960120" y="2221992"/>
            <a:ext cx="201168" cy="201168"/>
          </a:xfrm>
          <a:prstGeom prst="ellipse">
            <a:avLst/>
          </a:prstGeom>
          <a:solidFill>
            <a:srgbClr val="15B8A6"/>
          </a:solidFill>
          <a:ln w="12700">
            <a:solidFill>
              <a:srgbClr val="15B8A6"/>
            </a:solidFill>
            <a:prstDash val="solid"/>
          </a:ln>
        </p:spPr>
      </p:sp>
      <p:sp>
        <p:nvSpPr>
          <p:cNvPr id="11" name="Text 9"/>
          <p:cNvSpPr/>
          <p:nvPr/>
        </p:nvSpPr>
        <p:spPr>
          <a:xfrm>
            <a:off x="130759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“Write an HR report”</a:t>
            </a:r>
            <a:endParaRPr lang="en-US" sz="1400" dirty="0"/>
          </a:p>
        </p:txBody>
      </p:sp>
      <p:sp>
        <p:nvSpPr>
          <p:cNvPr id="12" name="Shape 10"/>
          <p:cNvSpPr/>
          <p:nvPr/>
        </p:nvSpPr>
        <p:spPr>
          <a:xfrm>
            <a:off x="960120" y="2816352"/>
            <a:ext cx="201168" cy="201168"/>
          </a:xfrm>
          <a:prstGeom prst="ellipse">
            <a:avLst/>
          </a:prstGeom>
          <a:solidFill>
            <a:srgbClr val="15B8A6"/>
          </a:solidFill>
          <a:ln w="12700">
            <a:solidFill>
              <a:srgbClr val="15B8A6"/>
            </a:solidFill>
            <a:prstDash val="solid"/>
          </a:ln>
        </p:spPr>
      </p:sp>
      <p:sp>
        <p:nvSpPr>
          <p:cNvPr id="13" name="Text 11"/>
          <p:cNvSpPr/>
          <p:nvPr/>
        </p:nvSpPr>
        <p:spPr>
          <a:xfrm>
            <a:off x="130759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system or release</a:t>
            </a:r>
            <a:endParaRPr lang="en-US" sz="1400" dirty="0"/>
          </a:p>
        </p:txBody>
      </p:sp>
      <p:sp>
        <p:nvSpPr>
          <p:cNvPr id="14" name="Shape 12"/>
          <p:cNvSpPr/>
          <p:nvPr/>
        </p:nvSpPr>
        <p:spPr>
          <a:xfrm>
            <a:off x="960120" y="3410712"/>
            <a:ext cx="201168" cy="201168"/>
          </a:xfrm>
          <a:prstGeom prst="ellipse">
            <a:avLst/>
          </a:prstGeom>
          <a:solidFill>
            <a:srgbClr val="15B8A6"/>
          </a:solidFill>
          <a:ln w="12700">
            <a:solidFill>
              <a:srgbClr val="15B8A6"/>
            </a:solidFill>
            <a:prstDash val="solid"/>
          </a:ln>
        </p:spPr>
      </p:sp>
      <p:sp>
        <p:nvSpPr>
          <p:cNvPr id="15" name="Text 13"/>
          <p:cNvSpPr/>
          <p:nvPr/>
        </p:nvSpPr>
        <p:spPr>
          <a:xfrm>
            <a:off x="130759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source data</a:t>
            </a:r>
            <a:endParaRPr lang="en-US" sz="1400" dirty="0"/>
          </a:p>
        </p:txBody>
      </p:sp>
      <p:sp>
        <p:nvSpPr>
          <p:cNvPr id="16" name="Shape 14"/>
          <p:cNvSpPr/>
          <p:nvPr/>
        </p:nvSpPr>
        <p:spPr>
          <a:xfrm>
            <a:off x="960120" y="4005072"/>
            <a:ext cx="201168" cy="201168"/>
          </a:xfrm>
          <a:prstGeom prst="ellipse">
            <a:avLst/>
          </a:prstGeom>
          <a:solidFill>
            <a:srgbClr val="15B8A6"/>
          </a:solidFill>
          <a:ln w="12700">
            <a:solidFill>
              <a:srgbClr val="15B8A6"/>
            </a:solidFill>
            <a:prstDash val="solid"/>
          </a:ln>
        </p:spPr>
      </p:sp>
      <p:sp>
        <p:nvSpPr>
          <p:cNvPr id="17" name="Text 15"/>
          <p:cNvSpPr/>
          <p:nvPr/>
        </p:nvSpPr>
        <p:spPr>
          <a:xfrm>
            <a:off x="130759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business rule</a:t>
            </a:r>
            <a:endParaRPr lang="en-US" sz="1400" dirty="0"/>
          </a:p>
        </p:txBody>
      </p:sp>
      <p:sp>
        <p:nvSpPr>
          <p:cNvPr id="18" name="Shape 16"/>
          <p:cNvSpPr/>
          <p:nvPr/>
        </p:nvSpPr>
        <p:spPr>
          <a:xfrm>
            <a:off x="960120" y="4599432"/>
            <a:ext cx="201168" cy="201168"/>
          </a:xfrm>
          <a:prstGeom prst="ellipse">
            <a:avLst/>
          </a:prstGeom>
          <a:solidFill>
            <a:srgbClr val="15B8A6"/>
          </a:solidFill>
          <a:ln w="12700">
            <a:solidFill>
              <a:srgbClr val="15B8A6"/>
            </a:solidFill>
            <a:prstDash val="solid"/>
          </a:ln>
        </p:spPr>
      </p:sp>
      <p:sp>
        <p:nvSpPr>
          <p:cNvPr id="19" name="Text 17"/>
          <p:cNvSpPr/>
          <p:nvPr/>
        </p:nvSpPr>
        <p:spPr>
          <a:xfrm>
            <a:off x="130759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acceptance test</a:t>
            </a:r>
            <a:endParaRPr lang="en-US" sz="1400" dirty="0"/>
          </a:p>
        </p:txBody>
      </p:sp>
      <p:sp>
        <p:nvSpPr>
          <p:cNvPr id="20" name="Shape 18"/>
          <p:cNvSpPr/>
          <p:nvPr/>
        </p:nvSpPr>
        <p:spPr>
          <a:xfrm>
            <a:off x="6492240" y="2221992"/>
            <a:ext cx="201168" cy="201168"/>
          </a:xfrm>
          <a:prstGeom prst="ellipse">
            <a:avLst/>
          </a:prstGeom>
          <a:solidFill>
            <a:srgbClr val="15B8A6"/>
          </a:solidFill>
          <a:ln w="12700">
            <a:solidFill>
              <a:srgbClr val="15B8A6"/>
            </a:solidFill>
            <a:prstDash val="solid"/>
          </a:ln>
        </p:spPr>
      </p:sp>
      <p:sp>
        <p:nvSpPr>
          <p:cNvPr id="21" name="Text 19"/>
          <p:cNvSpPr/>
          <p:nvPr/>
        </p:nvSpPr>
        <p:spPr>
          <a:xfrm>
            <a:off x="683971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Object and system stated</a:t>
            </a:r>
            <a:endParaRPr lang="en-US" sz="1400" dirty="0"/>
          </a:p>
        </p:txBody>
      </p:sp>
      <p:sp>
        <p:nvSpPr>
          <p:cNvPr id="22" name="Shape 20"/>
          <p:cNvSpPr/>
          <p:nvPr/>
        </p:nvSpPr>
        <p:spPr>
          <a:xfrm>
            <a:off x="6492240" y="2816352"/>
            <a:ext cx="201168" cy="201168"/>
          </a:xfrm>
          <a:prstGeom prst="ellipse">
            <a:avLst/>
          </a:prstGeom>
          <a:solidFill>
            <a:srgbClr val="15B8A6"/>
          </a:solidFill>
          <a:ln w="12700">
            <a:solidFill>
              <a:srgbClr val="15B8A6"/>
            </a:solidFill>
            <a:prstDash val="solid"/>
          </a:ln>
        </p:spPr>
      </p:sp>
      <p:sp>
        <p:nvSpPr>
          <p:cNvPr id="23" name="Text 21"/>
          <p:cNvSpPr/>
          <p:nvPr/>
        </p:nvSpPr>
        <p:spPr>
          <a:xfrm>
            <a:off x="683971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Inputs and outputs named</a:t>
            </a:r>
            <a:endParaRPr lang="en-US" sz="1400" dirty="0"/>
          </a:p>
        </p:txBody>
      </p:sp>
      <p:sp>
        <p:nvSpPr>
          <p:cNvPr id="24" name="Shape 22"/>
          <p:cNvSpPr/>
          <p:nvPr/>
        </p:nvSpPr>
        <p:spPr>
          <a:xfrm>
            <a:off x="6492240" y="3410712"/>
            <a:ext cx="201168" cy="201168"/>
          </a:xfrm>
          <a:prstGeom prst="ellipse">
            <a:avLst/>
          </a:prstGeom>
          <a:solidFill>
            <a:srgbClr val="15B8A6"/>
          </a:solidFill>
          <a:ln w="12700">
            <a:solidFill>
              <a:srgbClr val="15B8A6"/>
            </a:solidFill>
            <a:prstDash val="solid"/>
          </a:ln>
        </p:spPr>
      </p:sp>
      <p:sp>
        <p:nvSpPr>
          <p:cNvPr id="25" name="Text 23"/>
          <p:cNvSpPr/>
          <p:nvPr/>
        </p:nvSpPr>
        <p:spPr>
          <a:xfrm>
            <a:off x="683971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Rules and constraints listed</a:t>
            </a:r>
            <a:endParaRPr lang="en-US" sz="1400" dirty="0"/>
          </a:p>
        </p:txBody>
      </p:sp>
      <p:sp>
        <p:nvSpPr>
          <p:cNvPr id="26" name="Shape 24"/>
          <p:cNvSpPr/>
          <p:nvPr/>
        </p:nvSpPr>
        <p:spPr>
          <a:xfrm>
            <a:off x="6492240" y="4005072"/>
            <a:ext cx="201168" cy="201168"/>
          </a:xfrm>
          <a:prstGeom prst="ellipse">
            <a:avLst/>
          </a:prstGeom>
          <a:solidFill>
            <a:srgbClr val="15B8A6"/>
          </a:solidFill>
          <a:ln w="12700">
            <a:solidFill>
              <a:srgbClr val="15B8A6"/>
            </a:solidFill>
            <a:prstDash val="solid"/>
          </a:ln>
        </p:spPr>
      </p:sp>
      <p:sp>
        <p:nvSpPr>
          <p:cNvPr id="27" name="Text 25"/>
          <p:cNvSpPr/>
          <p:nvPr/>
        </p:nvSpPr>
        <p:spPr>
          <a:xfrm>
            <a:off x="683971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Errors and tests requested</a:t>
            </a:r>
            <a:endParaRPr lang="en-US" sz="1400" dirty="0"/>
          </a:p>
        </p:txBody>
      </p:sp>
      <p:sp>
        <p:nvSpPr>
          <p:cNvPr id="28" name="Shape 26"/>
          <p:cNvSpPr/>
          <p:nvPr/>
        </p:nvSpPr>
        <p:spPr>
          <a:xfrm>
            <a:off x="6492240" y="4599432"/>
            <a:ext cx="201168" cy="201168"/>
          </a:xfrm>
          <a:prstGeom prst="ellipse">
            <a:avLst/>
          </a:prstGeom>
          <a:solidFill>
            <a:srgbClr val="15B8A6"/>
          </a:solidFill>
          <a:ln w="12700">
            <a:solidFill>
              <a:srgbClr val="15B8A6"/>
            </a:solidFill>
            <a:prstDash val="solid"/>
          </a:ln>
        </p:spPr>
      </p:sp>
      <p:sp>
        <p:nvSpPr>
          <p:cNvPr id="29" name="Text 27"/>
          <p:cNvSpPr/>
          <p:nvPr/>
        </p:nvSpPr>
        <p:spPr>
          <a:xfrm>
            <a:off x="683971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Assumptions visible</a:t>
            </a:r>
            <a:endParaRPr lang="en-US" sz="1400" dirty="0"/>
          </a:p>
        </p:txBody>
      </p:sp>
      <p:sp>
        <p:nvSpPr>
          <p:cNvPr id="30"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 prompt is a development contract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strong request aligns the requester and the generated response.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It defines what must be built.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It identifies data dependencies and boundaries.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It specifies how success will be evaluated.</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It makes unverified assumptions visible.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It gives a reviewer a checklist for the code.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The four layers of a strong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Think in layers rather than writing one long paragraph.</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Business layer: purpose and expected result.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SAP layer: modules, infotypes, tables and country process.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ABAP layer: object type, release, database and design style.</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Delivery layer: code, tests, errors, activation and acceptance.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Short is not the same as vague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short prompt can still be precise when the task is narrow.</a:t>
            </a:r>
            <a:endParaRPr lang="en-US" sz="1150" dirty="0"/>
          </a:p>
        </p:txBody>
      </p:sp>
      <p:sp>
        <p:nvSpPr>
          <p:cNvPr id="4" name="Shape 2"/>
          <p:cNvSpPr/>
          <p:nvPr/>
        </p:nvSpPr>
        <p:spPr>
          <a:xfrm>
            <a:off x="658368" y="1280160"/>
            <a:ext cx="5349240" cy="4709160"/>
          </a:xfrm>
          <a:prstGeom prst="roundRect">
            <a:avLst>
              <a:gd name="adj" fmla="val 1553"/>
            </a:avLst>
          </a:prstGeom>
          <a:solidFill>
            <a:srgbClr val="FFF7F7"/>
          </a:solidFill>
          <a:ln w="12700">
            <a:solidFill>
              <a:srgbClr val="F1C7C7"/>
            </a:solidFill>
            <a:prstDash val="solid"/>
          </a:ln>
        </p:spPr>
      </p:sp>
      <p:sp>
        <p:nvSpPr>
          <p:cNvPr id="5" name="Shape 3"/>
          <p:cNvSpPr/>
          <p:nvPr/>
        </p:nvSpPr>
        <p:spPr>
          <a:xfrm>
            <a:off x="6190488" y="1280160"/>
            <a:ext cx="5349240" cy="4709160"/>
          </a:xfrm>
          <a:prstGeom prst="roundRect">
            <a:avLst>
              <a:gd name="adj" fmla="val 1553"/>
            </a:avLst>
          </a:prstGeom>
          <a:solidFill>
            <a:srgbClr val="F2FBFA"/>
          </a:solidFill>
          <a:ln w="12700">
            <a:solidFill>
              <a:srgbClr val="A7DDD6"/>
            </a:solidFill>
            <a:prstDash val="solid"/>
          </a:ln>
        </p:spPr>
      </p:sp>
      <p:sp>
        <p:nvSpPr>
          <p:cNvPr id="6" name="Shape 4"/>
          <p:cNvSpPr/>
          <p:nvPr/>
        </p:nvSpPr>
        <p:spPr>
          <a:xfrm>
            <a:off x="914400" y="1536192"/>
            <a:ext cx="1554480" cy="310896"/>
          </a:xfrm>
          <a:prstGeom prst="roundRect">
            <a:avLst>
              <a:gd name="adj" fmla="val 23529"/>
            </a:avLst>
          </a:prstGeom>
          <a:solidFill>
            <a:srgbClr val="D14343"/>
          </a:solidFill>
          <a:ln w="12700">
            <a:solidFill>
              <a:srgbClr val="D14343"/>
            </a:solidFill>
            <a:prstDash val="solid"/>
          </a:ln>
        </p:spPr>
      </p:sp>
      <p:sp>
        <p:nvSpPr>
          <p:cNvPr id="7" name="Text 5"/>
          <p:cNvSpPr/>
          <p:nvPr/>
        </p:nvSpPr>
        <p:spPr>
          <a:xfrm>
            <a:off x="969264" y="1604772"/>
            <a:ext cx="1444752" cy="164592"/>
          </a:xfrm>
          <a:prstGeom prst="rect">
            <a:avLst/>
          </a:prstGeom>
          <a:noFill/>
          <a:ln/>
        </p:spPr>
        <p:txBody>
          <a:bodyPr wrap="square" lIns="0" tIns="0" rIns="0" bIns="0" rtlCol="0" anchor="ctr"/>
          <a:lstStyle/>
          <a:p>
            <a:pPr marL="0" indent="0" algn="ctr">
              <a:buNone/>
            </a:pPr>
            <a:r>
              <a:rPr lang="en-US" sz="900" b="1" dirty="0">
                <a:solidFill>
                  <a:srgbClr val="FFFFFF"/>
                </a:solidFill>
              </a:rPr>
              <a:t>Too short</a:t>
            </a:r>
            <a:endParaRPr lang="en-US" sz="900" dirty="0"/>
          </a:p>
        </p:txBody>
      </p:sp>
      <p:sp>
        <p:nvSpPr>
          <p:cNvPr id="8" name="Shape 6"/>
          <p:cNvSpPr/>
          <p:nvPr/>
        </p:nvSpPr>
        <p:spPr>
          <a:xfrm>
            <a:off x="6446520" y="1536192"/>
            <a:ext cx="1737360" cy="310896"/>
          </a:xfrm>
          <a:prstGeom prst="roundRect">
            <a:avLst>
              <a:gd name="adj" fmla="val 23529"/>
            </a:avLst>
          </a:prstGeom>
          <a:solidFill>
            <a:srgbClr val="15B8A6"/>
          </a:solidFill>
          <a:ln w="12700">
            <a:solidFill>
              <a:srgbClr val="15B8A6"/>
            </a:solidFill>
            <a:prstDash val="solid"/>
          </a:ln>
        </p:spPr>
      </p:sp>
      <p:sp>
        <p:nvSpPr>
          <p:cNvPr id="9" name="Text 7"/>
          <p:cNvSpPr/>
          <p:nvPr/>
        </p:nvSpPr>
        <p:spPr>
          <a:xfrm>
            <a:off x="6501384" y="1604772"/>
            <a:ext cx="1627632" cy="164592"/>
          </a:xfrm>
          <a:prstGeom prst="rect">
            <a:avLst/>
          </a:prstGeom>
          <a:noFill/>
          <a:ln/>
        </p:spPr>
        <p:txBody>
          <a:bodyPr wrap="square" lIns="0" tIns="0" rIns="0" bIns="0" rtlCol="0" anchor="ctr"/>
          <a:lstStyle/>
          <a:p>
            <a:pPr marL="0" indent="0" algn="ctr">
              <a:buNone/>
            </a:pPr>
            <a:r>
              <a:rPr lang="en-US" sz="900" b="1" dirty="0">
                <a:solidFill>
                  <a:srgbClr val="FFFFFF"/>
                </a:solidFill>
              </a:rPr>
              <a:t>Short but precise</a:t>
            </a:r>
            <a:endParaRPr lang="en-US" sz="900" dirty="0"/>
          </a:p>
        </p:txBody>
      </p:sp>
      <p:sp>
        <p:nvSpPr>
          <p:cNvPr id="10" name="Shape 8"/>
          <p:cNvSpPr/>
          <p:nvPr/>
        </p:nvSpPr>
        <p:spPr>
          <a:xfrm>
            <a:off x="960120" y="2221992"/>
            <a:ext cx="201168" cy="201168"/>
          </a:xfrm>
          <a:prstGeom prst="ellipse">
            <a:avLst/>
          </a:prstGeom>
          <a:solidFill>
            <a:srgbClr val="15B8A6"/>
          </a:solidFill>
          <a:ln w="12700">
            <a:solidFill>
              <a:srgbClr val="15B8A6"/>
            </a:solidFill>
            <a:prstDash val="solid"/>
          </a:ln>
        </p:spPr>
      </p:sp>
      <p:sp>
        <p:nvSpPr>
          <p:cNvPr id="11" name="Text 9"/>
          <p:cNvSpPr/>
          <p:nvPr/>
        </p:nvSpPr>
        <p:spPr>
          <a:xfrm>
            <a:off x="130759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“Fix this code.”</a:t>
            </a:r>
            <a:endParaRPr lang="en-US" sz="1400" dirty="0"/>
          </a:p>
        </p:txBody>
      </p:sp>
      <p:sp>
        <p:nvSpPr>
          <p:cNvPr id="12" name="Shape 10"/>
          <p:cNvSpPr/>
          <p:nvPr/>
        </p:nvSpPr>
        <p:spPr>
          <a:xfrm>
            <a:off x="960120" y="2816352"/>
            <a:ext cx="201168" cy="201168"/>
          </a:xfrm>
          <a:prstGeom prst="ellipse">
            <a:avLst/>
          </a:prstGeom>
          <a:solidFill>
            <a:srgbClr val="15B8A6"/>
          </a:solidFill>
          <a:ln w="12700">
            <a:solidFill>
              <a:srgbClr val="15B8A6"/>
            </a:solidFill>
            <a:prstDash val="solid"/>
          </a:ln>
        </p:spPr>
      </p:sp>
      <p:sp>
        <p:nvSpPr>
          <p:cNvPr id="13" name="Text 11"/>
          <p:cNvSpPr/>
          <p:nvPr/>
        </p:nvSpPr>
        <p:spPr>
          <a:xfrm>
            <a:off x="130759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expected behavior</a:t>
            </a:r>
            <a:endParaRPr lang="en-US" sz="1400" dirty="0"/>
          </a:p>
        </p:txBody>
      </p:sp>
      <p:sp>
        <p:nvSpPr>
          <p:cNvPr id="14" name="Shape 12"/>
          <p:cNvSpPr/>
          <p:nvPr/>
        </p:nvSpPr>
        <p:spPr>
          <a:xfrm>
            <a:off x="960120" y="3410712"/>
            <a:ext cx="201168" cy="201168"/>
          </a:xfrm>
          <a:prstGeom prst="ellipse">
            <a:avLst/>
          </a:prstGeom>
          <a:solidFill>
            <a:srgbClr val="15B8A6"/>
          </a:solidFill>
          <a:ln w="12700">
            <a:solidFill>
              <a:srgbClr val="15B8A6"/>
            </a:solidFill>
            <a:prstDash val="solid"/>
          </a:ln>
        </p:spPr>
      </p:sp>
      <p:sp>
        <p:nvSpPr>
          <p:cNvPr id="15" name="Text 13"/>
          <p:cNvSpPr/>
          <p:nvPr/>
        </p:nvSpPr>
        <p:spPr>
          <a:xfrm>
            <a:off x="130759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runtime context</a:t>
            </a:r>
            <a:endParaRPr lang="en-US" sz="1400" dirty="0"/>
          </a:p>
        </p:txBody>
      </p:sp>
      <p:sp>
        <p:nvSpPr>
          <p:cNvPr id="16" name="Shape 14"/>
          <p:cNvSpPr/>
          <p:nvPr/>
        </p:nvSpPr>
        <p:spPr>
          <a:xfrm>
            <a:off x="960120" y="4005072"/>
            <a:ext cx="201168" cy="201168"/>
          </a:xfrm>
          <a:prstGeom prst="ellipse">
            <a:avLst/>
          </a:prstGeom>
          <a:solidFill>
            <a:srgbClr val="15B8A6"/>
          </a:solidFill>
          <a:ln w="12700">
            <a:solidFill>
              <a:srgbClr val="15B8A6"/>
            </a:solidFill>
            <a:prstDash val="solid"/>
          </a:ln>
        </p:spPr>
      </p:sp>
      <p:sp>
        <p:nvSpPr>
          <p:cNvPr id="17" name="Text 15"/>
          <p:cNvSpPr/>
          <p:nvPr/>
        </p:nvSpPr>
        <p:spPr>
          <a:xfrm>
            <a:off x="130759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error details</a:t>
            </a:r>
            <a:endParaRPr lang="en-US" sz="1400" dirty="0"/>
          </a:p>
        </p:txBody>
      </p:sp>
      <p:sp>
        <p:nvSpPr>
          <p:cNvPr id="18" name="Shape 16"/>
          <p:cNvSpPr/>
          <p:nvPr/>
        </p:nvSpPr>
        <p:spPr>
          <a:xfrm>
            <a:off x="960120" y="4599432"/>
            <a:ext cx="201168" cy="201168"/>
          </a:xfrm>
          <a:prstGeom prst="ellipse">
            <a:avLst/>
          </a:prstGeom>
          <a:solidFill>
            <a:srgbClr val="15B8A6"/>
          </a:solidFill>
          <a:ln w="12700">
            <a:solidFill>
              <a:srgbClr val="15B8A6"/>
            </a:solidFill>
            <a:prstDash val="solid"/>
          </a:ln>
        </p:spPr>
      </p:sp>
      <p:sp>
        <p:nvSpPr>
          <p:cNvPr id="19" name="Text 17"/>
          <p:cNvSpPr/>
          <p:nvPr/>
        </p:nvSpPr>
        <p:spPr>
          <a:xfrm>
            <a:off x="130759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No supported release</a:t>
            </a:r>
            <a:endParaRPr lang="en-US" sz="1400" dirty="0"/>
          </a:p>
        </p:txBody>
      </p:sp>
      <p:sp>
        <p:nvSpPr>
          <p:cNvPr id="20" name="Shape 18"/>
          <p:cNvSpPr/>
          <p:nvPr/>
        </p:nvSpPr>
        <p:spPr>
          <a:xfrm>
            <a:off x="6492240" y="2221992"/>
            <a:ext cx="201168" cy="201168"/>
          </a:xfrm>
          <a:prstGeom prst="ellipse">
            <a:avLst/>
          </a:prstGeom>
          <a:solidFill>
            <a:srgbClr val="15B8A6"/>
          </a:solidFill>
          <a:ln w="12700">
            <a:solidFill>
              <a:srgbClr val="15B8A6"/>
            </a:solidFill>
            <a:prstDash val="solid"/>
          </a:ln>
        </p:spPr>
      </p:sp>
      <p:sp>
        <p:nvSpPr>
          <p:cNvPr id="21" name="Text 19"/>
          <p:cNvSpPr/>
          <p:nvPr/>
        </p:nvSpPr>
        <p:spPr>
          <a:xfrm>
            <a:off x="683971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Paste the relevant code</a:t>
            </a:r>
            <a:endParaRPr lang="en-US" sz="1400" dirty="0"/>
          </a:p>
        </p:txBody>
      </p:sp>
      <p:sp>
        <p:nvSpPr>
          <p:cNvPr id="22" name="Shape 20"/>
          <p:cNvSpPr/>
          <p:nvPr/>
        </p:nvSpPr>
        <p:spPr>
          <a:xfrm>
            <a:off x="6492240" y="2816352"/>
            <a:ext cx="201168" cy="201168"/>
          </a:xfrm>
          <a:prstGeom prst="ellipse">
            <a:avLst/>
          </a:prstGeom>
          <a:solidFill>
            <a:srgbClr val="15B8A6"/>
          </a:solidFill>
          <a:ln w="12700">
            <a:solidFill>
              <a:srgbClr val="15B8A6"/>
            </a:solidFill>
            <a:prstDash val="solid"/>
          </a:ln>
        </p:spPr>
      </p:sp>
      <p:sp>
        <p:nvSpPr>
          <p:cNvPr id="23" name="Text 21"/>
          <p:cNvSpPr/>
          <p:nvPr/>
        </p:nvSpPr>
        <p:spPr>
          <a:xfrm>
            <a:off x="683971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State expected vs. actual</a:t>
            </a:r>
            <a:endParaRPr lang="en-US" sz="1400" dirty="0"/>
          </a:p>
        </p:txBody>
      </p:sp>
      <p:sp>
        <p:nvSpPr>
          <p:cNvPr id="24" name="Shape 22"/>
          <p:cNvSpPr/>
          <p:nvPr/>
        </p:nvSpPr>
        <p:spPr>
          <a:xfrm>
            <a:off x="6492240" y="3410712"/>
            <a:ext cx="201168" cy="201168"/>
          </a:xfrm>
          <a:prstGeom prst="ellipse">
            <a:avLst/>
          </a:prstGeom>
          <a:solidFill>
            <a:srgbClr val="15B8A6"/>
          </a:solidFill>
          <a:ln w="12700">
            <a:solidFill>
              <a:srgbClr val="15B8A6"/>
            </a:solidFill>
            <a:prstDash val="solid"/>
          </a:ln>
        </p:spPr>
      </p:sp>
      <p:sp>
        <p:nvSpPr>
          <p:cNvPr id="25" name="Text 23"/>
          <p:cNvSpPr/>
          <p:nvPr/>
        </p:nvSpPr>
        <p:spPr>
          <a:xfrm>
            <a:off x="683971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Give ABAP release</a:t>
            </a:r>
            <a:endParaRPr lang="en-US" sz="1400" dirty="0"/>
          </a:p>
        </p:txBody>
      </p:sp>
      <p:sp>
        <p:nvSpPr>
          <p:cNvPr id="26" name="Shape 24"/>
          <p:cNvSpPr/>
          <p:nvPr/>
        </p:nvSpPr>
        <p:spPr>
          <a:xfrm>
            <a:off x="6492240" y="4005072"/>
            <a:ext cx="201168" cy="201168"/>
          </a:xfrm>
          <a:prstGeom prst="ellipse">
            <a:avLst/>
          </a:prstGeom>
          <a:solidFill>
            <a:srgbClr val="15B8A6"/>
          </a:solidFill>
          <a:ln w="12700">
            <a:solidFill>
              <a:srgbClr val="15B8A6"/>
            </a:solidFill>
            <a:prstDash val="solid"/>
          </a:ln>
        </p:spPr>
      </p:sp>
      <p:sp>
        <p:nvSpPr>
          <p:cNvPr id="27" name="Text 25"/>
          <p:cNvSpPr/>
          <p:nvPr/>
        </p:nvSpPr>
        <p:spPr>
          <a:xfrm>
            <a:off x="683971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Include error message</a:t>
            </a:r>
            <a:endParaRPr lang="en-US" sz="1400" dirty="0"/>
          </a:p>
        </p:txBody>
      </p:sp>
      <p:sp>
        <p:nvSpPr>
          <p:cNvPr id="28" name="Shape 26"/>
          <p:cNvSpPr/>
          <p:nvPr/>
        </p:nvSpPr>
        <p:spPr>
          <a:xfrm>
            <a:off x="6492240" y="4599432"/>
            <a:ext cx="201168" cy="201168"/>
          </a:xfrm>
          <a:prstGeom prst="ellipse">
            <a:avLst/>
          </a:prstGeom>
          <a:solidFill>
            <a:srgbClr val="15B8A6"/>
          </a:solidFill>
          <a:ln w="12700">
            <a:solidFill>
              <a:srgbClr val="15B8A6"/>
            </a:solidFill>
            <a:prstDash val="solid"/>
          </a:ln>
        </p:spPr>
      </p:sp>
      <p:sp>
        <p:nvSpPr>
          <p:cNvPr id="29" name="Text 27"/>
          <p:cNvSpPr/>
          <p:nvPr/>
        </p:nvSpPr>
        <p:spPr>
          <a:xfrm>
            <a:off x="683971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Request corrected code + test</a:t>
            </a:r>
            <a:endParaRPr lang="en-US" sz="1400" dirty="0"/>
          </a:p>
        </p:txBody>
      </p:sp>
      <p:sp>
        <p:nvSpPr>
          <p:cNvPr id="30"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Questions a reviewer should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If the prompt cannot answer these questions, the generated code will rely on assumptions.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What object is being created or changed?</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Which SAP release and ABAP version apply?</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What data enters and leaves the object?</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Which business rules and authorizations apply?</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How will correctness be demonstrated?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Starter prompt formula</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compact formula for an initial request.</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an experienced SAP ABAP/SAP HR developer.</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Build [object type] that [goal].</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System: [ECC / S/4HANA]</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ABAP release: [x.x]</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Inputs: [list]</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Output: [list]</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Business rules: [list]</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Constraints: [list]</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Provide runnable code, assumptions and one validation example.</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Role sets expertise</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System controls syntax</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Rules guide behavior</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Constraints reduce risk</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Validation proves intent</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1: Improve a vague request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“Create an employee report.”</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Add the minimum details needed for a useful first response.</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Act as an SAP HR ABAP developer. Create an executable report for ECC, ABAP 7.0, that reads IT0001 for a PERNR selection and key date, applies validity logic, and displays PERNR, personnel area, org unit and position using CL_SALV_TABLE. Include no-data handling and a sample result.</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1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The first improvement is to make the request reviewable.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the object and goal.</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Name the environment.</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the data contract.</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Make rules and quality expectations explicit.</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Ask for assumptions instead of allowing silent guesses.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02</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CORE FORMULA</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The eleven prompt components</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Build prompts in a repeatable sequence.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The eleven-part formula</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Each component answers a distinct development question.</a:t>
            </a:r>
            <a:endParaRPr lang="en-US" sz="1150" dirty="0"/>
          </a:p>
        </p:txBody>
      </p:sp>
      <p:sp>
        <p:nvSpPr>
          <p:cNvPr id="4" name="Shape 2"/>
          <p:cNvSpPr/>
          <p:nvPr/>
        </p:nvSpPr>
        <p:spPr>
          <a:xfrm>
            <a:off x="612648" y="1325880"/>
            <a:ext cx="1600200" cy="1024128"/>
          </a:xfrm>
          <a:prstGeom prst="roundRect">
            <a:avLst>
              <a:gd name="adj" fmla="val 7143"/>
            </a:avLst>
          </a:prstGeom>
          <a:solidFill>
            <a:srgbClr val="EDF5FB"/>
          </a:solidFill>
          <a:ln w="12700">
            <a:solidFill>
              <a:srgbClr val="D9E1EA"/>
            </a:solidFill>
            <a:prstDash val="solid"/>
          </a:ln>
        </p:spPr>
      </p:sp>
      <p:sp>
        <p:nvSpPr>
          <p:cNvPr id="5" name="Text 3"/>
          <p:cNvSpPr/>
          <p:nvPr/>
        </p:nvSpPr>
        <p:spPr>
          <a:xfrm>
            <a:off x="722376" y="145389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01</a:t>
            </a:r>
            <a:endParaRPr lang="en-US" sz="1100" dirty="0"/>
          </a:p>
        </p:txBody>
      </p:sp>
      <p:sp>
        <p:nvSpPr>
          <p:cNvPr id="6" name="Text 4"/>
          <p:cNvSpPr/>
          <p:nvPr/>
        </p:nvSpPr>
        <p:spPr>
          <a:xfrm>
            <a:off x="722376" y="1810512"/>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Role</a:t>
            </a:r>
            <a:endParaRPr lang="en-US" sz="1350" dirty="0"/>
          </a:p>
        </p:txBody>
      </p:sp>
      <p:sp>
        <p:nvSpPr>
          <p:cNvPr id="7" name="Shape 5"/>
          <p:cNvSpPr/>
          <p:nvPr/>
        </p:nvSpPr>
        <p:spPr>
          <a:xfrm>
            <a:off x="2514600" y="1325880"/>
            <a:ext cx="1600200" cy="1024128"/>
          </a:xfrm>
          <a:prstGeom prst="roundRect">
            <a:avLst>
              <a:gd name="adj" fmla="val 7143"/>
            </a:avLst>
          </a:prstGeom>
          <a:solidFill>
            <a:srgbClr val="F0FAF8"/>
          </a:solidFill>
          <a:ln w="12700">
            <a:solidFill>
              <a:srgbClr val="D9E1EA"/>
            </a:solidFill>
            <a:prstDash val="solid"/>
          </a:ln>
        </p:spPr>
      </p:sp>
      <p:sp>
        <p:nvSpPr>
          <p:cNvPr id="8" name="Text 6"/>
          <p:cNvSpPr/>
          <p:nvPr/>
        </p:nvSpPr>
        <p:spPr>
          <a:xfrm>
            <a:off x="2624328" y="145389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02</a:t>
            </a:r>
            <a:endParaRPr lang="en-US" sz="1100" dirty="0"/>
          </a:p>
        </p:txBody>
      </p:sp>
      <p:sp>
        <p:nvSpPr>
          <p:cNvPr id="9" name="Text 7"/>
          <p:cNvSpPr/>
          <p:nvPr/>
        </p:nvSpPr>
        <p:spPr>
          <a:xfrm>
            <a:off x="2624328" y="1810512"/>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System context</a:t>
            </a:r>
            <a:endParaRPr lang="en-US" sz="1350" dirty="0"/>
          </a:p>
        </p:txBody>
      </p:sp>
      <p:sp>
        <p:nvSpPr>
          <p:cNvPr id="10" name="Shape 8"/>
          <p:cNvSpPr/>
          <p:nvPr/>
        </p:nvSpPr>
        <p:spPr>
          <a:xfrm>
            <a:off x="4416552" y="1325880"/>
            <a:ext cx="1600200" cy="1024128"/>
          </a:xfrm>
          <a:prstGeom prst="roundRect">
            <a:avLst>
              <a:gd name="adj" fmla="val 7143"/>
            </a:avLst>
          </a:prstGeom>
          <a:solidFill>
            <a:srgbClr val="EDF5FB"/>
          </a:solidFill>
          <a:ln w="12700">
            <a:solidFill>
              <a:srgbClr val="D9E1EA"/>
            </a:solidFill>
            <a:prstDash val="solid"/>
          </a:ln>
        </p:spPr>
      </p:sp>
      <p:sp>
        <p:nvSpPr>
          <p:cNvPr id="11" name="Text 9"/>
          <p:cNvSpPr/>
          <p:nvPr/>
        </p:nvSpPr>
        <p:spPr>
          <a:xfrm>
            <a:off x="4526280" y="145389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03</a:t>
            </a:r>
            <a:endParaRPr lang="en-US" sz="1100" dirty="0"/>
          </a:p>
        </p:txBody>
      </p:sp>
      <p:sp>
        <p:nvSpPr>
          <p:cNvPr id="12" name="Text 10"/>
          <p:cNvSpPr/>
          <p:nvPr/>
        </p:nvSpPr>
        <p:spPr>
          <a:xfrm>
            <a:off x="4526280" y="1810512"/>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Objective</a:t>
            </a:r>
            <a:endParaRPr lang="en-US" sz="1350" dirty="0"/>
          </a:p>
        </p:txBody>
      </p:sp>
      <p:sp>
        <p:nvSpPr>
          <p:cNvPr id="13" name="Shape 11"/>
          <p:cNvSpPr/>
          <p:nvPr/>
        </p:nvSpPr>
        <p:spPr>
          <a:xfrm>
            <a:off x="6318504" y="1325880"/>
            <a:ext cx="1600200" cy="1024128"/>
          </a:xfrm>
          <a:prstGeom prst="roundRect">
            <a:avLst>
              <a:gd name="adj" fmla="val 7143"/>
            </a:avLst>
          </a:prstGeom>
          <a:solidFill>
            <a:srgbClr val="F0FAF8"/>
          </a:solidFill>
          <a:ln w="12700">
            <a:solidFill>
              <a:srgbClr val="D9E1EA"/>
            </a:solidFill>
            <a:prstDash val="solid"/>
          </a:ln>
        </p:spPr>
      </p:sp>
      <p:sp>
        <p:nvSpPr>
          <p:cNvPr id="14" name="Text 12"/>
          <p:cNvSpPr/>
          <p:nvPr/>
        </p:nvSpPr>
        <p:spPr>
          <a:xfrm>
            <a:off x="6428232" y="145389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04</a:t>
            </a:r>
            <a:endParaRPr lang="en-US" sz="1100" dirty="0"/>
          </a:p>
        </p:txBody>
      </p:sp>
      <p:sp>
        <p:nvSpPr>
          <p:cNvPr id="15" name="Text 13"/>
          <p:cNvSpPr/>
          <p:nvPr/>
        </p:nvSpPr>
        <p:spPr>
          <a:xfrm>
            <a:off x="6428232" y="1810512"/>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Inputs / outputs</a:t>
            </a:r>
            <a:endParaRPr lang="en-US" sz="1350" dirty="0"/>
          </a:p>
        </p:txBody>
      </p:sp>
      <p:sp>
        <p:nvSpPr>
          <p:cNvPr id="16" name="Shape 14"/>
          <p:cNvSpPr/>
          <p:nvPr/>
        </p:nvSpPr>
        <p:spPr>
          <a:xfrm>
            <a:off x="8220456" y="1325880"/>
            <a:ext cx="1600200" cy="1024128"/>
          </a:xfrm>
          <a:prstGeom prst="roundRect">
            <a:avLst>
              <a:gd name="adj" fmla="val 7143"/>
            </a:avLst>
          </a:prstGeom>
          <a:solidFill>
            <a:srgbClr val="EDF5FB"/>
          </a:solidFill>
          <a:ln w="12700">
            <a:solidFill>
              <a:srgbClr val="D9E1EA"/>
            </a:solidFill>
            <a:prstDash val="solid"/>
          </a:ln>
        </p:spPr>
      </p:sp>
      <p:sp>
        <p:nvSpPr>
          <p:cNvPr id="17" name="Text 15"/>
          <p:cNvSpPr/>
          <p:nvPr/>
        </p:nvSpPr>
        <p:spPr>
          <a:xfrm>
            <a:off x="8330184" y="145389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05</a:t>
            </a:r>
            <a:endParaRPr lang="en-US" sz="1100" dirty="0"/>
          </a:p>
        </p:txBody>
      </p:sp>
      <p:sp>
        <p:nvSpPr>
          <p:cNvPr id="18" name="Text 16"/>
          <p:cNvSpPr/>
          <p:nvPr/>
        </p:nvSpPr>
        <p:spPr>
          <a:xfrm>
            <a:off x="8330184" y="1810512"/>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Business rules</a:t>
            </a:r>
            <a:endParaRPr lang="en-US" sz="1350" dirty="0"/>
          </a:p>
        </p:txBody>
      </p:sp>
      <p:sp>
        <p:nvSpPr>
          <p:cNvPr id="19" name="Shape 17"/>
          <p:cNvSpPr/>
          <p:nvPr/>
        </p:nvSpPr>
        <p:spPr>
          <a:xfrm>
            <a:off x="10122408" y="1325880"/>
            <a:ext cx="1600200" cy="1024128"/>
          </a:xfrm>
          <a:prstGeom prst="roundRect">
            <a:avLst>
              <a:gd name="adj" fmla="val 7143"/>
            </a:avLst>
          </a:prstGeom>
          <a:solidFill>
            <a:srgbClr val="F0FAF8"/>
          </a:solidFill>
          <a:ln w="12700">
            <a:solidFill>
              <a:srgbClr val="D9E1EA"/>
            </a:solidFill>
            <a:prstDash val="solid"/>
          </a:ln>
        </p:spPr>
      </p:sp>
      <p:sp>
        <p:nvSpPr>
          <p:cNvPr id="20" name="Text 18"/>
          <p:cNvSpPr/>
          <p:nvPr/>
        </p:nvSpPr>
        <p:spPr>
          <a:xfrm>
            <a:off x="10232136" y="145389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06</a:t>
            </a:r>
            <a:endParaRPr lang="en-US" sz="1100" dirty="0"/>
          </a:p>
        </p:txBody>
      </p:sp>
      <p:sp>
        <p:nvSpPr>
          <p:cNvPr id="21" name="Text 19"/>
          <p:cNvSpPr/>
          <p:nvPr/>
        </p:nvSpPr>
        <p:spPr>
          <a:xfrm>
            <a:off x="10232136" y="1810512"/>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Constraints</a:t>
            </a:r>
            <a:endParaRPr lang="en-US" sz="1350" dirty="0"/>
          </a:p>
        </p:txBody>
      </p:sp>
      <p:sp>
        <p:nvSpPr>
          <p:cNvPr id="22" name="Shape 20"/>
          <p:cNvSpPr/>
          <p:nvPr/>
        </p:nvSpPr>
        <p:spPr>
          <a:xfrm>
            <a:off x="612648" y="2852928"/>
            <a:ext cx="1600200" cy="1024128"/>
          </a:xfrm>
          <a:prstGeom prst="roundRect">
            <a:avLst>
              <a:gd name="adj" fmla="val 7143"/>
            </a:avLst>
          </a:prstGeom>
          <a:solidFill>
            <a:srgbClr val="EDF5FB"/>
          </a:solidFill>
          <a:ln w="12700">
            <a:solidFill>
              <a:srgbClr val="D9E1EA"/>
            </a:solidFill>
            <a:prstDash val="solid"/>
          </a:ln>
        </p:spPr>
      </p:sp>
      <p:sp>
        <p:nvSpPr>
          <p:cNvPr id="23" name="Text 21"/>
          <p:cNvSpPr/>
          <p:nvPr/>
        </p:nvSpPr>
        <p:spPr>
          <a:xfrm>
            <a:off x="722376" y="298094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07</a:t>
            </a:r>
            <a:endParaRPr lang="en-US" sz="1100" dirty="0"/>
          </a:p>
        </p:txBody>
      </p:sp>
      <p:sp>
        <p:nvSpPr>
          <p:cNvPr id="24" name="Text 22"/>
          <p:cNvSpPr/>
          <p:nvPr/>
        </p:nvSpPr>
        <p:spPr>
          <a:xfrm>
            <a:off x="722376" y="3337560"/>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Dependencies</a:t>
            </a:r>
            <a:endParaRPr lang="en-US" sz="1350" dirty="0"/>
          </a:p>
        </p:txBody>
      </p:sp>
      <p:sp>
        <p:nvSpPr>
          <p:cNvPr id="25" name="Shape 23"/>
          <p:cNvSpPr/>
          <p:nvPr/>
        </p:nvSpPr>
        <p:spPr>
          <a:xfrm>
            <a:off x="2514600" y="2852928"/>
            <a:ext cx="1600200" cy="1024128"/>
          </a:xfrm>
          <a:prstGeom prst="roundRect">
            <a:avLst>
              <a:gd name="adj" fmla="val 7143"/>
            </a:avLst>
          </a:prstGeom>
          <a:solidFill>
            <a:srgbClr val="F0FAF8"/>
          </a:solidFill>
          <a:ln w="12700">
            <a:solidFill>
              <a:srgbClr val="D9E1EA"/>
            </a:solidFill>
            <a:prstDash val="solid"/>
          </a:ln>
        </p:spPr>
      </p:sp>
      <p:sp>
        <p:nvSpPr>
          <p:cNvPr id="26" name="Text 24"/>
          <p:cNvSpPr/>
          <p:nvPr/>
        </p:nvSpPr>
        <p:spPr>
          <a:xfrm>
            <a:off x="2624328" y="298094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08</a:t>
            </a:r>
            <a:endParaRPr lang="en-US" sz="1100" dirty="0"/>
          </a:p>
        </p:txBody>
      </p:sp>
      <p:sp>
        <p:nvSpPr>
          <p:cNvPr id="27" name="Text 25"/>
          <p:cNvSpPr/>
          <p:nvPr/>
        </p:nvSpPr>
        <p:spPr>
          <a:xfrm>
            <a:off x="2624328" y="3337560"/>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Examples</a:t>
            </a:r>
            <a:endParaRPr lang="en-US" sz="1350" dirty="0"/>
          </a:p>
        </p:txBody>
      </p:sp>
      <p:sp>
        <p:nvSpPr>
          <p:cNvPr id="28" name="Shape 26"/>
          <p:cNvSpPr/>
          <p:nvPr/>
        </p:nvSpPr>
        <p:spPr>
          <a:xfrm>
            <a:off x="4416552" y="2852928"/>
            <a:ext cx="1600200" cy="1024128"/>
          </a:xfrm>
          <a:prstGeom prst="roundRect">
            <a:avLst>
              <a:gd name="adj" fmla="val 7143"/>
            </a:avLst>
          </a:prstGeom>
          <a:solidFill>
            <a:srgbClr val="EDF5FB"/>
          </a:solidFill>
          <a:ln w="12700">
            <a:solidFill>
              <a:srgbClr val="D9E1EA"/>
            </a:solidFill>
            <a:prstDash val="solid"/>
          </a:ln>
        </p:spPr>
      </p:sp>
      <p:sp>
        <p:nvSpPr>
          <p:cNvPr id="29" name="Text 27"/>
          <p:cNvSpPr/>
          <p:nvPr/>
        </p:nvSpPr>
        <p:spPr>
          <a:xfrm>
            <a:off x="4526280" y="298094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09</a:t>
            </a:r>
            <a:endParaRPr lang="en-US" sz="1100" dirty="0"/>
          </a:p>
        </p:txBody>
      </p:sp>
      <p:sp>
        <p:nvSpPr>
          <p:cNvPr id="30" name="Text 28"/>
          <p:cNvSpPr/>
          <p:nvPr/>
        </p:nvSpPr>
        <p:spPr>
          <a:xfrm>
            <a:off x="4526280" y="3337560"/>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Deliverables</a:t>
            </a:r>
            <a:endParaRPr lang="en-US" sz="1350" dirty="0"/>
          </a:p>
        </p:txBody>
      </p:sp>
      <p:sp>
        <p:nvSpPr>
          <p:cNvPr id="31" name="Shape 29"/>
          <p:cNvSpPr/>
          <p:nvPr/>
        </p:nvSpPr>
        <p:spPr>
          <a:xfrm>
            <a:off x="6318504" y="2852928"/>
            <a:ext cx="1600200" cy="1024128"/>
          </a:xfrm>
          <a:prstGeom prst="roundRect">
            <a:avLst>
              <a:gd name="adj" fmla="val 7143"/>
            </a:avLst>
          </a:prstGeom>
          <a:solidFill>
            <a:srgbClr val="F0FAF8"/>
          </a:solidFill>
          <a:ln w="12700">
            <a:solidFill>
              <a:srgbClr val="D9E1EA"/>
            </a:solidFill>
            <a:prstDash val="solid"/>
          </a:ln>
        </p:spPr>
      </p:sp>
      <p:sp>
        <p:nvSpPr>
          <p:cNvPr id="32" name="Text 30"/>
          <p:cNvSpPr/>
          <p:nvPr/>
        </p:nvSpPr>
        <p:spPr>
          <a:xfrm>
            <a:off x="6428232" y="298094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10</a:t>
            </a:r>
            <a:endParaRPr lang="en-US" sz="1100" dirty="0"/>
          </a:p>
        </p:txBody>
      </p:sp>
      <p:sp>
        <p:nvSpPr>
          <p:cNvPr id="33" name="Text 31"/>
          <p:cNvSpPr/>
          <p:nvPr/>
        </p:nvSpPr>
        <p:spPr>
          <a:xfrm>
            <a:off x="6428232" y="3337560"/>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Error handling</a:t>
            </a:r>
            <a:endParaRPr lang="en-US" sz="1350" dirty="0"/>
          </a:p>
        </p:txBody>
      </p:sp>
      <p:sp>
        <p:nvSpPr>
          <p:cNvPr id="34" name="Shape 32"/>
          <p:cNvSpPr/>
          <p:nvPr/>
        </p:nvSpPr>
        <p:spPr>
          <a:xfrm>
            <a:off x="8220456" y="2852928"/>
            <a:ext cx="1600200" cy="1024128"/>
          </a:xfrm>
          <a:prstGeom prst="roundRect">
            <a:avLst>
              <a:gd name="adj" fmla="val 7143"/>
            </a:avLst>
          </a:prstGeom>
          <a:solidFill>
            <a:srgbClr val="EDF5FB"/>
          </a:solidFill>
          <a:ln w="12700">
            <a:solidFill>
              <a:srgbClr val="D9E1EA"/>
            </a:solidFill>
            <a:prstDash val="solid"/>
          </a:ln>
        </p:spPr>
      </p:sp>
      <p:sp>
        <p:nvSpPr>
          <p:cNvPr id="35" name="Text 33"/>
          <p:cNvSpPr/>
          <p:nvPr/>
        </p:nvSpPr>
        <p:spPr>
          <a:xfrm>
            <a:off x="8330184" y="298094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11</a:t>
            </a:r>
            <a:endParaRPr lang="en-US" sz="1100" dirty="0"/>
          </a:p>
        </p:txBody>
      </p:sp>
      <p:sp>
        <p:nvSpPr>
          <p:cNvPr id="36" name="Text 34"/>
          <p:cNvSpPr/>
          <p:nvPr/>
        </p:nvSpPr>
        <p:spPr>
          <a:xfrm>
            <a:off x="8330184" y="3337560"/>
            <a:ext cx="1371600" cy="329184"/>
          </a:xfrm>
          <a:prstGeom prst="rect">
            <a:avLst/>
          </a:prstGeom>
          <a:noFill/>
          <a:ln/>
        </p:spPr>
        <p:txBody>
          <a:bodyPr wrap="square" lIns="0" tIns="0" rIns="0" bIns="0" rtlCol="0" anchor="ctr">
            <a:normAutofit/>
          </a:bodyPr>
          <a:lstStyle/>
          <a:p>
            <a:pPr marL="0" indent="0" algn="ctr">
              <a:buNone/>
            </a:pPr>
            <a:r>
              <a:rPr lang="en-US" sz="1350" b="1" dirty="0">
                <a:solidFill>
                  <a:srgbClr val="0B1F33"/>
                </a:solidFill>
              </a:rPr>
              <a:t>Acceptance criteria</a:t>
            </a:r>
            <a:endParaRPr lang="en-US" sz="1350" dirty="0"/>
          </a:p>
        </p:txBody>
      </p:sp>
      <p:sp>
        <p:nvSpPr>
          <p:cNvPr id="37"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1. Role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Tell the assistant which expertise to apply.</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Use “SAP ABAP/SAP HR developer” for technical builds.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“Payroll” for payroll-result or statutory logic.</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“integration developer” for RFC, JSON or XML work.</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“debugging expert” for source tracing.</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Avoid exaggerated role descriptions that do not change the task.</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2. System context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System information controls available syntax and architecture.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Specify ECC or S/4HANA.</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Specify the ABAP release or compatibility target.</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SAP HANA or another database when optimization matters.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Name the country payroll context when logic is country-specific.</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Mention whether standard behavior must be preserved.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3. Objective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Describe the exact deliverable rather than only the business topic.</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Name the object type: report, class, FM, CDS, BAdI or wrapper.</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Provide the intended custom object name when known.</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whether the request is creation, refactoring, review or tracing.</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the user-facing or technical outcome.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Keep one primary objective per prompt.</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4. Inputs and outputs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Define the data contract before discussing implementation.</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List parameter names and types when known.</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Identify selection options and key dates.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List output fields and structures.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Describe payload format for integration scenarios.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Provide sample rows for complex mapping.</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5. Business rules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Business rules determine correctness.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Number rules in processing order.</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Describe validity-period behavior.</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selection and exclusion conditions.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Mention retroactivity or country-specific rules where relevant.</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Separate confirmed rules from assumptions.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6. Constraints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Constraints prevent technically valid but unusable output.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ABAP release restrictions.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Require or prohibit specific syntax.</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performance expectations and volume.</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naming, security and logging standards.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preservation of existing behavior during refactoring.</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7. Dependencies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Dependencies identify objects that generated code may reference.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DDIC tables, structures and domains.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Infotypes and payroll result structures.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BAPIs, function modules and classes.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BAdIs, user exits and enhancement points.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Authorization objects and configuration.</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8–11. Output controls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Examples, deliverables, errors and acceptance complete the prompt.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Examples show expected behavior.</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Deliverables define what must be returned.</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Error handling defines failure behavior.</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Acceptance criteria define how the answer is judged.</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Assumptions should be listed and verified.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2: Classify prompt content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“Use IT0001, output ORGEH, avoid inline DATA, include unit tests.”</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Place each statement in the correct formula component.</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Dependencies: IT0001. Output: ORGEH. Constraints: avoid inline DATA. Deliverables: include ABAP Unit tests.</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03</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SYSTEM CONTEXT</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Release-safe and platform-aware prompts</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Prevent incompatible syntax and unsuitable architecture.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ECC vs. S/4HANA prompt context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The same business goal can require different technical choices.</a:t>
            </a:r>
            <a:endParaRPr lang="en-US" sz="1150" dirty="0"/>
          </a:p>
        </p:txBody>
      </p:sp>
      <p:sp>
        <p:nvSpPr>
          <p:cNvPr id="4" name="Shape 2"/>
          <p:cNvSpPr/>
          <p:nvPr/>
        </p:nvSpPr>
        <p:spPr>
          <a:xfrm>
            <a:off x="658368" y="1280160"/>
            <a:ext cx="5349240" cy="4709160"/>
          </a:xfrm>
          <a:prstGeom prst="roundRect">
            <a:avLst>
              <a:gd name="adj" fmla="val 1553"/>
            </a:avLst>
          </a:prstGeom>
          <a:solidFill>
            <a:srgbClr val="FFF7F7"/>
          </a:solidFill>
          <a:ln w="12700">
            <a:solidFill>
              <a:srgbClr val="F1C7C7"/>
            </a:solidFill>
            <a:prstDash val="solid"/>
          </a:ln>
        </p:spPr>
      </p:sp>
      <p:sp>
        <p:nvSpPr>
          <p:cNvPr id="5" name="Shape 3"/>
          <p:cNvSpPr/>
          <p:nvPr/>
        </p:nvSpPr>
        <p:spPr>
          <a:xfrm>
            <a:off x="6190488" y="1280160"/>
            <a:ext cx="5349240" cy="4709160"/>
          </a:xfrm>
          <a:prstGeom prst="roundRect">
            <a:avLst>
              <a:gd name="adj" fmla="val 1553"/>
            </a:avLst>
          </a:prstGeom>
          <a:solidFill>
            <a:srgbClr val="F2FBFA"/>
          </a:solidFill>
          <a:ln w="12700">
            <a:solidFill>
              <a:srgbClr val="A7DDD6"/>
            </a:solidFill>
            <a:prstDash val="solid"/>
          </a:ln>
        </p:spPr>
      </p:sp>
      <p:sp>
        <p:nvSpPr>
          <p:cNvPr id="6" name="Shape 4"/>
          <p:cNvSpPr/>
          <p:nvPr/>
        </p:nvSpPr>
        <p:spPr>
          <a:xfrm>
            <a:off x="914400" y="1536192"/>
            <a:ext cx="1554480" cy="310896"/>
          </a:xfrm>
          <a:prstGeom prst="roundRect">
            <a:avLst>
              <a:gd name="adj" fmla="val 23529"/>
            </a:avLst>
          </a:prstGeom>
          <a:solidFill>
            <a:srgbClr val="D14343"/>
          </a:solidFill>
          <a:ln w="12700">
            <a:solidFill>
              <a:srgbClr val="D14343"/>
            </a:solidFill>
            <a:prstDash val="solid"/>
          </a:ln>
        </p:spPr>
      </p:sp>
      <p:sp>
        <p:nvSpPr>
          <p:cNvPr id="7" name="Text 5"/>
          <p:cNvSpPr/>
          <p:nvPr/>
        </p:nvSpPr>
        <p:spPr>
          <a:xfrm>
            <a:off x="969264" y="1604772"/>
            <a:ext cx="1444752" cy="164592"/>
          </a:xfrm>
          <a:prstGeom prst="rect">
            <a:avLst/>
          </a:prstGeom>
          <a:noFill/>
          <a:ln/>
        </p:spPr>
        <p:txBody>
          <a:bodyPr wrap="square" lIns="0" tIns="0" rIns="0" bIns="0" rtlCol="0" anchor="ctr"/>
          <a:lstStyle/>
          <a:p>
            <a:pPr marL="0" indent="0" algn="ctr">
              <a:buNone/>
            </a:pPr>
            <a:r>
              <a:rPr lang="en-US" sz="900" b="1" dirty="0">
                <a:solidFill>
                  <a:srgbClr val="FFFFFF"/>
                </a:solidFill>
              </a:rPr>
              <a:t>ECC-oriented</a:t>
            </a:r>
            <a:endParaRPr lang="en-US" sz="900" dirty="0"/>
          </a:p>
        </p:txBody>
      </p:sp>
      <p:sp>
        <p:nvSpPr>
          <p:cNvPr id="8" name="Shape 6"/>
          <p:cNvSpPr/>
          <p:nvPr/>
        </p:nvSpPr>
        <p:spPr>
          <a:xfrm>
            <a:off x="6446520" y="1536192"/>
            <a:ext cx="1737360" cy="310896"/>
          </a:xfrm>
          <a:prstGeom prst="roundRect">
            <a:avLst>
              <a:gd name="adj" fmla="val 23529"/>
            </a:avLst>
          </a:prstGeom>
          <a:solidFill>
            <a:srgbClr val="15B8A6"/>
          </a:solidFill>
          <a:ln w="12700">
            <a:solidFill>
              <a:srgbClr val="15B8A6"/>
            </a:solidFill>
            <a:prstDash val="solid"/>
          </a:ln>
        </p:spPr>
      </p:sp>
      <p:sp>
        <p:nvSpPr>
          <p:cNvPr id="9" name="Text 7"/>
          <p:cNvSpPr/>
          <p:nvPr/>
        </p:nvSpPr>
        <p:spPr>
          <a:xfrm>
            <a:off x="6501384" y="1604772"/>
            <a:ext cx="1627632" cy="164592"/>
          </a:xfrm>
          <a:prstGeom prst="rect">
            <a:avLst/>
          </a:prstGeom>
          <a:noFill/>
          <a:ln/>
        </p:spPr>
        <p:txBody>
          <a:bodyPr wrap="square" lIns="0" tIns="0" rIns="0" bIns="0" rtlCol="0" anchor="ctr"/>
          <a:lstStyle/>
          <a:p>
            <a:pPr marL="0" indent="0" algn="ctr">
              <a:buNone/>
            </a:pPr>
            <a:r>
              <a:rPr lang="en-US" sz="900" b="1" dirty="0">
                <a:solidFill>
                  <a:srgbClr val="FFFFFF"/>
                </a:solidFill>
              </a:rPr>
              <a:t>S/4HANA-oriented</a:t>
            </a:r>
            <a:endParaRPr lang="en-US" sz="900" dirty="0"/>
          </a:p>
        </p:txBody>
      </p:sp>
      <p:sp>
        <p:nvSpPr>
          <p:cNvPr id="10" name="Shape 8"/>
          <p:cNvSpPr/>
          <p:nvPr/>
        </p:nvSpPr>
        <p:spPr>
          <a:xfrm>
            <a:off x="960120" y="2221992"/>
            <a:ext cx="201168" cy="201168"/>
          </a:xfrm>
          <a:prstGeom prst="ellipse">
            <a:avLst/>
          </a:prstGeom>
          <a:solidFill>
            <a:srgbClr val="15B8A6"/>
          </a:solidFill>
          <a:ln w="12700">
            <a:solidFill>
              <a:srgbClr val="15B8A6"/>
            </a:solidFill>
            <a:prstDash val="solid"/>
          </a:ln>
        </p:spPr>
      </p:sp>
      <p:sp>
        <p:nvSpPr>
          <p:cNvPr id="11" name="Text 9"/>
          <p:cNvSpPr/>
          <p:nvPr/>
        </p:nvSpPr>
        <p:spPr>
          <a:xfrm>
            <a:off x="130759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Classic ABAP compatibility</a:t>
            </a:r>
            <a:endParaRPr lang="en-US" sz="1400" dirty="0"/>
          </a:p>
        </p:txBody>
      </p:sp>
      <p:sp>
        <p:nvSpPr>
          <p:cNvPr id="12" name="Shape 10"/>
          <p:cNvSpPr/>
          <p:nvPr/>
        </p:nvSpPr>
        <p:spPr>
          <a:xfrm>
            <a:off x="960120" y="2816352"/>
            <a:ext cx="201168" cy="201168"/>
          </a:xfrm>
          <a:prstGeom prst="ellipse">
            <a:avLst/>
          </a:prstGeom>
          <a:solidFill>
            <a:srgbClr val="15B8A6"/>
          </a:solidFill>
          <a:ln w="12700">
            <a:solidFill>
              <a:srgbClr val="15B8A6"/>
            </a:solidFill>
            <a:prstDash val="solid"/>
          </a:ln>
        </p:spPr>
      </p:sp>
      <p:sp>
        <p:nvSpPr>
          <p:cNvPr id="13" name="Text 11"/>
          <p:cNvSpPr/>
          <p:nvPr/>
        </p:nvSpPr>
        <p:spPr>
          <a:xfrm>
            <a:off x="130759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Possible ABAP 7.0 restriction</a:t>
            </a:r>
            <a:endParaRPr lang="en-US" sz="1400" dirty="0"/>
          </a:p>
        </p:txBody>
      </p:sp>
      <p:sp>
        <p:nvSpPr>
          <p:cNvPr id="14" name="Shape 12"/>
          <p:cNvSpPr/>
          <p:nvPr/>
        </p:nvSpPr>
        <p:spPr>
          <a:xfrm>
            <a:off x="960120" y="3410712"/>
            <a:ext cx="201168" cy="201168"/>
          </a:xfrm>
          <a:prstGeom prst="ellipse">
            <a:avLst/>
          </a:prstGeom>
          <a:solidFill>
            <a:srgbClr val="15B8A6"/>
          </a:solidFill>
          <a:ln w="12700">
            <a:solidFill>
              <a:srgbClr val="15B8A6"/>
            </a:solidFill>
            <a:prstDash val="solid"/>
          </a:ln>
        </p:spPr>
      </p:sp>
      <p:sp>
        <p:nvSpPr>
          <p:cNvPr id="15" name="Text 13"/>
          <p:cNvSpPr/>
          <p:nvPr/>
        </p:nvSpPr>
        <p:spPr>
          <a:xfrm>
            <a:off x="130759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Standard HR APIs and logical databases may be relevant</a:t>
            </a:r>
            <a:endParaRPr lang="en-US" sz="1400" dirty="0"/>
          </a:p>
        </p:txBody>
      </p:sp>
      <p:sp>
        <p:nvSpPr>
          <p:cNvPr id="16" name="Shape 14"/>
          <p:cNvSpPr/>
          <p:nvPr/>
        </p:nvSpPr>
        <p:spPr>
          <a:xfrm>
            <a:off x="960120" y="4005072"/>
            <a:ext cx="201168" cy="201168"/>
          </a:xfrm>
          <a:prstGeom prst="ellipse">
            <a:avLst/>
          </a:prstGeom>
          <a:solidFill>
            <a:srgbClr val="15B8A6"/>
          </a:solidFill>
          <a:ln w="12700">
            <a:solidFill>
              <a:srgbClr val="15B8A6"/>
            </a:solidFill>
            <a:prstDash val="solid"/>
          </a:ln>
        </p:spPr>
      </p:sp>
      <p:sp>
        <p:nvSpPr>
          <p:cNvPr id="17" name="Text 15"/>
          <p:cNvSpPr/>
          <p:nvPr/>
        </p:nvSpPr>
        <p:spPr>
          <a:xfrm>
            <a:off x="130759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Avoid unsupported expressions</a:t>
            </a:r>
            <a:endParaRPr lang="en-US" sz="1400" dirty="0"/>
          </a:p>
        </p:txBody>
      </p:sp>
      <p:sp>
        <p:nvSpPr>
          <p:cNvPr id="18" name="Shape 16"/>
          <p:cNvSpPr/>
          <p:nvPr/>
        </p:nvSpPr>
        <p:spPr>
          <a:xfrm>
            <a:off x="960120" y="4599432"/>
            <a:ext cx="201168" cy="201168"/>
          </a:xfrm>
          <a:prstGeom prst="ellipse">
            <a:avLst/>
          </a:prstGeom>
          <a:solidFill>
            <a:srgbClr val="15B8A6"/>
          </a:solidFill>
          <a:ln w="12700">
            <a:solidFill>
              <a:srgbClr val="15B8A6"/>
            </a:solidFill>
            <a:prstDash val="solid"/>
          </a:ln>
        </p:spPr>
      </p:sp>
      <p:sp>
        <p:nvSpPr>
          <p:cNvPr id="19" name="Text 17"/>
          <p:cNvSpPr/>
          <p:nvPr/>
        </p:nvSpPr>
        <p:spPr>
          <a:xfrm>
            <a:off x="130759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Focus on safe Open SQL</a:t>
            </a:r>
            <a:endParaRPr lang="en-US" sz="1400" dirty="0"/>
          </a:p>
        </p:txBody>
      </p:sp>
      <p:sp>
        <p:nvSpPr>
          <p:cNvPr id="20" name="Shape 18"/>
          <p:cNvSpPr/>
          <p:nvPr/>
        </p:nvSpPr>
        <p:spPr>
          <a:xfrm>
            <a:off x="6492240" y="2221992"/>
            <a:ext cx="201168" cy="201168"/>
          </a:xfrm>
          <a:prstGeom prst="ellipse">
            <a:avLst/>
          </a:prstGeom>
          <a:solidFill>
            <a:srgbClr val="15B8A6"/>
          </a:solidFill>
          <a:ln w="12700">
            <a:solidFill>
              <a:srgbClr val="15B8A6"/>
            </a:solidFill>
            <a:prstDash val="solid"/>
          </a:ln>
        </p:spPr>
      </p:sp>
      <p:sp>
        <p:nvSpPr>
          <p:cNvPr id="21" name="Text 19"/>
          <p:cNvSpPr/>
          <p:nvPr/>
        </p:nvSpPr>
        <p:spPr>
          <a:xfrm>
            <a:off x="683971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Modern Open SQL available</a:t>
            </a:r>
            <a:endParaRPr lang="en-US" sz="1400" dirty="0"/>
          </a:p>
        </p:txBody>
      </p:sp>
      <p:sp>
        <p:nvSpPr>
          <p:cNvPr id="22" name="Shape 20"/>
          <p:cNvSpPr/>
          <p:nvPr/>
        </p:nvSpPr>
        <p:spPr>
          <a:xfrm>
            <a:off x="6492240" y="2816352"/>
            <a:ext cx="201168" cy="201168"/>
          </a:xfrm>
          <a:prstGeom prst="ellipse">
            <a:avLst/>
          </a:prstGeom>
          <a:solidFill>
            <a:srgbClr val="15B8A6"/>
          </a:solidFill>
          <a:ln w="12700">
            <a:solidFill>
              <a:srgbClr val="15B8A6"/>
            </a:solidFill>
            <a:prstDash val="solid"/>
          </a:ln>
        </p:spPr>
      </p:sp>
      <p:sp>
        <p:nvSpPr>
          <p:cNvPr id="23" name="Text 21"/>
          <p:cNvSpPr/>
          <p:nvPr/>
        </p:nvSpPr>
        <p:spPr>
          <a:xfrm>
            <a:off x="683971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CDS may be appropriate</a:t>
            </a:r>
            <a:endParaRPr lang="en-US" sz="1400" dirty="0"/>
          </a:p>
        </p:txBody>
      </p:sp>
      <p:sp>
        <p:nvSpPr>
          <p:cNvPr id="24" name="Shape 22"/>
          <p:cNvSpPr/>
          <p:nvPr/>
        </p:nvSpPr>
        <p:spPr>
          <a:xfrm>
            <a:off x="6492240" y="3410712"/>
            <a:ext cx="201168" cy="201168"/>
          </a:xfrm>
          <a:prstGeom prst="ellipse">
            <a:avLst/>
          </a:prstGeom>
          <a:solidFill>
            <a:srgbClr val="15B8A6"/>
          </a:solidFill>
          <a:ln w="12700">
            <a:solidFill>
              <a:srgbClr val="15B8A6"/>
            </a:solidFill>
            <a:prstDash val="solid"/>
          </a:ln>
        </p:spPr>
      </p:sp>
      <p:sp>
        <p:nvSpPr>
          <p:cNvPr id="25" name="Text 23"/>
          <p:cNvSpPr/>
          <p:nvPr/>
        </p:nvSpPr>
        <p:spPr>
          <a:xfrm>
            <a:off x="683971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HANA pushdown may matter</a:t>
            </a:r>
            <a:endParaRPr lang="en-US" sz="1400" dirty="0"/>
          </a:p>
        </p:txBody>
      </p:sp>
      <p:sp>
        <p:nvSpPr>
          <p:cNvPr id="26" name="Shape 24"/>
          <p:cNvSpPr/>
          <p:nvPr/>
        </p:nvSpPr>
        <p:spPr>
          <a:xfrm>
            <a:off x="6492240" y="4005072"/>
            <a:ext cx="201168" cy="201168"/>
          </a:xfrm>
          <a:prstGeom prst="ellipse">
            <a:avLst/>
          </a:prstGeom>
          <a:solidFill>
            <a:srgbClr val="15B8A6"/>
          </a:solidFill>
          <a:ln w="12700">
            <a:solidFill>
              <a:srgbClr val="15B8A6"/>
            </a:solidFill>
            <a:prstDash val="solid"/>
          </a:ln>
        </p:spPr>
      </p:sp>
      <p:sp>
        <p:nvSpPr>
          <p:cNvPr id="27" name="Text 25"/>
          <p:cNvSpPr/>
          <p:nvPr/>
        </p:nvSpPr>
        <p:spPr>
          <a:xfrm>
            <a:off x="683971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Annotations may be required</a:t>
            </a:r>
            <a:endParaRPr lang="en-US" sz="1400" dirty="0"/>
          </a:p>
        </p:txBody>
      </p:sp>
      <p:sp>
        <p:nvSpPr>
          <p:cNvPr id="28" name="Shape 26"/>
          <p:cNvSpPr/>
          <p:nvPr/>
        </p:nvSpPr>
        <p:spPr>
          <a:xfrm>
            <a:off x="6492240" y="4599432"/>
            <a:ext cx="201168" cy="201168"/>
          </a:xfrm>
          <a:prstGeom prst="ellipse">
            <a:avLst/>
          </a:prstGeom>
          <a:solidFill>
            <a:srgbClr val="15B8A6"/>
          </a:solidFill>
          <a:ln w="12700">
            <a:solidFill>
              <a:srgbClr val="15B8A6"/>
            </a:solidFill>
            <a:prstDash val="solid"/>
          </a:ln>
        </p:spPr>
      </p:sp>
      <p:sp>
        <p:nvSpPr>
          <p:cNvPr id="29" name="Text 27"/>
          <p:cNvSpPr/>
          <p:nvPr/>
        </p:nvSpPr>
        <p:spPr>
          <a:xfrm>
            <a:off x="683971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Still verify HR data model and APIs</a:t>
            </a:r>
            <a:endParaRPr lang="en-US" sz="1400" dirty="0"/>
          </a:p>
        </p:txBody>
      </p:sp>
      <p:sp>
        <p:nvSpPr>
          <p:cNvPr id="30"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ABAP release is a hard boundary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Always provide a release when syntax compatibility matters.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Modern syntax can be invalid in older systems.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Constructor expressions require suitable releases.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Inline declarations may be prohibited by project standards.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CDS and AMDP availability depends on the platform.</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The prompt should request alternatives if an object is unsupported.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ABAP 7.0 compatibility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when modern syntax must be converted.</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Convert the following ABAP 7.4+ code to ABAP 7.0 compatible syntax:</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[PASTE CODE]</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Restrictions: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No inline DATA declarations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No VALUE, FOR, REDUCE, FILTER, CONV, NEW or CORRESPONDING #( )</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No table expressions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Use explicit declarations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Preserve the business result exactly</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Provide the converted code and map each modern construct to its classic equivalent.</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Clear target release</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Explicit unsupported syntax</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Behavior preserved</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Declarations requested</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Review mapping included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Database context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State the database only when it affects design decisions.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HANA optimization favors server-side filtering and set operations.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Avoid claiming that every join is automatically better.</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Date-validity logic must remain correct after pushdown.</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Buffering and standard APIs may affect table-access decisions.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Ask for performance trade-offs, not only shorter code.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Modern ABAP vs. legacy style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Choose the style intentionally.</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Modern syntax can reduce boilerplate.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Classic syntax may be required for older releases.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Readability should take priority over novelty.</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Do not request every modern expression in one solution.</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Ask for equivalent versions when training mixed-release teams.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Syntax preference vs. business behavior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Do not let syntax conversion change payroll or HR results.</a:t>
            </a:r>
            <a:endParaRPr lang="en-US" sz="1150" dirty="0"/>
          </a:p>
        </p:txBody>
      </p:sp>
      <p:sp>
        <p:nvSpPr>
          <p:cNvPr id="4" name="Shape 2"/>
          <p:cNvSpPr/>
          <p:nvPr/>
        </p:nvSpPr>
        <p:spPr>
          <a:xfrm>
            <a:off x="658368" y="1280160"/>
            <a:ext cx="5349240" cy="4709160"/>
          </a:xfrm>
          <a:prstGeom prst="roundRect">
            <a:avLst>
              <a:gd name="adj" fmla="val 1553"/>
            </a:avLst>
          </a:prstGeom>
          <a:solidFill>
            <a:srgbClr val="FFF7F7"/>
          </a:solidFill>
          <a:ln w="12700">
            <a:solidFill>
              <a:srgbClr val="F1C7C7"/>
            </a:solidFill>
            <a:prstDash val="solid"/>
          </a:ln>
        </p:spPr>
      </p:sp>
      <p:sp>
        <p:nvSpPr>
          <p:cNvPr id="5" name="Shape 3"/>
          <p:cNvSpPr/>
          <p:nvPr/>
        </p:nvSpPr>
        <p:spPr>
          <a:xfrm>
            <a:off x="6190488" y="1280160"/>
            <a:ext cx="5349240" cy="4709160"/>
          </a:xfrm>
          <a:prstGeom prst="roundRect">
            <a:avLst>
              <a:gd name="adj" fmla="val 1553"/>
            </a:avLst>
          </a:prstGeom>
          <a:solidFill>
            <a:srgbClr val="F2FBFA"/>
          </a:solidFill>
          <a:ln w="12700">
            <a:solidFill>
              <a:srgbClr val="A7DDD6"/>
            </a:solidFill>
            <a:prstDash val="solid"/>
          </a:ln>
        </p:spPr>
      </p:sp>
      <p:sp>
        <p:nvSpPr>
          <p:cNvPr id="6" name="Shape 4"/>
          <p:cNvSpPr/>
          <p:nvPr/>
        </p:nvSpPr>
        <p:spPr>
          <a:xfrm>
            <a:off x="914400" y="1536192"/>
            <a:ext cx="1554480" cy="310896"/>
          </a:xfrm>
          <a:prstGeom prst="roundRect">
            <a:avLst>
              <a:gd name="adj" fmla="val 23529"/>
            </a:avLst>
          </a:prstGeom>
          <a:solidFill>
            <a:srgbClr val="D14343"/>
          </a:solidFill>
          <a:ln w="12700">
            <a:solidFill>
              <a:srgbClr val="D14343"/>
            </a:solidFill>
            <a:prstDash val="solid"/>
          </a:ln>
        </p:spPr>
      </p:sp>
      <p:sp>
        <p:nvSpPr>
          <p:cNvPr id="7" name="Text 5"/>
          <p:cNvSpPr/>
          <p:nvPr/>
        </p:nvSpPr>
        <p:spPr>
          <a:xfrm>
            <a:off x="969264" y="1604772"/>
            <a:ext cx="1444752" cy="164592"/>
          </a:xfrm>
          <a:prstGeom prst="rect">
            <a:avLst/>
          </a:prstGeom>
          <a:noFill/>
          <a:ln/>
        </p:spPr>
        <p:txBody>
          <a:bodyPr wrap="square" lIns="0" tIns="0" rIns="0" bIns="0" rtlCol="0" anchor="ctr"/>
          <a:lstStyle/>
          <a:p>
            <a:pPr marL="0" indent="0" algn="ctr">
              <a:buNone/>
            </a:pPr>
            <a:r>
              <a:rPr lang="en-US" sz="900" b="1" dirty="0">
                <a:solidFill>
                  <a:srgbClr val="FFFFFF"/>
                </a:solidFill>
              </a:rPr>
              <a:t>Unsafe conversion</a:t>
            </a:r>
            <a:endParaRPr lang="en-US" sz="900" dirty="0"/>
          </a:p>
        </p:txBody>
      </p:sp>
      <p:sp>
        <p:nvSpPr>
          <p:cNvPr id="8" name="Shape 6"/>
          <p:cNvSpPr/>
          <p:nvPr/>
        </p:nvSpPr>
        <p:spPr>
          <a:xfrm>
            <a:off x="6446520" y="1536192"/>
            <a:ext cx="1737360" cy="310896"/>
          </a:xfrm>
          <a:prstGeom prst="roundRect">
            <a:avLst>
              <a:gd name="adj" fmla="val 23529"/>
            </a:avLst>
          </a:prstGeom>
          <a:solidFill>
            <a:srgbClr val="15B8A6"/>
          </a:solidFill>
          <a:ln w="12700">
            <a:solidFill>
              <a:srgbClr val="15B8A6"/>
            </a:solidFill>
            <a:prstDash val="solid"/>
          </a:ln>
        </p:spPr>
      </p:sp>
      <p:sp>
        <p:nvSpPr>
          <p:cNvPr id="9" name="Text 7"/>
          <p:cNvSpPr/>
          <p:nvPr/>
        </p:nvSpPr>
        <p:spPr>
          <a:xfrm>
            <a:off x="6501384" y="1604772"/>
            <a:ext cx="1627632" cy="164592"/>
          </a:xfrm>
          <a:prstGeom prst="rect">
            <a:avLst/>
          </a:prstGeom>
          <a:noFill/>
          <a:ln/>
        </p:spPr>
        <p:txBody>
          <a:bodyPr wrap="square" lIns="0" tIns="0" rIns="0" bIns="0" rtlCol="0" anchor="ctr"/>
          <a:lstStyle/>
          <a:p>
            <a:pPr marL="0" indent="0" algn="ctr">
              <a:buNone/>
            </a:pPr>
            <a:r>
              <a:rPr lang="en-US" sz="900" b="1" dirty="0">
                <a:solidFill>
                  <a:srgbClr val="FFFFFF"/>
                </a:solidFill>
              </a:rPr>
              <a:t>Safe conversion</a:t>
            </a:r>
            <a:endParaRPr lang="en-US" sz="900" dirty="0"/>
          </a:p>
        </p:txBody>
      </p:sp>
      <p:sp>
        <p:nvSpPr>
          <p:cNvPr id="10" name="Shape 8"/>
          <p:cNvSpPr/>
          <p:nvPr/>
        </p:nvSpPr>
        <p:spPr>
          <a:xfrm>
            <a:off x="960120" y="2221992"/>
            <a:ext cx="201168" cy="201168"/>
          </a:xfrm>
          <a:prstGeom prst="ellipse">
            <a:avLst/>
          </a:prstGeom>
          <a:solidFill>
            <a:srgbClr val="15B8A6"/>
          </a:solidFill>
          <a:ln w="12700">
            <a:solidFill>
              <a:srgbClr val="15B8A6"/>
            </a:solidFill>
            <a:prstDash val="solid"/>
          </a:ln>
        </p:spPr>
      </p:sp>
      <p:sp>
        <p:nvSpPr>
          <p:cNvPr id="11" name="Text 9"/>
          <p:cNvSpPr/>
          <p:nvPr/>
        </p:nvSpPr>
        <p:spPr>
          <a:xfrm>
            <a:off x="130759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Focuses only on shorter code</a:t>
            </a:r>
            <a:endParaRPr lang="en-US" sz="1400" dirty="0"/>
          </a:p>
        </p:txBody>
      </p:sp>
      <p:sp>
        <p:nvSpPr>
          <p:cNvPr id="12" name="Shape 10"/>
          <p:cNvSpPr/>
          <p:nvPr/>
        </p:nvSpPr>
        <p:spPr>
          <a:xfrm>
            <a:off x="960120" y="2816352"/>
            <a:ext cx="201168" cy="201168"/>
          </a:xfrm>
          <a:prstGeom prst="ellipse">
            <a:avLst/>
          </a:prstGeom>
          <a:solidFill>
            <a:srgbClr val="15B8A6"/>
          </a:solidFill>
          <a:ln w="12700">
            <a:solidFill>
              <a:srgbClr val="15B8A6"/>
            </a:solidFill>
            <a:prstDash val="solid"/>
          </a:ln>
        </p:spPr>
      </p:sp>
      <p:sp>
        <p:nvSpPr>
          <p:cNvPr id="13" name="Text 11"/>
          <p:cNvSpPr/>
          <p:nvPr/>
        </p:nvSpPr>
        <p:spPr>
          <a:xfrm>
            <a:off x="130759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Changes selection semantics</a:t>
            </a:r>
            <a:endParaRPr lang="en-US" sz="1400" dirty="0"/>
          </a:p>
        </p:txBody>
      </p:sp>
      <p:sp>
        <p:nvSpPr>
          <p:cNvPr id="14" name="Shape 12"/>
          <p:cNvSpPr/>
          <p:nvPr/>
        </p:nvSpPr>
        <p:spPr>
          <a:xfrm>
            <a:off x="960120" y="3410712"/>
            <a:ext cx="201168" cy="201168"/>
          </a:xfrm>
          <a:prstGeom prst="ellipse">
            <a:avLst/>
          </a:prstGeom>
          <a:solidFill>
            <a:srgbClr val="15B8A6"/>
          </a:solidFill>
          <a:ln w="12700">
            <a:solidFill>
              <a:srgbClr val="15B8A6"/>
            </a:solidFill>
            <a:prstDash val="solid"/>
          </a:ln>
        </p:spPr>
      </p:sp>
      <p:sp>
        <p:nvSpPr>
          <p:cNvPr id="15" name="Text 13"/>
          <p:cNvSpPr/>
          <p:nvPr/>
        </p:nvSpPr>
        <p:spPr>
          <a:xfrm>
            <a:off x="130759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Drops initial-value handling</a:t>
            </a:r>
            <a:endParaRPr lang="en-US" sz="1400" dirty="0"/>
          </a:p>
        </p:txBody>
      </p:sp>
      <p:sp>
        <p:nvSpPr>
          <p:cNvPr id="16" name="Shape 14"/>
          <p:cNvSpPr/>
          <p:nvPr/>
        </p:nvSpPr>
        <p:spPr>
          <a:xfrm>
            <a:off x="960120" y="4005072"/>
            <a:ext cx="201168" cy="201168"/>
          </a:xfrm>
          <a:prstGeom prst="ellipse">
            <a:avLst/>
          </a:prstGeom>
          <a:solidFill>
            <a:srgbClr val="15B8A6"/>
          </a:solidFill>
          <a:ln w="12700">
            <a:solidFill>
              <a:srgbClr val="15B8A6"/>
            </a:solidFill>
            <a:prstDash val="solid"/>
          </a:ln>
        </p:spPr>
      </p:sp>
      <p:sp>
        <p:nvSpPr>
          <p:cNvPr id="17" name="Text 15"/>
          <p:cNvSpPr/>
          <p:nvPr/>
        </p:nvSpPr>
        <p:spPr>
          <a:xfrm>
            <a:off x="130759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Assumes one valid record</a:t>
            </a:r>
            <a:endParaRPr lang="en-US" sz="1400" dirty="0"/>
          </a:p>
        </p:txBody>
      </p:sp>
      <p:sp>
        <p:nvSpPr>
          <p:cNvPr id="18" name="Shape 16"/>
          <p:cNvSpPr/>
          <p:nvPr/>
        </p:nvSpPr>
        <p:spPr>
          <a:xfrm>
            <a:off x="960120" y="4599432"/>
            <a:ext cx="201168" cy="201168"/>
          </a:xfrm>
          <a:prstGeom prst="ellipse">
            <a:avLst/>
          </a:prstGeom>
          <a:solidFill>
            <a:srgbClr val="15B8A6"/>
          </a:solidFill>
          <a:ln w="12700">
            <a:solidFill>
              <a:srgbClr val="15B8A6"/>
            </a:solidFill>
            <a:prstDash val="solid"/>
          </a:ln>
        </p:spPr>
      </p:sp>
      <p:sp>
        <p:nvSpPr>
          <p:cNvPr id="19" name="Text 17"/>
          <p:cNvSpPr/>
          <p:nvPr/>
        </p:nvSpPr>
        <p:spPr>
          <a:xfrm>
            <a:off x="130759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Does not compare outputs</a:t>
            </a:r>
            <a:endParaRPr lang="en-US" sz="1400" dirty="0"/>
          </a:p>
        </p:txBody>
      </p:sp>
      <p:sp>
        <p:nvSpPr>
          <p:cNvPr id="20" name="Shape 18"/>
          <p:cNvSpPr/>
          <p:nvPr/>
        </p:nvSpPr>
        <p:spPr>
          <a:xfrm>
            <a:off x="6492240" y="2221992"/>
            <a:ext cx="201168" cy="201168"/>
          </a:xfrm>
          <a:prstGeom prst="ellipse">
            <a:avLst/>
          </a:prstGeom>
          <a:solidFill>
            <a:srgbClr val="15B8A6"/>
          </a:solidFill>
          <a:ln w="12700">
            <a:solidFill>
              <a:srgbClr val="15B8A6"/>
            </a:solidFill>
            <a:prstDash val="solid"/>
          </a:ln>
        </p:spPr>
      </p:sp>
      <p:sp>
        <p:nvSpPr>
          <p:cNvPr id="21" name="Text 19"/>
          <p:cNvSpPr/>
          <p:nvPr/>
        </p:nvSpPr>
        <p:spPr>
          <a:xfrm>
            <a:off x="683971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Preserves all conditions</a:t>
            </a:r>
            <a:endParaRPr lang="en-US" sz="1400" dirty="0"/>
          </a:p>
        </p:txBody>
      </p:sp>
      <p:sp>
        <p:nvSpPr>
          <p:cNvPr id="22" name="Shape 20"/>
          <p:cNvSpPr/>
          <p:nvPr/>
        </p:nvSpPr>
        <p:spPr>
          <a:xfrm>
            <a:off x="6492240" y="2816352"/>
            <a:ext cx="201168" cy="201168"/>
          </a:xfrm>
          <a:prstGeom prst="ellipse">
            <a:avLst/>
          </a:prstGeom>
          <a:solidFill>
            <a:srgbClr val="15B8A6"/>
          </a:solidFill>
          <a:ln w="12700">
            <a:solidFill>
              <a:srgbClr val="15B8A6"/>
            </a:solidFill>
            <a:prstDash val="solid"/>
          </a:ln>
        </p:spPr>
      </p:sp>
      <p:sp>
        <p:nvSpPr>
          <p:cNvPr id="23" name="Text 21"/>
          <p:cNvSpPr/>
          <p:nvPr/>
        </p:nvSpPr>
        <p:spPr>
          <a:xfrm>
            <a:off x="683971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Uses explicit declarations</a:t>
            </a:r>
            <a:endParaRPr lang="en-US" sz="1400" dirty="0"/>
          </a:p>
        </p:txBody>
      </p:sp>
      <p:sp>
        <p:nvSpPr>
          <p:cNvPr id="24" name="Shape 22"/>
          <p:cNvSpPr/>
          <p:nvPr/>
        </p:nvSpPr>
        <p:spPr>
          <a:xfrm>
            <a:off x="6492240" y="3410712"/>
            <a:ext cx="201168" cy="201168"/>
          </a:xfrm>
          <a:prstGeom prst="ellipse">
            <a:avLst/>
          </a:prstGeom>
          <a:solidFill>
            <a:srgbClr val="15B8A6"/>
          </a:solidFill>
          <a:ln w="12700">
            <a:solidFill>
              <a:srgbClr val="15B8A6"/>
            </a:solidFill>
            <a:prstDash val="solid"/>
          </a:ln>
        </p:spPr>
      </p:sp>
      <p:sp>
        <p:nvSpPr>
          <p:cNvPr id="25" name="Text 23"/>
          <p:cNvSpPr/>
          <p:nvPr/>
        </p:nvSpPr>
        <p:spPr>
          <a:xfrm>
            <a:off x="683971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Handles empty tables</a:t>
            </a:r>
            <a:endParaRPr lang="en-US" sz="1400" dirty="0"/>
          </a:p>
        </p:txBody>
      </p:sp>
      <p:sp>
        <p:nvSpPr>
          <p:cNvPr id="26" name="Shape 24"/>
          <p:cNvSpPr/>
          <p:nvPr/>
        </p:nvSpPr>
        <p:spPr>
          <a:xfrm>
            <a:off x="6492240" y="4005072"/>
            <a:ext cx="201168" cy="201168"/>
          </a:xfrm>
          <a:prstGeom prst="ellipse">
            <a:avLst/>
          </a:prstGeom>
          <a:solidFill>
            <a:srgbClr val="15B8A6"/>
          </a:solidFill>
          <a:ln w="12700">
            <a:solidFill>
              <a:srgbClr val="15B8A6"/>
            </a:solidFill>
            <a:prstDash val="solid"/>
          </a:ln>
        </p:spPr>
      </p:sp>
      <p:sp>
        <p:nvSpPr>
          <p:cNvPr id="27" name="Text 25"/>
          <p:cNvSpPr/>
          <p:nvPr/>
        </p:nvSpPr>
        <p:spPr>
          <a:xfrm>
            <a:off x="683971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Compares expected results</a:t>
            </a:r>
            <a:endParaRPr lang="en-US" sz="1400" dirty="0"/>
          </a:p>
        </p:txBody>
      </p:sp>
      <p:sp>
        <p:nvSpPr>
          <p:cNvPr id="28" name="Shape 26"/>
          <p:cNvSpPr/>
          <p:nvPr/>
        </p:nvSpPr>
        <p:spPr>
          <a:xfrm>
            <a:off x="6492240" y="4599432"/>
            <a:ext cx="201168" cy="201168"/>
          </a:xfrm>
          <a:prstGeom prst="ellipse">
            <a:avLst/>
          </a:prstGeom>
          <a:solidFill>
            <a:srgbClr val="15B8A6"/>
          </a:solidFill>
          <a:ln w="12700">
            <a:solidFill>
              <a:srgbClr val="15B8A6"/>
            </a:solidFill>
            <a:prstDash val="solid"/>
          </a:ln>
        </p:spPr>
      </p:sp>
      <p:sp>
        <p:nvSpPr>
          <p:cNvPr id="29" name="Text 27"/>
          <p:cNvSpPr/>
          <p:nvPr/>
        </p:nvSpPr>
        <p:spPr>
          <a:xfrm>
            <a:off x="683971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Explains semantic replacements</a:t>
            </a:r>
            <a:endParaRPr lang="en-US" sz="1400" dirty="0"/>
          </a:p>
        </p:txBody>
      </p:sp>
      <p:sp>
        <p:nvSpPr>
          <p:cNvPr id="30"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3: Specify compatibility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A developer asks for a dynamic report in an unknown system.</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Write the system-context questions that must be answered.</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Confirm ECC or S/4HANA, ABAP release, database, target object type, permitted syntax, required compatibility with existing code, and whether standard SAP HR APIs must be retained.</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Release-safe acceptance criteria</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Add verification language to compatibility requests.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Code must pass syntax checks for the stated release.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No prohibited syntax may remain.</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Output must match the original implementation for supplied tests.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All declarations must be explicit when required.</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Unsupported objects must be identified, not invented.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3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Compatibility should never be left implicit.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System type shapes the solution.</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Release controls syntax.</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Database affects optimization choices.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Project standards affect style.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Acceptance criteria protect functional parity.</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04</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HR DATA AND RULES</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Infotypes, validity and payroll context</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Translate HR functional requirements into explicit processing rules.</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Infotype prompts need dates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HR records are commonly validity-dependent.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Provide BEGDA and ENDDA or a key date.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whether full containment or overlap is required.</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Explain how multiple records should be handled.</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behavior for gaps and no-data periods.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tests at boundary dates.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Validity-overlap reasoning</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Make the intended record-selection logic visible.</a:t>
            </a:r>
            <a:endParaRPr lang="en-US" sz="1150" dirty="0"/>
          </a:p>
        </p:txBody>
      </p:sp>
      <p:sp>
        <p:nvSpPr>
          <p:cNvPr id="4" name="Shape 2"/>
          <p:cNvSpPr/>
          <p:nvPr/>
        </p:nvSpPr>
        <p:spPr>
          <a:xfrm>
            <a:off x="438912" y="1965960"/>
            <a:ext cx="1783080" cy="1691640"/>
          </a:xfrm>
          <a:prstGeom prst="roundRect">
            <a:avLst>
              <a:gd name="adj" fmla="val 4324"/>
            </a:avLst>
          </a:prstGeom>
          <a:solidFill>
            <a:srgbClr val="EDF5FB"/>
          </a:solidFill>
          <a:ln w="12700">
            <a:solidFill>
              <a:srgbClr val="D9E1EA"/>
            </a:solidFill>
            <a:prstDash val="solid"/>
          </a:ln>
        </p:spPr>
      </p:sp>
      <p:sp>
        <p:nvSpPr>
          <p:cNvPr id="5" name="Shape 3"/>
          <p:cNvSpPr/>
          <p:nvPr/>
        </p:nvSpPr>
        <p:spPr>
          <a:xfrm>
            <a:off x="594360" y="2185416"/>
            <a:ext cx="438912" cy="438912"/>
          </a:xfrm>
          <a:prstGeom prst="ellipse">
            <a:avLst/>
          </a:prstGeom>
          <a:solidFill>
            <a:srgbClr val="15B8A6"/>
          </a:solidFill>
          <a:ln w="12700">
            <a:solidFill>
              <a:srgbClr val="15B8A6"/>
            </a:solidFill>
            <a:prstDash val="solid"/>
          </a:ln>
        </p:spPr>
      </p:sp>
      <p:sp>
        <p:nvSpPr>
          <p:cNvPr id="6" name="Text 4"/>
          <p:cNvSpPr/>
          <p:nvPr/>
        </p:nvSpPr>
        <p:spPr>
          <a:xfrm>
            <a:off x="5943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 name="Text 5"/>
          <p:cNvSpPr/>
          <p:nvPr/>
        </p:nvSpPr>
        <p:spPr>
          <a:xfrm>
            <a:off x="5760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Selection period</a:t>
            </a:r>
            <a:endParaRPr lang="en-US" sz="1320" dirty="0"/>
          </a:p>
        </p:txBody>
      </p:sp>
      <p:sp>
        <p:nvSpPr>
          <p:cNvPr id="8" name="Shape 6"/>
          <p:cNvSpPr/>
          <p:nvPr/>
        </p:nvSpPr>
        <p:spPr>
          <a:xfrm>
            <a:off x="2194560" y="2487168"/>
            <a:ext cx="256032" cy="548640"/>
          </a:xfrm>
          <a:prstGeom prst="chevron">
            <a:avLst/>
          </a:prstGeom>
          <a:solidFill>
            <a:srgbClr val="0B5CAD"/>
          </a:solidFill>
          <a:ln w="12700">
            <a:solidFill>
              <a:srgbClr val="0B5CAD"/>
            </a:solidFill>
            <a:prstDash val="solid"/>
          </a:ln>
        </p:spPr>
      </p:sp>
      <p:sp>
        <p:nvSpPr>
          <p:cNvPr id="9" name="Shape 7"/>
          <p:cNvSpPr/>
          <p:nvPr/>
        </p:nvSpPr>
        <p:spPr>
          <a:xfrm>
            <a:off x="2305812" y="1965960"/>
            <a:ext cx="1783080" cy="1691640"/>
          </a:xfrm>
          <a:prstGeom prst="roundRect">
            <a:avLst>
              <a:gd name="adj" fmla="val 4324"/>
            </a:avLst>
          </a:prstGeom>
          <a:solidFill>
            <a:srgbClr val="F0FAF8"/>
          </a:solidFill>
          <a:ln w="12700">
            <a:solidFill>
              <a:srgbClr val="D9E1EA"/>
            </a:solidFill>
            <a:prstDash val="solid"/>
          </a:ln>
        </p:spPr>
      </p:sp>
      <p:sp>
        <p:nvSpPr>
          <p:cNvPr id="10" name="Shape 8"/>
          <p:cNvSpPr/>
          <p:nvPr/>
        </p:nvSpPr>
        <p:spPr>
          <a:xfrm>
            <a:off x="2461260" y="2185416"/>
            <a:ext cx="438912" cy="438912"/>
          </a:xfrm>
          <a:prstGeom prst="ellipse">
            <a:avLst/>
          </a:prstGeom>
          <a:solidFill>
            <a:srgbClr val="15B8A6"/>
          </a:solidFill>
          <a:ln w="12700">
            <a:solidFill>
              <a:srgbClr val="15B8A6"/>
            </a:solidFill>
            <a:prstDash val="solid"/>
          </a:ln>
        </p:spPr>
      </p:sp>
      <p:sp>
        <p:nvSpPr>
          <p:cNvPr id="11" name="Text 9"/>
          <p:cNvSpPr/>
          <p:nvPr/>
        </p:nvSpPr>
        <p:spPr>
          <a:xfrm>
            <a:off x="24612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2" name="Text 10"/>
          <p:cNvSpPr/>
          <p:nvPr/>
        </p:nvSpPr>
        <p:spPr>
          <a:xfrm>
            <a:off x="24429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Candidate HR record</a:t>
            </a:r>
            <a:endParaRPr lang="en-US" sz="1320" dirty="0"/>
          </a:p>
        </p:txBody>
      </p:sp>
      <p:sp>
        <p:nvSpPr>
          <p:cNvPr id="13" name="Shape 11"/>
          <p:cNvSpPr/>
          <p:nvPr/>
        </p:nvSpPr>
        <p:spPr>
          <a:xfrm>
            <a:off x="4061460" y="2487168"/>
            <a:ext cx="256032" cy="548640"/>
          </a:xfrm>
          <a:prstGeom prst="chevron">
            <a:avLst/>
          </a:prstGeom>
          <a:solidFill>
            <a:srgbClr val="0B5CAD"/>
          </a:solidFill>
          <a:ln w="12700">
            <a:solidFill>
              <a:srgbClr val="0B5CAD"/>
            </a:solidFill>
            <a:prstDash val="solid"/>
          </a:ln>
        </p:spPr>
      </p:sp>
      <p:sp>
        <p:nvSpPr>
          <p:cNvPr id="14" name="Shape 12"/>
          <p:cNvSpPr/>
          <p:nvPr/>
        </p:nvSpPr>
        <p:spPr>
          <a:xfrm>
            <a:off x="4172712" y="1965960"/>
            <a:ext cx="1783080" cy="1691640"/>
          </a:xfrm>
          <a:prstGeom prst="roundRect">
            <a:avLst>
              <a:gd name="adj" fmla="val 4324"/>
            </a:avLst>
          </a:prstGeom>
          <a:solidFill>
            <a:srgbClr val="EDF5FB"/>
          </a:solidFill>
          <a:ln w="12700">
            <a:solidFill>
              <a:srgbClr val="D9E1EA"/>
            </a:solidFill>
            <a:prstDash val="solid"/>
          </a:ln>
        </p:spPr>
      </p:sp>
      <p:sp>
        <p:nvSpPr>
          <p:cNvPr id="15" name="Shape 13"/>
          <p:cNvSpPr/>
          <p:nvPr/>
        </p:nvSpPr>
        <p:spPr>
          <a:xfrm>
            <a:off x="4328160" y="2185416"/>
            <a:ext cx="438912" cy="438912"/>
          </a:xfrm>
          <a:prstGeom prst="ellipse">
            <a:avLst/>
          </a:prstGeom>
          <a:solidFill>
            <a:srgbClr val="15B8A6"/>
          </a:solidFill>
          <a:ln w="12700">
            <a:solidFill>
              <a:srgbClr val="15B8A6"/>
            </a:solidFill>
            <a:prstDash val="solid"/>
          </a:ln>
        </p:spPr>
      </p:sp>
      <p:sp>
        <p:nvSpPr>
          <p:cNvPr id="16" name="Text 14"/>
          <p:cNvSpPr/>
          <p:nvPr/>
        </p:nvSpPr>
        <p:spPr>
          <a:xfrm>
            <a:off x="43281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7" name="Text 15"/>
          <p:cNvSpPr/>
          <p:nvPr/>
        </p:nvSpPr>
        <p:spPr>
          <a:xfrm>
            <a:off x="43098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Compare BEGDA</a:t>
            </a:r>
            <a:endParaRPr lang="en-US" sz="1320" dirty="0"/>
          </a:p>
        </p:txBody>
      </p:sp>
      <p:sp>
        <p:nvSpPr>
          <p:cNvPr id="18" name="Shape 16"/>
          <p:cNvSpPr/>
          <p:nvPr/>
        </p:nvSpPr>
        <p:spPr>
          <a:xfrm>
            <a:off x="5928360" y="2487168"/>
            <a:ext cx="256032" cy="548640"/>
          </a:xfrm>
          <a:prstGeom prst="chevron">
            <a:avLst/>
          </a:prstGeom>
          <a:solidFill>
            <a:srgbClr val="0B5CAD"/>
          </a:solidFill>
          <a:ln w="12700">
            <a:solidFill>
              <a:srgbClr val="0B5CAD"/>
            </a:solidFill>
            <a:prstDash val="solid"/>
          </a:ln>
        </p:spPr>
      </p:sp>
      <p:sp>
        <p:nvSpPr>
          <p:cNvPr id="19" name="Shape 17"/>
          <p:cNvSpPr/>
          <p:nvPr/>
        </p:nvSpPr>
        <p:spPr>
          <a:xfrm>
            <a:off x="6039612" y="1965960"/>
            <a:ext cx="1783080" cy="1691640"/>
          </a:xfrm>
          <a:prstGeom prst="roundRect">
            <a:avLst>
              <a:gd name="adj" fmla="val 4324"/>
            </a:avLst>
          </a:prstGeom>
          <a:solidFill>
            <a:srgbClr val="F0FAF8"/>
          </a:solidFill>
          <a:ln w="12700">
            <a:solidFill>
              <a:srgbClr val="D9E1EA"/>
            </a:solidFill>
            <a:prstDash val="solid"/>
          </a:ln>
        </p:spPr>
      </p:sp>
      <p:sp>
        <p:nvSpPr>
          <p:cNvPr id="20" name="Shape 18"/>
          <p:cNvSpPr/>
          <p:nvPr/>
        </p:nvSpPr>
        <p:spPr>
          <a:xfrm>
            <a:off x="6195060" y="2185416"/>
            <a:ext cx="438912" cy="438912"/>
          </a:xfrm>
          <a:prstGeom prst="ellipse">
            <a:avLst/>
          </a:prstGeom>
          <a:solidFill>
            <a:srgbClr val="15B8A6"/>
          </a:solidFill>
          <a:ln w="12700">
            <a:solidFill>
              <a:srgbClr val="15B8A6"/>
            </a:solidFill>
            <a:prstDash val="solid"/>
          </a:ln>
        </p:spPr>
      </p:sp>
      <p:sp>
        <p:nvSpPr>
          <p:cNvPr id="21" name="Text 19"/>
          <p:cNvSpPr/>
          <p:nvPr/>
        </p:nvSpPr>
        <p:spPr>
          <a:xfrm>
            <a:off x="61950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2" name="Text 20"/>
          <p:cNvSpPr/>
          <p:nvPr/>
        </p:nvSpPr>
        <p:spPr>
          <a:xfrm>
            <a:off x="61767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Compare ENDDA</a:t>
            </a:r>
            <a:endParaRPr lang="en-US" sz="1320" dirty="0"/>
          </a:p>
        </p:txBody>
      </p:sp>
      <p:sp>
        <p:nvSpPr>
          <p:cNvPr id="23" name="Shape 21"/>
          <p:cNvSpPr/>
          <p:nvPr/>
        </p:nvSpPr>
        <p:spPr>
          <a:xfrm>
            <a:off x="7795260" y="2487168"/>
            <a:ext cx="256032" cy="548640"/>
          </a:xfrm>
          <a:prstGeom prst="chevron">
            <a:avLst/>
          </a:prstGeom>
          <a:solidFill>
            <a:srgbClr val="0B5CAD"/>
          </a:solidFill>
          <a:ln w="12700">
            <a:solidFill>
              <a:srgbClr val="0B5CAD"/>
            </a:solidFill>
            <a:prstDash val="solid"/>
          </a:ln>
        </p:spPr>
      </p:sp>
      <p:sp>
        <p:nvSpPr>
          <p:cNvPr id="24" name="Shape 22"/>
          <p:cNvSpPr/>
          <p:nvPr/>
        </p:nvSpPr>
        <p:spPr>
          <a:xfrm>
            <a:off x="7906512" y="1965960"/>
            <a:ext cx="1783080" cy="1691640"/>
          </a:xfrm>
          <a:prstGeom prst="roundRect">
            <a:avLst>
              <a:gd name="adj" fmla="val 4324"/>
            </a:avLst>
          </a:prstGeom>
          <a:solidFill>
            <a:srgbClr val="EDF5FB"/>
          </a:solidFill>
          <a:ln w="12700">
            <a:solidFill>
              <a:srgbClr val="D9E1EA"/>
            </a:solidFill>
            <a:prstDash val="solid"/>
          </a:ln>
        </p:spPr>
      </p:sp>
      <p:sp>
        <p:nvSpPr>
          <p:cNvPr id="25" name="Shape 23"/>
          <p:cNvSpPr/>
          <p:nvPr/>
        </p:nvSpPr>
        <p:spPr>
          <a:xfrm>
            <a:off x="8061960" y="2185416"/>
            <a:ext cx="438912" cy="438912"/>
          </a:xfrm>
          <a:prstGeom prst="ellipse">
            <a:avLst/>
          </a:prstGeom>
          <a:solidFill>
            <a:srgbClr val="15B8A6"/>
          </a:solidFill>
          <a:ln w="12700">
            <a:solidFill>
              <a:srgbClr val="15B8A6"/>
            </a:solidFill>
            <a:prstDash val="solid"/>
          </a:ln>
        </p:spPr>
      </p:sp>
      <p:sp>
        <p:nvSpPr>
          <p:cNvPr id="26" name="Text 24"/>
          <p:cNvSpPr/>
          <p:nvPr/>
        </p:nvSpPr>
        <p:spPr>
          <a:xfrm>
            <a:off x="80619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7" name="Text 25"/>
          <p:cNvSpPr/>
          <p:nvPr/>
        </p:nvSpPr>
        <p:spPr>
          <a:xfrm>
            <a:off x="80436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Include / exclude</a:t>
            </a:r>
            <a:endParaRPr lang="en-US" sz="1320" dirty="0"/>
          </a:p>
        </p:txBody>
      </p:sp>
      <p:sp>
        <p:nvSpPr>
          <p:cNvPr id="28" name="Shape 26"/>
          <p:cNvSpPr/>
          <p:nvPr/>
        </p:nvSpPr>
        <p:spPr>
          <a:xfrm>
            <a:off x="9662160" y="2487168"/>
            <a:ext cx="256032" cy="548640"/>
          </a:xfrm>
          <a:prstGeom prst="chevron">
            <a:avLst/>
          </a:prstGeom>
          <a:solidFill>
            <a:srgbClr val="0B5CAD"/>
          </a:solidFill>
          <a:ln w="12700">
            <a:solidFill>
              <a:srgbClr val="0B5CAD"/>
            </a:solidFill>
            <a:prstDash val="solid"/>
          </a:ln>
        </p:spPr>
      </p:sp>
      <p:sp>
        <p:nvSpPr>
          <p:cNvPr id="29" name="Shape 27"/>
          <p:cNvSpPr/>
          <p:nvPr/>
        </p:nvSpPr>
        <p:spPr>
          <a:xfrm>
            <a:off x="9773412" y="1965960"/>
            <a:ext cx="1783080" cy="1691640"/>
          </a:xfrm>
          <a:prstGeom prst="roundRect">
            <a:avLst>
              <a:gd name="adj" fmla="val 4324"/>
            </a:avLst>
          </a:prstGeom>
          <a:solidFill>
            <a:srgbClr val="F0FAF8"/>
          </a:solidFill>
          <a:ln w="12700">
            <a:solidFill>
              <a:srgbClr val="D9E1EA"/>
            </a:solidFill>
            <a:prstDash val="solid"/>
          </a:ln>
        </p:spPr>
      </p:sp>
      <p:sp>
        <p:nvSpPr>
          <p:cNvPr id="30" name="Shape 28"/>
          <p:cNvSpPr/>
          <p:nvPr/>
        </p:nvSpPr>
        <p:spPr>
          <a:xfrm>
            <a:off x="9928860" y="2185416"/>
            <a:ext cx="438912" cy="438912"/>
          </a:xfrm>
          <a:prstGeom prst="ellipse">
            <a:avLst/>
          </a:prstGeom>
          <a:solidFill>
            <a:srgbClr val="F59E0B"/>
          </a:solidFill>
          <a:ln w="12700">
            <a:solidFill>
              <a:srgbClr val="F59E0B"/>
            </a:solidFill>
            <a:prstDash val="solid"/>
          </a:ln>
        </p:spPr>
      </p:sp>
      <p:sp>
        <p:nvSpPr>
          <p:cNvPr id="31" name="Text 29"/>
          <p:cNvSpPr/>
          <p:nvPr/>
        </p:nvSpPr>
        <p:spPr>
          <a:xfrm>
            <a:off x="99288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32" name="Text 30"/>
          <p:cNvSpPr/>
          <p:nvPr/>
        </p:nvSpPr>
        <p:spPr>
          <a:xfrm>
            <a:off x="99105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Validate result</a:t>
            </a:r>
            <a:endParaRPr lang="en-US" sz="1320" dirty="0"/>
          </a:p>
        </p:txBody>
      </p:sp>
      <p:sp>
        <p:nvSpPr>
          <p:cNvPr id="33" name="Text 31"/>
          <p:cNvSpPr/>
          <p:nvPr/>
        </p:nvSpPr>
        <p:spPr>
          <a:xfrm>
            <a:off x="914400" y="4709160"/>
            <a:ext cx="10332720" cy="457200"/>
          </a:xfrm>
          <a:prstGeom prst="rect">
            <a:avLst/>
          </a:prstGeom>
          <a:noFill/>
          <a:ln/>
        </p:spPr>
        <p:txBody>
          <a:bodyPr wrap="square" lIns="0" tIns="0" rIns="0" bIns="0" rtlCol="0" anchor="ctr"/>
          <a:lstStyle/>
          <a:p>
            <a:pPr marL="0" indent="0" algn="ctr">
              <a:buNone/>
            </a:pPr>
            <a:r>
              <a:rPr lang="en-US" sz="1700" b="1" dirty="0">
                <a:solidFill>
                  <a:srgbClr val="F59E0B"/>
                </a:solidFill>
              </a:rPr>
              <a:t>Use the sequence as a review path: each stage should be visible in the final response.</a:t>
            </a:r>
            <a:endParaRPr lang="en-US" sz="1700" dirty="0"/>
          </a:p>
        </p:txBody>
      </p:sp>
      <p:sp>
        <p:nvSpPr>
          <p:cNvPr id="34"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Multiple valid records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Do not assume a single record unless the business process guarantees it.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whether all records or one record is needed.</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sort and priority rules.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Clarify sequence-number handling where applicable.</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duplicate detection separately from valid overlaps.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Provide a sample with two records.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Payroll-result prompts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Payroll data requests need more than PERNR.</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Specify country payroll context.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payroll period or result selection rule.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Identify required clusters or result tables conceptually.</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List wage types or result components of interest.</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Describe missing-result and retro-result behavior.</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Infotype reading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for a typed, date-aware read request.</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 senior SAP HCM ABAP developer.</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Read infotype [XXXX] for PERNR, BEGDA and ENDDA.</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Requirements: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1. Apply the required validity-overlap rule.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2. Handle multiple records explicitly.</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3. Perform the applicable HR authorization check.</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4. Return a typed internal table.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5. Handle no data and invalid dates.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6. Do not invent infotype fields.</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System: [ECC/S/4HANA], ABAP release: [x.x].</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Provide code, explanation and boundary-date tests.</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Dates are explicit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Multiplicity defined</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Authorization included</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Typed output</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Fields verified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Payroll result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for country-specific payroll extraction.</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an SAP Payroll ABAP expert.</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Country payroll: [country]</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Employee selection: [PERNR / range]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Payroll-result selection: [period or rule]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Required components: [RT / CRT / WPBP / wage types]</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Handle missing results, retro results and multiple results according to [business rule]. Use approved standard APIs where appropriate. Do not invent structures or function modules. Provide executable code, assumptions and test scenarios.</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Country context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Result selection</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Components listed</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Retro behavior</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API verification</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Authorization is part of correctness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HR data protection belongs in the prompt, not as an afterthought.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that the applicable HR authorization is required.</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Do not assume one authorization object fits every design.</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behavior for unauthorized personnel numbers.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Avoid exposing sensitive fields in sample data.</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tests for authorization failure.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4: Add HR rules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“Read IT0001 for a date range.”</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Expand the request with date, multiple-record and authorization behavior.</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Read IT0001 for S_PERNR and P_BEGDA–P_ENDDA. Include records overlapping the selection period, return all valid records in date order, handle gaps as no data, apply the applicable HR authorization check, and test records starting or ending exactly on the boundary dates.</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4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SAP HR prompts must express temporal and authorization behavior.</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Dates define record relevance.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Multiplicity affects output shape.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Payroll context affects structures and APIs.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Authorization affects permissible results.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Boundary examples make rules testable.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05</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QUALITY AND DELIVERY</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Make generated code testable and supportable</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Define performance, errors, logging, testing and acceptance.</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Performance requirements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Ask for the performance behavior you need, not generic “optimization.”</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expected data volume when known.</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Prohibit database access inside loops where appropriate.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server-side filters for large reads.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Ask for appropriate internal table types.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Require explanations of performance trade-offs.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FOR ALL ENTRIES safeguards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If FAE is considered, the prompt should request its safety conditions.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Check the driver table is not initial.</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Remove duplicates when they affect result size.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Compare with joins or staged reads.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Preserve date and client semantics.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Explain why FAE is selected.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Error-handling contract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Define what callers or users should receive when something fails.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Invalid input handling.</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No-data behavior.</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Authorization failure.</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Technical exceptions.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Business validation messages.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Application logging</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Request logging when traceability is a real requirement.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whether BAL or another approved approach is expected.</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which events should be logged.</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Avoid logging sensitive HR content unnecessarily.</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Include correlation or run identifiers for integrations.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Separate user messages from technical details.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ABAP Unit expectations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Tests should be tied to business behavior.</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At least one successful scenario.</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No-data scenario.</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Invalid-input scenario.</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Authorization or dependency failure scenario.</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Boundary-date and multiple-record scenarios.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Code review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to review functional, performance and security risks.</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an experienced SAP HCM ABAP reviewer.</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Review the code below without changing the business requirement.</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[PASTE CODE]</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Check:</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Functional defects and date-validity logic</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SELECT in LOOP and nested-loop risks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FOR ALL ENTRIES safeguards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Internal-table type and READ TABLE usage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Authorization and sensitive-data handling</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Exceptions, messages and logging</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Release compatibility</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Provide findings, corrected code and tests showing the fix.</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Preserve intent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Review by category</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Include HR risks</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Return patch</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Prove with tests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Acceptance criteria examples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Success criteria should be observable.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Returns only records matching the stated validity rule.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Produces the requested ALV columns.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Handles no data without a dump.</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Uses syntax valid for the target release.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Lists assumptions and unverified objects.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5: Define done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A prompt asks for an RFC that returns employee data.</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Write five acceptance criteria.</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Example criteria: validates PERNR and dates; applies the defined authorization check; returns the specified structure; returns structured errors for invalid input and no data; passes supplied success and failure tests without an implicit COMMIT.</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5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production prompt defines both code and evidence.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Performance expectations guide design.</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Error behavior stabilizes consumers.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Logging improves supportability.</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Tests demonstrate rules.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Acceptance criteria make review objective.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06</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ALV REPORTING</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Build readable prompts for HR selection reports</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From selection screen to extraction logic and SALV output.</a:t>
            </a:r>
            <a:endParaRPr lang="en-US" sz="17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ALV report anatomy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Break the report request into separable responsibilities.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Selection screen.</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Authorization and input validation.</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Data retrieval.</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Business-rule processing.</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ALV display and no-data handling.</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ALV report master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complete request for a typical HR extract report.</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an SAP ABAP HR developer.</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Create executable report Z[NAME].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System: [ECC/S/4HANA], ABAP release: [x.x].</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Selection: S_PERNR, P_BEGDA, P_ENDDA.</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Data sources: [infotypes/tables].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Rules: [validity, exclusions, multiple records].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Authorization: [applicable design].</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Output columns: [list].</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Display: CL_SALV_TABLE.</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Avoid database access inside loops, handle no data, and separate selection, retrieval, processing and display. Provide complete code, activation steps, sample data and ABAP Unit tests for extraction logic.</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Clear layers</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Typed selection</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HR rules</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SALV output</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Testable extraction</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Selection-screen details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Small selection details can change report behavior.</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Use select-options for ranges and multiple values.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obligatory fields explicitly.</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Set sensible default dates only when required.</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Validate BEGDA is not after ENDDA.</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Describe hidden or technical parameters separately.</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Extraction layer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Separate data retrieval from presentation.</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Create a method or class for testable extraction.</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Return typed data.</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Keep the ALV layer free from database reads.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Apply database filters early.</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Document assumptions around joins and validity.</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ALV output contract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List columns and behavior instead of asking for “ALV output.”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Field order and headings.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Key columns and sorting.</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Totals or subtotals when required.</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Hotspot, layout or export behavior only if needed.</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No-data message and empty-output behavior.</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Worked example: employee extract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Example specification for IT0001 and IT0002.</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Object: ZHR_EMP_EXTRACT.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Inputs: S_PERNR, P_BEGDA, P_ENDDA.</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Sources: IT0001 and IT0002.</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Output: PERNR, name, org unit, position, validity.</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Tests: overlap, no data and multiple records.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Filled ALV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presentation example, then verify field mappings.</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Create executable report ZHR_EMP_EXTRACT in package ZHR.</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System: S/4HANA 2020, ABAP 7.55, SAP HANA.</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Read infotypes 0001 and 0002 for S_PERNR and P_BEGDA–P_ENDDA. Apply the agreed validity-overlap rule and applicable HR authorization. Return PERNR, name, organizational unit, position and validity dates.</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Use server-side filtering, avoid SELECT inside loops, display with CL_SALV_TABLE, include no-data handling, ABAP Unit tests, activation steps and assumptions. Do not invent field names; mark mappings that require verification.</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Concrete object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System stated</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Rules visible</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Quality requested</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Verification protected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6: ALV prompt gap analysis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The prompt lists IT0001 and IT0002 but no output fields.</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Identify the missing information and improve the prompt.</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Add the exact output columns, their source mappings where known, field order, sort requirements, validity behavior, and expected sample rows. If field names are uncertain, request that the assistant identify them as verification points rather than inventing them.</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ALV failure modes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Common prompt gaps become common implementation defects.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Missing boundary-date logic.</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One-record assumption.</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Database access in display loops.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Unspecified authorization behavior.</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Unverified field mappings.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Reviewing generated ALV code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a consistent technical review.</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Check selection validation.</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Trace each output field to its source.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Check date and authorization logic.</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Review database access and internal tables.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Run success, no-data and boundary tests.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6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good ALV prompt separates concerns.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Selection defines scope.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Extraction defines data access.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Rules define correctness.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Display defines user experience.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Tests protect the extraction logic.</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07</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INTEGRATION AND UPDATES</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Functions, RFCs, BAPIs and payload mapping</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Define contracts, transactions and secure error responses.</a:t>
            </a:r>
            <a:endParaRPr lang="en-US" sz="17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Function module contract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Describe interface semantics, not only parameter names.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Direction: IMPORTING, EXPORTING, CHANGING or TABLES as appropriate.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ABAP and DDIC types.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Mandatory and optional parameters.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Exception or return-message structure.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Transaction ownership.</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RFC read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for a remote-enabled HR read service.</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an SAP ABAP integration developer.</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Implement remote-enabled function module Z_[NAME].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Inputs: PERNR, BEGDA, ENDDA.</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Output table T_DATA: [fields/types].</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Validate input, apply the applicable HR authorization, return structured errors for invalid input, no data and authorization failure, and avoid exposing unnecessary sensitive fields.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System: [ECC/S/4HANA], ABAP release: [x.x].</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Provide source code, DDIC dependencies, RFC metadata notes, test program and sample result.</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Interface defined</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Validation included</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Authorization included</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Errors structured</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Testing requested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Update prompts need transaction rules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Never leave COMMIT and rollback behavior implicit.</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State whether the object owns the LUW.</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when COMMIT is permitted.</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rollback behavior after partial failure.</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idempotency expectations for integrations.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Require returned messages for every attempted update.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Integration wrapper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for JSON or XML to SAP HR mapping.</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Implement RFC wrapper Z_RFC_[NAME] that maps an external [JSON/XML] payload to approved SAP HR structures and calls [BAPI/standard API].</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Include: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Input schema and required-field validation</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Mapping rules and configurable mappings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Authorization and sensitive-data controls</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LUW, rollback and commit behavior</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Structured error response: code, type, message, field, correlation ID</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 Sample request, response and failure cases</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Do not invent APIs or infotype fields. Mark system-specific objects for verification.</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Payload contract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Mapping visible</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Transaction explicit</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Errors usable</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Objects verified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Payload examples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Examples reduce ambiguity in integration prompts.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Show representative successful input.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Include missing required field.</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Include invalid date format.</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Include unknown code mapping.</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Show expected structured error response.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Mapping-table prompts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Configuration-driven mappings need governance.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Name the mapping keys and result values.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validity dates if mappings change over time.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fallback behavior.</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Specify whether customizing or a custom table is expected.</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transport and maintenance considerations.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7: Add transaction handling</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A wrapper updates employee data but says nothing about COMMIT.</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Add the missing transaction contract.</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State whether the wrapper or caller owns the LUW, when COMMIT WORK may occur, how rollback is performed after any failed item, whether partial success is allowed, and which messages are returned for each record.</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Integration security checklist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HR integration prompts should minimize exposed data.</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Return only required fields.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Validate caller authorization.</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Avoid logging sensitive payloads.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Mask sample data.</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correlation without exposing personnel data.</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Testing an RFC wrapper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Test the interface and transaction behavior.</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Valid request.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Invalid input.</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Authorization failure.</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Mapping failure.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Downstream API failure and rollback.</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7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Integration prompts define contracts and ownership.</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Interface types prevent ambiguity.</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Validation protects data quality.</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Authorization protects HR data.</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Transaction rules prevent inconsistent updates.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Structured errors simplify support.</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08</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PERFORMANCE AND MODERNIZATION</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Optimize without changing business results</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Review SQL, internal tables and modern syntax carefully.</a:t>
            </a:r>
            <a:endParaRPr lang="en-US" sz="17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Performance review dimensions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Look beyond SELECT in LOOP.</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Database call count.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Rows and columns transferred.</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Filter selectivity.</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Internal-table access complexity.</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Repeated conversions and data copying.</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Nested SELECT vs. set-oriented retrieval</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Choose based on semantics and release support.</a:t>
            </a:r>
            <a:endParaRPr lang="en-US" sz="1150" dirty="0"/>
          </a:p>
        </p:txBody>
      </p:sp>
      <p:sp>
        <p:nvSpPr>
          <p:cNvPr id="4" name="Shape 2"/>
          <p:cNvSpPr/>
          <p:nvPr/>
        </p:nvSpPr>
        <p:spPr>
          <a:xfrm>
            <a:off x="658368" y="1280160"/>
            <a:ext cx="5349240" cy="4709160"/>
          </a:xfrm>
          <a:prstGeom prst="roundRect">
            <a:avLst>
              <a:gd name="adj" fmla="val 1553"/>
            </a:avLst>
          </a:prstGeom>
          <a:solidFill>
            <a:srgbClr val="FFF7F7"/>
          </a:solidFill>
          <a:ln w="12700">
            <a:solidFill>
              <a:srgbClr val="F1C7C7"/>
            </a:solidFill>
            <a:prstDash val="solid"/>
          </a:ln>
        </p:spPr>
      </p:sp>
      <p:sp>
        <p:nvSpPr>
          <p:cNvPr id="5" name="Shape 3"/>
          <p:cNvSpPr/>
          <p:nvPr/>
        </p:nvSpPr>
        <p:spPr>
          <a:xfrm>
            <a:off x="6190488" y="1280160"/>
            <a:ext cx="5349240" cy="4709160"/>
          </a:xfrm>
          <a:prstGeom prst="roundRect">
            <a:avLst>
              <a:gd name="adj" fmla="val 1553"/>
            </a:avLst>
          </a:prstGeom>
          <a:solidFill>
            <a:srgbClr val="F2FBFA"/>
          </a:solidFill>
          <a:ln w="12700">
            <a:solidFill>
              <a:srgbClr val="A7DDD6"/>
            </a:solidFill>
            <a:prstDash val="solid"/>
          </a:ln>
        </p:spPr>
      </p:sp>
      <p:sp>
        <p:nvSpPr>
          <p:cNvPr id="6" name="Shape 4"/>
          <p:cNvSpPr/>
          <p:nvPr/>
        </p:nvSpPr>
        <p:spPr>
          <a:xfrm>
            <a:off x="914400" y="1536192"/>
            <a:ext cx="1554480" cy="310896"/>
          </a:xfrm>
          <a:prstGeom prst="roundRect">
            <a:avLst>
              <a:gd name="adj" fmla="val 23529"/>
            </a:avLst>
          </a:prstGeom>
          <a:solidFill>
            <a:srgbClr val="D14343"/>
          </a:solidFill>
          <a:ln w="12700">
            <a:solidFill>
              <a:srgbClr val="D14343"/>
            </a:solidFill>
            <a:prstDash val="solid"/>
          </a:ln>
        </p:spPr>
      </p:sp>
      <p:sp>
        <p:nvSpPr>
          <p:cNvPr id="7" name="Text 5"/>
          <p:cNvSpPr/>
          <p:nvPr/>
        </p:nvSpPr>
        <p:spPr>
          <a:xfrm>
            <a:off x="969264" y="1604772"/>
            <a:ext cx="1444752" cy="164592"/>
          </a:xfrm>
          <a:prstGeom prst="rect">
            <a:avLst/>
          </a:prstGeom>
          <a:noFill/>
          <a:ln/>
        </p:spPr>
        <p:txBody>
          <a:bodyPr wrap="square" lIns="0" tIns="0" rIns="0" bIns="0" rtlCol="0" anchor="ctr"/>
          <a:lstStyle/>
          <a:p>
            <a:pPr marL="0" indent="0" algn="ctr">
              <a:buNone/>
            </a:pPr>
            <a:r>
              <a:rPr lang="en-US" sz="900" b="1" dirty="0">
                <a:solidFill>
                  <a:srgbClr val="FFFFFF"/>
                </a:solidFill>
              </a:rPr>
              <a:t>Risk pattern</a:t>
            </a:r>
            <a:endParaRPr lang="en-US" sz="900" dirty="0"/>
          </a:p>
        </p:txBody>
      </p:sp>
      <p:sp>
        <p:nvSpPr>
          <p:cNvPr id="8" name="Shape 6"/>
          <p:cNvSpPr/>
          <p:nvPr/>
        </p:nvSpPr>
        <p:spPr>
          <a:xfrm>
            <a:off x="6446520" y="1536192"/>
            <a:ext cx="1737360" cy="310896"/>
          </a:xfrm>
          <a:prstGeom prst="roundRect">
            <a:avLst>
              <a:gd name="adj" fmla="val 23529"/>
            </a:avLst>
          </a:prstGeom>
          <a:solidFill>
            <a:srgbClr val="15B8A6"/>
          </a:solidFill>
          <a:ln w="12700">
            <a:solidFill>
              <a:srgbClr val="15B8A6"/>
            </a:solidFill>
            <a:prstDash val="solid"/>
          </a:ln>
        </p:spPr>
      </p:sp>
      <p:sp>
        <p:nvSpPr>
          <p:cNvPr id="9" name="Text 7"/>
          <p:cNvSpPr/>
          <p:nvPr/>
        </p:nvSpPr>
        <p:spPr>
          <a:xfrm>
            <a:off x="6501384" y="1604772"/>
            <a:ext cx="1627632" cy="164592"/>
          </a:xfrm>
          <a:prstGeom prst="rect">
            <a:avLst/>
          </a:prstGeom>
          <a:noFill/>
          <a:ln/>
        </p:spPr>
        <p:txBody>
          <a:bodyPr wrap="square" lIns="0" tIns="0" rIns="0" bIns="0" rtlCol="0" anchor="ctr"/>
          <a:lstStyle/>
          <a:p>
            <a:pPr marL="0" indent="0" algn="ctr">
              <a:buNone/>
            </a:pPr>
            <a:r>
              <a:rPr lang="en-US" sz="900" b="1" dirty="0">
                <a:solidFill>
                  <a:srgbClr val="FFFFFF"/>
                </a:solidFill>
              </a:rPr>
              <a:t>Improved pattern</a:t>
            </a:r>
            <a:endParaRPr lang="en-US" sz="900" dirty="0"/>
          </a:p>
        </p:txBody>
      </p:sp>
      <p:sp>
        <p:nvSpPr>
          <p:cNvPr id="10" name="Shape 8"/>
          <p:cNvSpPr/>
          <p:nvPr/>
        </p:nvSpPr>
        <p:spPr>
          <a:xfrm>
            <a:off x="960120" y="2221992"/>
            <a:ext cx="201168" cy="201168"/>
          </a:xfrm>
          <a:prstGeom prst="ellipse">
            <a:avLst/>
          </a:prstGeom>
          <a:solidFill>
            <a:srgbClr val="15B8A6"/>
          </a:solidFill>
          <a:ln w="12700">
            <a:solidFill>
              <a:srgbClr val="15B8A6"/>
            </a:solidFill>
            <a:prstDash val="solid"/>
          </a:ln>
        </p:spPr>
      </p:sp>
      <p:sp>
        <p:nvSpPr>
          <p:cNvPr id="11" name="Text 9"/>
          <p:cNvSpPr/>
          <p:nvPr/>
        </p:nvSpPr>
        <p:spPr>
          <a:xfrm>
            <a:off x="130759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Database call per employee</a:t>
            </a:r>
            <a:endParaRPr lang="en-US" sz="1400" dirty="0"/>
          </a:p>
        </p:txBody>
      </p:sp>
      <p:sp>
        <p:nvSpPr>
          <p:cNvPr id="12" name="Shape 10"/>
          <p:cNvSpPr/>
          <p:nvPr/>
        </p:nvSpPr>
        <p:spPr>
          <a:xfrm>
            <a:off x="960120" y="2816352"/>
            <a:ext cx="201168" cy="201168"/>
          </a:xfrm>
          <a:prstGeom prst="ellipse">
            <a:avLst/>
          </a:prstGeom>
          <a:solidFill>
            <a:srgbClr val="15B8A6"/>
          </a:solidFill>
          <a:ln w="12700">
            <a:solidFill>
              <a:srgbClr val="15B8A6"/>
            </a:solidFill>
            <a:prstDash val="solid"/>
          </a:ln>
        </p:spPr>
      </p:sp>
      <p:sp>
        <p:nvSpPr>
          <p:cNvPr id="13" name="Text 11"/>
          <p:cNvSpPr/>
          <p:nvPr/>
        </p:nvSpPr>
        <p:spPr>
          <a:xfrm>
            <a:off x="130759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Filters applied late</a:t>
            </a:r>
            <a:endParaRPr lang="en-US" sz="1400" dirty="0"/>
          </a:p>
        </p:txBody>
      </p:sp>
      <p:sp>
        <p:nvSpPr>
          <p:cNvPr id="14" name="Shape 12"/>
          <p:cNvSpPr/>
          <p:nvPr/>
        </p:nvSpPr>
        <p:spPr>
          <a:xfrm>
            <a:off x="960120" y="3410712"/>
            <a:ext cx="201168" cy="201168"/>
          </a:xfrm>
          <a:prstGeom prst="ellipse">
            <a:avLst/>
          </a:prstGeom>
          <a:solidFill>
            <a:srgbClr val="15B8A6"/>
          </a:solidFill>
          <a:ln w="12700">
            <a:solidFill>
              <a:srgbClr val="15B8A6"/>
            </a:solidFill>
            <a:prstDash val="solid"/>
          </a:ln>
        </p:spPr>
      </p:sp>
      <p:sp>
        <p:nvSpPr>
          <p:cNvPr id="15" name="Text 13"/>
          <p:cNvSpPr/>
          <p:nvPr/>
        </p:nvSpPr>
        <p:spPr>
          <a:xfrm>
            <a:off x="130759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Repeated table scans</a:t>
            </a:r>
            <a:endParaRPr lang="en-US" sz="1400" dirty="0"/>
          </a:p>
        </p:txBody>
      </p:sp>
      <p:sp>
        <p:nvSpPr>
          <p:cNvPr id="16" name="Shape 14"/>
          <p:cNvSpPr/>
          <p:nvPr/>
        </p:nvSpPr>
        <p:spPr>
          <a:xfrm>
            <a:off x="960120" y="4005072"/>
            <a:ext cx="201168" cy="201168"/>
          </a:xfrm>
          <a:prstGeom prst="ellipse">
            <a:avLst/>
          </a:prstGeom>
          <a:solidFill>
            <a:srgbClr val="15B8A6"/>
          </a:solidFill>
          <a:ln w="12700">
            <a:solidFill>
              <a:srgbClr val="15B8A6"/>
            </a:solidFill>
            <a:prstDash val="solid"/>
          </a:ln>
        </p:spPr>
      </p:sp>
      <p:sp>
        <p:nvSpPr>
          <p:cNvPr id="17" name="Text 15"/>
          <p:cNvSpPr/>
          <p:nvPr/>
        </p:nvSpPr>
        <p:spPr>
          <a:xfrm>
            <a:off x="130759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Hard to test volume</a:t>
            </a:r>
            <a:endParaRPr lang="en-US" sz="1400" dirty="0"/>
          </a:p>
        </p:txBody>
      </p:sp>
      <p:sp>
        <p:nvSpPr>
          <p:cNvPr id="18" name="Shape 16"/>
          <p:cNvSpPr/>
          <p:nvPr/>
        </p:nvSpPr>
        <p:spPr>
          <a:xfrm>
            <a:off x="960120" y="4599432"/>
            <a:ext cx="201168" cy="201168"/>
          </a:xfrm>
          <a:prstGeom prst="ellipse">
            <a:avLst/>
          </a:prstGeom>
          <a:solidFill>
            <a:srgbClr val="15B8A6"/>
          </a:solidFill>
          <a:ln w="12700">
            <a:solidFill>
              <a:srgbClr val="15B8A6"/>
            </a:solidFill>
            <a:prstDash val="solid"/>
          </a:ln>
        </p:spPr>
      </p:sp>
      <p:sp>
        <p:nvSpPr>
          <p:cNvPr id="19" name="Text 17"/>
          <p:cNvSpPr/>
          <p:nvPr/>
        </p:nvSpPr>
        <p:spPr>
          <a:xfrm>
            <a:off x="130759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Slow with large selections</a:t>
            </a:r>
            <a:endParaRPr lang="en-US" sz="1400" dirty="0"/>
          </a:p>
        </p:txBody>
      </p:sp>
      <p:sp>
        <p:nvSpPr>
          <p:cNvPr id="20" name="Shape 18"/>
          <p:cNvSpPr/>
          <p:nvPr/>
        </p:nvSpPr>
        <p:spPr>
          <a:xfrm>
            <a:off x="6492240" y="2221992"/>
            <a:ext cx="201168" cy="201168"/>
          </a:xfrm>
          <a:prstGeom prst="ellipse">
            <a:avLst/>
          </a:prstGeom>
          <a:solidFill>
            <a:srgbClr val="15B8A6"/>
          </a:solidFill>
          <a:ln w="12700">
            <a:solidFill>
              <a:srgbClr val="15B8A6"/>
            </a:solidFill>
            <a:prstDash val="solid"/>
          </a:ln>
        </p:spPr>
      </p:sp>
      <p:sp>
        <p:nvSpPr>
          <p:cNvPr id="21" name="Text 19"/>
          <p:cNvSpPr/>
          <p:nvPr/>
        </p:nvSpPr>
        <p:spPr>
          <a:xfrm>
            <a:off x="6839712" y="214884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Collect keys once</a:t>
            </a:r>
            <a:endParaRPr lang="en-US" sz="1400" dirty="0"/>
          </a:p>
        </p:txBody>
      </p:sp>
      <p:sp>
        <p:nvSpPr>
          <p:cNvPr id="22" name="Shape 20"/>
          <p:cNvSpPr/>
          <p:nvPr/>
        </p:nvSpPr>
        <p:spPr>
          <a:xfrm>
            <a:off x="6492240" y="2816352"/>
            <a:ext cx="201168" cy="201168"/>
          </a:xfrm>
          <a:prstGeom prst="ellipse">
            <a:avLst/>
          </a:prstGeom>
          <a:solidFill>
            <a:srgbClr val="15B8A6"/>
          </a:solidFill>
          <a:ln w="12700">
            <a:solidFill>
              <a:srgbClr val="15B8A6"/>
            </a:solidFill>
            <a:prstDash val="solid"/>
          </a:ln>
        </p:spPr>
      </p:sp>
      <p:sp>
        <p:nvSpPr>
          <p:cNvPr id="23" name="Text 21"/>
          <p:cNvSpPr/>
          <p:nvPr/>
        </p:nvSpPr>
        <p:spPr>
          <a:xfrm>
            <a:off x="6839712" y="274320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Apply filters early</a:t>
            </a:r>
            <a:endParaRPr lang="en-US" sz="1400" dirty="0"/>
          </a:p>
        </p:txBody>
      </p:sp>
      <p:sp>
        <p:nvSpPr>
          <p:cNvPr id="24" name="Shape 22"/>
          <p:cNvSpPr/>
          <p:nvPr/>
        </p:nvSpPr>
        <p:spPr>
          <a:xfrm>
            <a:off x="6492240" y="3410712"/>
            <a:ext cx="201168" cy="201168"/>
          </a:xfrm>
          <a:prstGeom prst="ellipse">
            <a:avLst/>
          </a:prstGeom>
          <a:solidFill>
            <a:srgbClr val="15B8A6"/>
          </a:solidFill>
          <a:ln w="12700">
            <a:solidFill>
              <a:srgbClr val="15B8A6"/>
            </a:solidFill>
            <a:prstDash val="solid"/>
          </a:ln>
        </p:spPr>
      </p:sp>
      <p:sp>
        <p:nvSpPr>
          <p:cNvPr id="25" name="Text 23"/>
          <p:cNvSpPr/>
          <p:nvPr/>
        </p:nvSpPr>
        <p:spPr>
          <a:xfrm>
            <a:off x="6839712" y="333756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Use suitable join or staged read</a:t>
            </a:r>
            <a:endParaRPr lang="en-US" sz="1400" dirty="0"/>
          </a:p>
        </p:txBody>
      </p:sp>
      <p:sp>
        <p:nvSpPr>
          <p:cNvPr id="26" name="Shape 24"/>
          <p:cNvSpPr/>
          <p:nvPr/>
        </p:nvSpPr>
        <p:spPr>
          <a:xfrm>
            <a:off x="6492240" y="4005072"/>
            <a:ext cx="201168" cy="201168"/>
          </a:xfrm>
          <a:prstGeom prst="ellipse">
            <a:avLst/>
          </a:prstGeom>
          <a:solidFill>
            <a:srgbClr val="15B8A6"/>
          </a:solidFill>
          <a:ln w="12700">
            <a:solidFill>
              <a:srgbClr val="15B8A6"/>
            </a:solidFill>
            <a:prstDash val="solid"/>
          </a:ln>
        </p:spPr>
      </p:sp>
      <p:sp>
        <p:nvSpPr>
          <p:cNvPr id="27" name="Text 25"/>
          <p:cNvSpPr/>
          <p:nvPr/>
        </p:nvSpPr>
        <p:spPr>
          <a:xfrm>
            <a:off x="6839712" y="393192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Choose table keys deliberately</a:t>
            </a:r>
            <a:endParaRPr lang="en-US" sz="1400" dirty="0"/>
          </a:p>
        </p:txBody>
      </p:sp>
      <p:sp>
        <p:nvSpPr>
          <p:cNvPr id="28" name="Shape 26"/>
          <p:cNvSpPr/>
          <p:nvPr/>
        </p:nvSpPr>
        <p:spPr>
          <a:xfrm>
            <a:off x="6492240" y="4599432"/>
            <a:ext cx="201168" cy="201168"/>
          </a:xfrm>
          <a:prstGeom prst="ellipse">
            <a:avLst/>
          </a:prstGeom>
          <a:solidFill>
            <a:srgbClr val="15B8A6"/>
          </a:solidFill>
          <a:ln w="12700">
            <a:solidFill>
              <a:srgbClr val="15B8A6"/>
            </a:solidFill>
            <a:prstDash val="solid"/>
          </a:ln>
        </p:spPr>
      </p:sp>
      <p:sp>
        <p:nvSpPr>
          <p:cNvPr id="29" name="Text 27"/>
          <p:cNvSpPr/>
          <p:nvPr/>
        </p:nvSpPr>
        <p:spPr>
          <a:xfrm>
            <a:off x="6839712" y="4526280"/>
            <a:ext cx="4270248" cy="365760"/>
          </a:xfrm>
          <a:prstGeom prst="rect">
            <a:avLst/>
          </a:prstGeom>
          <a:noFill/>
          <a:ln/>
        </p:spPr>
        <p:txBody>
          <a:bodyPr wrap="square" lIns="0" tIns="0" rIns="0" bIns="0" rtlCol="0" anchor="ctr">
            <a:normAutofit/>
          </a:bodyPr>
          <a:lstStyle/>
          <a:p>
            <a:pPr marL="0" indent="0">
              <a:buNone/>
            </a:pPr>
            <a:r>
              <a:rPr lang="en-US" sz="1400" dirty="0">
                <a:solidFill>
                  <a:srgbClr val="172033"/>
                </a:solidFill>
              </a:rPr>
              <a:t>Compare output for functional parity</a:t>
            </a:r>
            <a:endParaRPr lang="en-US" sz="1400" dirty="0"/>
          </a:p>
        </p:txBody>
      </p:sp>
      <p:sp>
        <p:nvSpPr>
          <p:cNvPr id="30"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Performance optimization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Request analysis before rewritten code.</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an SAP ABAP performance specialist.</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Analyze the following SAP HCM code: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[PASTE CODE]</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Check database calls, SELECT in LOOP, nested loops, FOR ALL ENTRIES safeguards, filter placement, selected columns, internal-table types, SORT/BINARY SEARCH assumptions and unnecessary copying.</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Preserve the functional result and target ABAP release [x.x]. For each change explain: Current logic → Problem → Improved logic → Reason. Provide corrected code and a reproducible test approach.</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Analysis first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Release aware</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Behavior preserved</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Trade-offs explained</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Test approach</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Internal table choices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Ask the assistant to justify table types.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STANDARD TABLE for sequential processing.</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SORTED TABLE for ordered keys and range-like access.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HASHED TABLE for exact key access.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Secondary keys when repeated access patterns justify them.</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Do not request a type without describing access patterns.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BINARY SEARCH safeguards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Binary search requires a matching sort order.</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Sort by the full search key.</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Keep sort order aligned with READ TABLE key order.</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Avoid resorting that invalidates assumptions.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Prefer keyed table types when appropriate.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Test duplicates and missing keys.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Legacy-to-modern syntax template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Modernize selectively, not mechanically.</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Convert the following classic ABAP code to syntax supported by ABAP release [x.x].</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[PASTE CODE]</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Consider inline declarations, table expressions and constructor expressions only where they improve readability. Preserve business behavior and performance. Do not compress complex payroll or validity logic into unreadable expressions. Provide the revised code and explain each meaningful conversion.</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Release target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Readability priority</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No mechanical rewrite</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Behavior preserved</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Changes explained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CDS suitability questions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Do not automatically convert every report to CDS.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7C3AED"/>
          </a:solidFill>
          <a:ln w="12700">
            <a:solidFill>
              <a:srgbClr val="7C3AE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Is the logic set-oriented?</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Can validity rules be expressed clearly?</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What authorization model is needed?</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What consumer will use the view?</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Are annotations required for that consumer?</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8: Optimize safely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A prompt says “Make this code HANA optimized.”</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Rewrite it to protect behavior and request evidence.</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Analyze the supplied code for database calls, filters, joins and internal tables. Preserve the exact output for the supplied test data and date rules. Target the stated S/4HANA and ABAP release. Explain each optimization, its trade-off, and how output and runtime should be compared.</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Modernization failure modes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shorter implementation is not automatically better.</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Hidden semantic changes.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Unsupported syntax.</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Loss of error handling.</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Unreadable constructor expressions.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Optimization without measurements or tests.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8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Optimization is a controlled change.</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the target release.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Preserve business semantics.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Analyze database and memory behavior.</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Explain trade-offs.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Validate with representative tests.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09</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DEBUGGING AND TRACING</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Find where SAP HR values are populated</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Trace report logic, structures, source data and configuration.</a:t>
            </a:r>
            <a:endParaRPr lang="en-US" sz="17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Field-tracing workflow</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repeatable path for DSN, AFI/FIE, IRPF and payroll outputs.</a:t>
            </a:r>
            <a:endParaRPr lang="en-US" sz="1150" dirty="0"/>
          </a:p>
        </p:txBody>
      </p:sp>
      <p:sp>
        <p:nvSpPr>
          <p:cNvPr id="4" name="Shape 2"/>
          <p:cNvSpPr/>
          <p:nvPr/>
        </p:nvSpPr>
        <p:spPr>
          <a:xfrm>
            <a:off x="438912" y="1965960"/>
            <a:ext cx="1783080" cy="1691640"/>
          </a:xfrm>
          <a:prstGeom prst="roundRect">
            <a:avLst>
              <a:gd name="adj" fmla="val 4324"/>
            </a:avLst>
          </a:prstGeom>
          <a:solidFill>
            <a:srgbClr val="EDF5FB"/>
          </a:solidFill>
          <a:ln w="12700">
            <a:solidFill>
              <a:srgbClr val="D9E1EA"/>
            </a:solidFill>
            <a:prstDash val="solid"/>
          </a:ln>
        </p:spPr>
      </p:sp>
      <p:sp>
        <p:nvSpPr>
          <p:cNvPr id="5" name="Shape 3"/>
          <p:cNvSpPr/>
          <p:nvPr/>
        </p:nvSpPr>
        <p:spPr>
          <a:xfrm>
            <a:off x="594360" y="2185416"/>
            <a:ext cx="438912" cy="438912"/>
          </a:xfrm>
          <a:prstGeom prst="ellipse">
            <a:avLst/>
          </a:prstGeom>
          <a:solidFill>
            <a:srgbClr val="15B8A6"/>
          </a:solidFill>
          <a:ln w="12700">
            <a:solidFill>
              <a:srgbClr val="15B8A6"/>
            </a:solidFill>
            <a:prstDash val="solid"/>
          </a:ln>
        </p:spPr>
      </p:sp>
      <p:sp>
        <p:nvSpPr>
          <p:cNvPr id="6" name="Text 4"/>
          <p:cNvSpPr/>
          <p:nvPr/>
        </p:nvSpPr>
        <p:spPr>
          <a:xfrm>
            <a:off x="5943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 name="Text 5"/>
          <p:cNvSpPr/>
          <p:nvPr/>
        </p:nvSpPr>
        <p:spPr>
          <a:xfrm>
            <a:off x="5760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Entry report</a:t>
            </a:r>
            <a:endParaRPr lang="en-US" sz="1320" dirty="0"/>
          </a:p>
        </p:txBody>
      </p:sp>
      <p:sp>
        <p:nvSpPr>
          <p:cNvPr id="8" name="Shape 6"/>
          <p:cNvSpPr/>
          <p:nvPr/>
        </p:nvSpPr>
        <p:spPr>
          <a:xfrm>
            <a:off x="2194560" y="2487168"/>
            <a:ext cx="256032" cy="548640"/>
          </a:xfrm>
          <a:prstGeom prst="chevron">
            <a:avLst/>
          </a:prstGeom>
          <a:solidFill>
            <a:srgbClr val="0B5CAD"/>
          </a:solidFill>
          <a:ln w="12700">
            <a:solidFill>
              <a:srgbClr val="0B5CAD"/>
            </a:solidFill>
            <a:prstDash val="solid"/>
          </a:ln>
        </p:spPr>
      </p:sp>
      <p:sp>
        <p:nvSpPr>
          <p:cNvPr id="9" name="Shape 7"/>
          <p:cNvSpPr/>
          <p:nvPr/>
        </p:nvSpPr>
        <p:spPr>
          <a:xfrm>
            <a:off x="2305812" y="1965960"/>
            <a:ext cx="1783080" cy="1691640"/>
          </a:xfrm>
          <a:prstGeom prst="roundRect">
            <a:avLst>
              <a:gd name="adj" fmla="val 4324"/>
            </a:avLst>
          </a:prstGeom>
          <a:solidFill>
            <a:srgbClr val="F0FAF8"/>
          </a:solidFill>
          <a:ln w="12700">
            <a:solidFill>
              <a:srgbClr val="D9E1EA"/>
            </a:solidFill>
            <a:prstDash val="solid"/>
          </a:ln>
        </p:spPr>
      </p:sp>
      <p:sp>
        <p:nvSpPr>
          <p:cNvPr id="10" name="Shape 8"/>
          <p:cNvSpPr/>
          <p:nvPr/>
        </p:nvSpPr>
        <p:spPr>
          <a:xfrm>
            <a:off x="2461260" y="2185416"/>
            <a:ext cx="438912" cy="438912"/>
          </a:xfrm>
          <a:prstGeom prst="ellipse">
            <a:avLst/>
          </a:prstGeom>
          <a:solidFill>
            <a:srgbClr val="15B8A6"/>
          </a:solidFill>
          <a:ln w="12700">
            <a:solidFill>
              <a:srgbClr val="15B8A6"/>
            </a:solidFill>
            <a:prstDash val="solid"/>
          </a:ln>
        </p:spPr>
      </p:sp>
      <p:sp>
        <p:nvSpPr>
          <p:cNvPr id="11" name="Text 9"/>
          <p:cNvSpPr/>
          <p:nvPr/>
        </p:nvSpPr>
        <p:spPr>
          <a:xfrm>
            <a:off x="24612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2" name="Text 10"/>
          <p:cNvSpPr/>
          <p:nvPr/>
        </p:nvSpPr>
        <p:spPr>
          <a:xfrm>
            <a:off x="24429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FORM / method</a:t>
            </a:r>
            <a:endParaRPr lang="en-US" sz="1320" dirty="0"/>
          </a:p>
        </p:txBody>
      </p:sp>
      <p:sp>
        <p:nvSpPr>
          <p:cNvPr id="13" name="Shape 11"/>
          <p:cNvSpPr/>
          <p:nvPr/>
        </p:nvSpPr>
        <p:spPr>
          <a:xfrm>
            <a:off x="4061460" y="2487168"/>
            <a:ext cx="256032" cy="548640"/>
          </a:xfrm>
          <a:prstGeom prst="chevron">
            <a:avLst/>
          </a:prstGeom>
          <a:solidFill>
            <a:srgbClr val="0B5CAD"/>
          </a:solidFill>
          <a:ln w="12700">
            <a:solidFill>
              <a:srgbClr val="0B5CAD"/>
            </a:solidFill>
            <a:prstDash val="solid"/>
          </a:ln>
        </p:spPr>
      </p:sp>
      <p:sp>
        <p:nvSpPr>
          <p:cNvPr id="14" name="Shape 12"/>
          <p:cNvSpPr/>
          <p:nvPr/>
        </p:nvSpPr>
        <p:spPr>
          <a:xfrm>
            <a:off x="4172712" y="1965960"/>
            <a:ext cx="1783080" cy="1691640"/>
          </a:xfrm>
          <a:prstGeom prst="roundRect">
            <a:avLst>
              <a:gd name="adj" fmla="val 4324"/>
            </a:avLst>
          </a:prstGeom>
          <a:solidFill>
            <a:srgbClr val="EDF5FB"/>
          </a:solidFill>
          <a:ln w="12700">
            <a:solidFill>
              <a:srgbClr val="D9E1EA"/>
            </a:solidFill>
            <a:prstDash val="solid"/>
          </a:ln>
        </p:spPr>
      </p:sp>
      <p:sp>
        <p:nvSpPr>
          <p:cNvPr id="15" name="Shape 13"/>
          <p:cNvSpPr/>
          <p:nvPr/>
        </p:nvSpPr>
        <p:spPr>
          <a:xfrm>
            <a:off x="4328160" y="2185416"/>
            <a:ext cx="438912" cy="438912"/>
          </a:xfrm>
          <a:prstGeom prst="ellipse">
            <a:avLst/>
          </a:prstGeom>
          <a:solidFill>
            <a:srgbClr val="15B8A6"/>
          </a:solidFill>
          <a:ln w="12700">
            <a:solidFill>
              <a:srgbClr val="15B8A6"/>
            </a:solidFill>
            <a:prstDash val="solid"/>
          </a:ln>
        </p:spPr>
      </p:sp>
      <p:sp>
        <p:nvSpPr>
          <p:cNvPr id="16" name="Text 14"/>
          <p:cNvSpPr/>
          <p:nvPr/>
        </p:nvSpPr>
        <p:spPr>
          <a:xfrm>
            <a:off x="43281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7" name="Text 15"/>
          <p:cNvSpPr/>
          <p:nvPr/>
        </p:nvSpPr>
        <p:spPr>
          <a:xfrm>
            <a:off x="43098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Intermediate structure</a:t>
            </a:r>
            <a:endParaRPr lang="en-US" sz="1320" dirty="0"/>
          </a:p>
        </p:txBody>
      </p:sp>
      <p:sp>
        <p:nvSpPr>
          <p:cNvPr id="18" name="Shape 16"/>
          <p:cNvSpPr/>
          <p:nvPr/>
        </p:nvSpPr>
        <p:spPr>
          <a:xfrm>
            <a:off x="5928360" y="2487168"/>
            <a:ext cx="256032" cy="548640"/>
          </a:xfrm>
          <a:prstGeom prst="chevron">
            <a:avLst/>
          </a:prstGeom>
          <a:solidFill>
            <a:srgbClr val="0B5CAD"/>
          </a:solidFill>
          <a:ln w="12700">
            <a:solidFill>
              <a:srgbClr val="0B5CAD"/>
            </a:solidFill>
            <a:prstDash val="solid"/>
          </a:ln>
        </p:spPr>
      </p:sp>
      <p:sp>
        <p:nvSpPr>
          <p:cNvPr id="19" name="Shape 17"/>
          <p:cNvSpPr/>
          <p:nvPr/>
        </p:nvSpPr>
        <p:spPr>
          <a:xfrm>
            <a:off x="6039612" y="1965960"/>
            <a:ext cx="1783080" cy="1691640"/>
          </a:xfrm>
          <a:prstGeom prst="roundRect">
            <a:avLst>
              <a:gd name="adj" fmla="val 4324"/>
            </a:avLst>
          </a:prstGeom>
          <a:solidFill>
            <a:srgbClr val="F0FAF8"/>
          </a:solidFill>
          <a:ln w="12700">
            <a:solidFill>
              <a:srgbClr val="D9E1EA"/>
            </a:solidFill>
            <a:prstDash val="solid"/>
          </a:ln>
        </p:spPr>
      </p:sp>
      <p:sp>
        <p:nvSpPr>
          <p:cNvPr id="20" name="Shape 18"/>
          <p:cNvSpPr/>
          <p:nvPr/>
        </p:nvSpPr>
        <p:spPr>
          <a:xfrm>
            <a:off x="6195060" y="2185416"/>
            <a:ext cx="438912" cy="438912"/>
          </a:xfrm>
          <a:prstGeom prst="ellipse">
            <a:avLst/>
          </a:prstGeom>
          <a:solidFill>
            <a:srgbClr val="15B8A6"/>
          </a:solidFill>
          <a:ln w="12700">
            <a:solidFill>
              <a:srgbClr val="15B8A6"/>
            </a:solidFill>
            <a:prstDash val="solid"/>
          </a:ln>
        </p:spPr>
      </p:sp>
      <p:sp>
        <p:nvSpPr>
          <p:cNvPr id="21" name="Text 19"/>
          <p:cNvSpPr/>
          <p:nvPr/>
        </p:nvSpPr>
        <p:spPr>
          <a:xfrm>
            <a:off x="61950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2" name="Text 20"/>
          <p:cNvSpPr/>
          <p:nvPr/>
        </p:nvSpPr>
        <p:spPr>
          <a:xfrm>
            <a:off x="61767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Infotype / payroll result</a:t>
            </a:r>
            <a:endParaRPr lang="en-US" sz="1320" dirty="0"/>
          </a:p>
        </p:txBody>
      </p:sp>
      <p:sp>
        <p:nvSpPr>
          <p:cNvPr id="23" name="Shape 21"/>
          <p:cNvSpPr/>
          <p:nvPr/>
        </p:nvSpPr>
        <p:spPr>
          <a:xfrm>
            <a:off x="7795260" y="2487168"/>
            <a:ext cx="256032" cy="548640"/>
          </a:xfrm>
          <a:prstGeom prst="chevron">
            <a:avLst/>
          </a:prstGeom>
          <a:solidFill>
            <a:srgbClr val="0B5CAD"/>
          </a:solidFill>
          <a:ln w="12700">
            <a:solidFill>
              <a:srgbClr val="0B5CAD"/>
            </a:solidFill>
            <a:prstDash val="solid"/>
          </a:ln>
        </p:spPr>
      </p:sp>
      <p:sp>
        <p:nvSpPr>
          <p:cNvPr id="24" name="Shape 22"/>
          <p:cNvSpPr/>
          <p:nvPr/>
        </p:nvSpPr>
        <p:spPr>
          <a:xfrm>
            <a:off x="7906512" y="1965960"/>
            <a:ext cx="1783080" cy="1691640"/>
          </a:xfrm>
          <a:prstGeom prst="roundRect">
            <a:avLst>
              <a:gd name="adj" fmla="val 4324"/>
            </a:avLst>
          </a:prstGeom>
          <a:solidFill>
            <a:srgbClr val="EDF5FB"/>
          </a:solidFill>
          <a:ln w="12700">
            <a:solidFill>
              <a:srgbClr val="D9E1EA"/>
            </a:solidFill>
            <a:prstDash val="solid"/>
          </a:ln>
        </p:spPr>
      </p:sp>
      <p:sp>
        <p:nvSpPr>
          <p:cNvPr id="25" name="Shape 23"/>
          <p:cNvSpPr/>
          <p:nvPr/>
        </p:nvSpPr>
        <p:spPr>
          <a:xfrm>
            <a:off x="8061960" y="2185416"/>
            <a:ext cx="438912" cy="438912"/>
          </a:xfrm>
          <a:prstGeom prst="ellipse">
            <a:avLst/>
          </a:prstGeom>
          <a:solidFill>
            <a:srgbClr val="15B8A6"/>
          </a:solidFill>
          <a:ln w="12700">
            <a:solidFill>
              <a:srgbClr val="15B8A6"/>
            </a:solidFill>
            <a:prstDash val="solid"/>
          </a:ln>
        </p:spPr>
      </p:sp>
      <p:sp>
        <p:nvSpPr>
          <p:cNvPr id="26" name="Text 24"/>
          <p:cNvSpPr/>
          <p:nvPr/>
        </p:nvSpPr>
        <p:spPr>
          <a:xfrm>
            <a:off x="80619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7" name="Text 25"/>
          <p:cNvSpPr/>
          <p:nvPr/>
        </p:nvSpPr>
        <p:spPr>
          <a:xfrm>
            <a:off x="80436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Configuration</a:t>
            </a:r>
            <a:endParaRPr lang="en-US" sz="1320" dirty="0"/>
          </a:p>
        </p:txBody>
      </p:sp>
      <p:sp>
        <p:nvSpPr>
          <p:cNvPr id="28" name="Shape 26"/>
          <p:cNvSpPr/>
          <p:nvPr/>
        </p:nvSpPr>
        <p:spPr>
          <a:xfrm>
            <a:off x="9662160" y="2487168"/>
            <a:ext cx="256032" cy="548640"/>
          </a:xfrm>
          <a:prstGeom prst="chevron">
            <a:avLst/>
          </a:prstGeom>
          <a:solidFill>
            <a:srgbClr val="0B5CAD"/>
          </a:solidFill>
          <a:ln w="12700">
            <a:solidFill>
              <a:srgbClr val="0B5CAD"/>
            </a:solidFill>
            <a:prstDash val="solid"/>
          </a:ln>
        </p:spPr>
      </p:sp>
      <p:sp>
        <p:nvSpPr>
          <p:cNvPr id="29" name="Shape 27"/>
          <p:cNvSpPr/>
          <p:nvPr/>
        </p:nvSpPr>
        <p:spPr>
          <a:xfrm>
            <a:off x="9773412" y="1965960"/>
            <a:ext cx="1783080" cy="1691640"/>
          </a:xfrm>
          <a:prstGeom prst="roundRect">
            <a:avLst>
              <a:gd name="adj" fmla="val 4324"/>
            </a:avLst>
          </a:prstGeom>
          <a:solidFill>
            <a:srgbClr val="F0FAF8"/>
          </a:solidFill>
          <a:ln w="12700">
            <a:solidFill>
              <a:srgbClr val="D9E1EA"/>
            </a:solidFill>
            <a:prstDash val="solid"/>
          </a:ln>
        </p:spPr>
      </p:sp>
      <p:sp>
        <p:nvSpPr>
          <p:cNvPr id="30" name="Shape 28"/>
          <p:cNvSpPr/>
          <p:nvPr/>
        </p:nvSpPr>
        <p:spPr>
          <a:xfrm>
            <a:off x="9928860" y="2185416"/>
            <a:ext cx="438912" cy="438912"/>
          </a:xfrm>
          <a:prstGeom prst="ellipse">
            <a:avLst/>
          </a:prstGeom>
          <a:solidFill>
            <a:srgbClr val="F59E0B"/>
          </a:solidFill>
          <a:ln w="12700">
            <a:solidFill>
              <a:srgbClr val="F59E0B"/>
            </a:solidFill>
            <a:prstDash val="solid"/>
          </a:ln>
        </p:spPr>
      </p:sp>
      <p:sp>
        <p:nvSpPr>
          <p:cNvPr id="31" name="Text 29"/>
          <p:cNvSpPr/>
          <p:nvPr/>
        </p:nvSpPr>
        <p:spPr>
          <a:xfrm>
            <a:off x="9928860" y="2304288"/>
            <a:ext cx="438912" cy="164592"/>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32" name="Text 30"/>
          <p:cNvSpPr/>
          <p:nvPr/>
        </p:nvSpPr>
        <p:spPr>
          <a:xfrm>
            <a:off x="9910572" y="2852928"/>
            <a:ext cx="1508760" cy="475488"/>
          </a:xfrm>
          <a:prstGeom prst="rect">
            <a:avLst/>
          </a:prstGeom>
          <a:noFill/>
          <a:ln/>
        </p:spPr>
        <p:txBody>
          <a:bodyPr wrap="square" lIns="0" tIns="0" rIns="0" bIns="0" rtlCol="0" anchor="ctr">
            <a:normAutofit/>
          </a:bodyPr>
          <a:lstStyle/>
          <a:p>
            <a:pPr marL="0" indent="0" algn="ctr">
              <a:buNone/>
            </a:pPr>
            <a:r>
              <a:rPr lang="en-US" sz="1320" b="1" dirty="0">
                <a:solidFill>
                  <a:srgbClr val="0B1F33"/>
                </a:solidFill>
              </a:rPr>
              <a:t>Final mapping</a:t>
            </a:r>
            <a:endParaRPr lang="en-US" sz="1320" dirty="0"/>
          </a:p>
        </p:txBody>
      </p:sp>
      <p:sp>
        <p:nvSpPr>
          <p:cNvPr id="33" name="Text 31"/>
          <p:cNvSpPr/>
          <p:nvPr/>
        </p:nvSpPr>
        <p:spPr>
          <a:xfrm>
            <a:off x="914400" y="4709160"/>
            <a:ext cx="10332720" cy="457200"/>
          </a:xfrm>
          <a:prstGeom prst="rect">
            <a:avLst/>
          </a:prstGeom>
          <a:noFill/>
          <a:ln/>
        </p:spPr>
        <p:txBody>
          <a:bodyPr wrap="square" lIns="0" tIns="0" rIns="0" bIns="0" rtlCol="0" anchor="ctr"/>
          <a:lstStyle/>
          <a:p>
            <a:pPr marL="0" indent="0" algn="ctr">
              <a:buNone/>
            </a:pPr>
            <a:r>
              <a:rPr lang="en-US" sz="1700" b="1" dirty="0">
                <a:solidFill>
                  <a:srgbClr val="F59E0B"/>
                </a:solidFill>
              </a:rPr>
              <a:t>Use the sequence as a review path: each stage should be visible in the final response.</a:t>
            </a:r>
            <a:endParaRPr lang="en-US" sz="1700" dirty="0"/>
          </a:p>
        </p:txBody>
      </p:sp>
      <p:sp>
        <p:nvSpPr>
          <p:cNvPr id="34"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Field-tracing master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when the source of an output value is unknown.</a:t>
            </a:r>
            <a:endParaRPr lang="en-US" sz="1150" dirty="0"/>
          </a:p>
        </p:txBody>
      </p:sp>
      <p:sp>
        <p:nvSpPr>
          <p:cNvPr id="4" name="Shape 2"/>
          <p:cNvSpPr/>
          <p:nvPr/>
        </p:nvSpPr>
        <p:spPr>
          <a:xfrm>
            <a:off x="685800" y="1234440"/>
            <a:ext cx="7315200" cy="4983480"/>
          </a:xfrm>
          <a:prstGeom prst="roundRect">
            <a:avLst>
              <a:gd name="adj" fmla="val 1468"/>
            </a:avLst>
          </a:prstGeom>
          <a:solidFill>
            <a:srgbClr val="10263B"/>
          </a:solidFill>
          <a:ln w="12700">
            <a:solidFill>
              <a:srgbClr val="284B66"/>
            </a:solidFill>
            <a:prstDash val="solid"/>
          </a:ln>
        </p:spPr>
      </p:sp>
      <p:sp>
        <p:nvSpPr>
          <p:cNvPr id="5" name="Text 3"/>
          <p:cNvSpPr/>
          <p:nvPr/>
        </p:nvSpPr>
        <p:spPr>
          <a:xfrm>
            <a:off x="850392" y="1371600"/>
            <a:ext cx="6986016" cy="4709160"/>
          </a:xfrm>
          <a:prstGeom prst="rect">
            <a:avLst/>
          </a:prstGeom>
          <a:noFill/>
          <a:ln/>
        </p:spPr>
        <p:txBody>
          <a:bodyPr wrap="square" lIns="254" tIns="254" rIns="254" bIns="254" rtlCol="0" anchor="ctr">
            <a:normAutofit/>
          </a:bodyPr>
          <a:lstStyle/>
          <a:p>
            <a:pPr marL="0" indent="0">
              <a:buNone/>
            </a:pPr>
            <a:r>
              <a:rPr lang="en-US" sz="1200" dirty="0">
                <a:solidFill>
                  <a:srgbClr val="EDF6FC"/>
                </a:solidFill>
                <a:latin typeface="Consolas" pitchFamily="34" charset="0"/>
                <a:ea typeface="Consolas" pitchFamily="34" charset="-122"/>
                <a:cs typeface="Consolas" pitchFamily="34" charset="-120"/>
              </a:rPr>
              <a:t>Act as an SAP HCM ABAP debugging expert.</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Trace where the following value is populated:</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Program/report: [name]</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Field: [field]</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Structure/table: [if known]</a:t>
            </a: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Country/process: [context]</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Identify the assignment or calculation point, relevant FORM/method/function module, intermediate structures, source infotype/table/payroll result/configuration, enhancements, and recommended breakpoints or watchpoints.</a:t>
            </a:r>
            <a:endParaRPr lang="en-US" sz="1200" dirty="0"/>
          </a:p>
          <a:p>
            <a:pPr marL="0" indent="0">
              <a:buNone/>
            </a:pPr>
            <a:endParaRPr lang="en-US" sz="1200" dirty="0"/>
          </a:p>
          <a:p>
            <a:pPr marL="0" indent="0">
              <a:buNone/>
            </a:pPr>
            <a:r>
              <a:rPr lang="en-US" sz="1200" dirty="0">
                <a:solidFill>
                  <a:srgbClr val="EDF6FC"/>
                </a:solidFill>
                <a:latin typeface="Consolas" pitchFamily="34" charset="0"/>
                <a:ea typeface="Consolas" pitchFamily="34" charset="-122"/>
                <a:cs typeface="Consolas" pitchFamily="34" charset="-120"/>
              </a:rPr>
              <a:t>Do not guess SAP objects. Separate confirmed findings from items requiring verification.</a:t>
            </a:r>
            <a:endParaRPr lang="en-US" sz="1200" dirty="0"/>
          </a:p>
        </p:txBody>
      </p:sp>
      <p:sp>
        <p:nvSpPr>
          <p:cNvPr id="6" name="Shape 4"/>
          <p:cNvSpPr/>
          <p:nvPr/>
        </p:nvSpPr>
        <p:spPr>
          <a:xfrm>
            <a:off x="8247888" y="1234440"/>
            <a:ext cx="3246120" cy="4983480"/>
          </a:xfrm>
          <a:prstGeom prst="roundRect">
            <a:avLst>
              <a:gd name="adj" fmla="val 2254"/>
            </a:avLst>
          </a:prstGeom>
          <a:solidFill>
            <a:srgbClr val="FFFFFF"/>
          </a:solidFill>
          <a:ln w="12700">
            <a:solidFill>
              <a:srgbClr val="D9E1EA"/>
            </a:solidFill>
            <a:prstDash val="solid"/>
          </a:ln>
        </p:spPr>
      </p:sp>
      <p:sp>
        <p:nvSpPr>
          <p:cNvPr id="7" name="Text 5"/>
          <p:cNvSpPr/>
          <p:nvPr/>
        </p:nvSpPr>
        <p:spPr>
          <a:xfrm>
            <a:off x="8549640" y="1572768"/>
            <a:ext cx="2651760" cy="310896"/>
          </a:xfrm>
          <a:prstGeom prst="rect">
            <a:avLst/>
          </a:prstGeom>
          <a:noFill/>
          <a:ln/>
        </p:spPr>
        <p:txBody>
          <a:bodyPr wrap="square" lIns="0" tIns="0" rIns="0" bIns="0" rtlCol="0" anchor="ctr"/>
          <a:lstStyle/>
          <a:p>
            <a:pPr marL="0" indent="0" algn="ctr">
              <a:buNone/>
            </a:pPr>
            <a:r>
              <a:rPr lang="en-US" sz="1800" b="1" dirty="0">
                <a:solidFill>
                  <a:srgbClr val="15B8A6"/>
                </a:solidFill>
              </a:rPr>
              <a:t>Why this works</a:t>
            </a:r>
            <a:endParaRPr lang="en-US" sz="1800" dirty="0"/>
          </a:p>
        </p:txBody>
      </p:sp>
      <p:sp>
        <p:nvSpPr>
          <p:cNvPr id="8" name="Shape 6"/>
          <p:cNvSpPr/>
          <p:nvPr/>
        </p:nvSpPr>
        <p:spPr>
          <a:xfrm>
            <a:off x="8522208" y="2286000"/>
            <a:ext cx="201168" cy="201168"/>
          </a:xfrm>
          <a:prstGeom prst="ellipse">
            <a:avLst/>
          </a:prstGeom>
          <a:solidFill>
            <a:srgbClr val="15B8A6"/>
          </a:solidFill>
          <a:ln w="12700">
            <a:solidFill>
              <a:srgbClr val="15B8A6"/>
            </a:solidFill>
            <a:prstDash val="solid"/>
          </a:ln>
        </p:spPr>
      </p:sp>
      <p:sp>
        <p:nvSpPr>
          <p:cNvPr id="9" name="Text 7"/>
          <p:cNvSpPr/>
          <p:nvPr/>
        </p:nvSpPr>
        <p:spPr>
          <a:xfrm>
            <a:off x="8869680" y="2212848"/>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Entry point</a:t>
            </a:r>
            <a:endParaRPr lang="en-US" sz="1250" dirty="0"/>
          </a:p>
        </p:txBody>
      </p:sp>
      <p:sp>
        <p:nvSpPr>
          <p:cNvPr id="10" name="Shape 8"/>
          <p:cNvSpPr/>
          <p:nvPr/>
        </p:nvSpPr>
        <p:spPr>
          <a:xfrm>
            <a:off x="8522208" y="2944368"/>
            <a:ext cx="201168" cy="201168"/>
          </a:xfrm>
          <a:prstGeom prst="ellipse">
            <a:avLst/>
          </a:prstGeom>
          <a:solidFill>
            <a:srgbClr val="15B8A6"/>
          </a:solidFill>
          <a:ln w="12700">
            <a:solidFill>
              <a:srgbClr val="15B8A6"/>
            </a:solidFill>
            <a:prstDash val="solid"/>
          </a:ln>
        </p:spPr>
      </p:sp>
      <p:sp>
        <p:nvSpPr>
          <p:cNvPr id="11" name="Text 9"/>
          <p:cNvSpPr/>
          <p:nvPr/>
        </p:nvSpPr>
        <p:spPr>
          <a:xfrm>
            <a:off x="8869680" y="2871216"/>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Assignment path</a:t>
            </a:r>
            <a:endParaRPr lang="en-US" sz="1250" dirty="0"/>
          </a:p>
        </p:txBody>
      </p:sp>
      <p:sp>
        <p:nvSpPr>
          <p:cNvPr id="12" name="Shape 10"/>
          <p:cNvSpPr/>
          <p:nvPr/>
        </p:nvSpPr>
        <p:spPr>
          <a:xfrm>
            <a:off x="8522208" y="3602736"/>
            <a:ext cx="201168" cy="201168"/>
          </a:xfrm>
          <a:prstGeom prst="ellipse">
            <a:avLst/>
          </a:prstGeom>
          <a:solidFill>
            <a:srgbClr val="15B8A6"/>
          </a:solidFill>
          <a:ln w="12700">
            <a:solidFill>
              <a:srgbClr val="15B8A6"/>
            </a:solidFill>
            <a:prstDash val="solid"/>
          </a:ln>
        </p:spPr>
      </p:sp>
      <p:sp>
        <p:nvSpPr>
          <p:cNvPr id="13" name="Text 11"/>
          <p:cNvSpPr/>
          <p:nvPr/>
        </p:nvSpPr>
        <p:spPr>
          <a:xfrm>
            <a:off x="8869680" y="3529584"/>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Original source</a:t>
            </a:r>
            <a:endParaRPr lang="en-US" sz="1250" dirty="0"/>
          </a:p>
        </p:txBody>
      </p:sp>
      <p:sp>
        <p:nvSpPr>
          <p:cNvPr id="14" name="Shape 12"/>
          <p:cNvSpPr/>
          <p:nvPr/>
        </p:nvSpPr>
        <p:spPr>
          <a:xfrm>
            <a:off x="8522208" y="4261104"/>
            <a:ext cx="201168" cy="201168"/>
          </a:xfrm>
          <a:prstGeom prst="ellipse">
            <a:avLst/>
          </a:prstGeom>
          <a:solidFill>
            <a:srgbClr val="15B8A6"/>
          </a:solidFill>
          <a:ln w="12700">
            <a:solidFill>
              <a:srgbClr val="15B8A6"/>
            </a:solidFill>
            <a:prstDash val="solid"/>
          </a:ln>
        </p:spPr>
      </p:sp>
      <p:sp>
        <p:nvSpPr>
          <p:cNvPr id="15" name="Text 13"/>
          <p:cNvSpPr/>
          <p:nvPr/>
        </p:nvSpPr>
        <p:spPr>
          <a:xfrm>
            <a:off x="8869680" y="4187952"/>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Configuration</a:t>
            </a:r>
            <a:endParaRPr lang="en-US" sz="1250" dirty="0"/>
          </a:p>
        </p:txBody>
      </p:sp>
      <p:sp>
        <p:nvSpPr>
          <p:cNvPr id="16" name="Shape 14"/>
          <p:cNvSpPr/>
          <p:nvPr/>
        </p:nvSpPr>
        <p:spPr>
          <a:xfrm>
            <a:off x="8522208" y="4919472"/>
            <a:ext cx="201168" cy="201168"/>
          </a:xfrm>
          <a:prstGeom prst="ellipse">
            <a:avLst/>
          </a:prstGeom>
          <a:solidFill>
            <a:srgbClr val="15B8A6"/>
          </a:solidFill>
          <a:ln w="12700">
            <a:solidFill>
              <a:srgbClr val="15B8A6"/>
            </a:solidFill>
            <a:prstDash val="solid"/>
          </a:ln>
        </p:spPr>
      </p:sp>
      <p:sp>
        <p:nvSpPr>
          <p:cNvPr id="17" name="Text 15"/>
          <p:cNvSpPr/>
          <p:nvPr/>
        </p:nvSpPr>
        <p:spPr>
          <a:xfrm>
            <a:off x="8869680" y="4846320"/>
            <a:ext cx="2258568" cy="365760"/>
          </a:xfrm>
          <a:prstGeom prst="rect">
            <a:avLst/>
          </a:prstGeom>
          <a:noFill/>
          <a:ln/>
        </p:spPr>
        <p:txBody>
          <a:bodyPr wrap="square" lIns="0" tIns="0" rIns="0" bIns="0" rtlCol="0" anchor="ctr">
            <a:normAutofit/>
          </a:bodyPr>
          <a:lstStyle/>
          <a:p>
            <a:pPr marL="0" indent="0">
              <a:buNone/>
            </a:pPr>
            <a:r>
              <a:rPr lang="en-US" sz="1250" dirty="0">
                <a:solidFill>
                  <a:srgbClr val="172033"/>
                </a:solidFill>
              </a:rPr>
              <a:t>Verification status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Breakpoints and watchpoints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Ask for debugging points that demonstrate the data flow.</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Initial processing entry.</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Method or FORM that transforms the field.</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Watchpoint on the target field.</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Breakpoint before final mapping.</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Comparison point after enhancement logic.</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Configuration vs. code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value may be read, derived or configured.</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Source field copied directly.</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Value transformed by code.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Value derived from payroll results.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Value selected from configuration.</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Value overridden by an enhancement.</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Evidence levels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Separate evidence from hypotheses in technical tracing.</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D14343"/>
          </a:solidFill>
          <a:ln w="12700">
            <a:solidFill>
              <a:srgbClr val="D14343"/>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Confirmed: direct assignment observed.</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Confirmed: source structure traced in debugger.</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Likely: object name suggests relevance, not yet tested.</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Unknown: source not available in current evidence.</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Verification: breakpoint, table display or configuration check required.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Exercise 9: Trace a DSN field</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A DSN output field is blank in RPLDSNF0.</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Write a prompt that requests a complete trace.</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Act as an SAP HCM France Payroll debugging expert. In RPLDSNF0, trace where [DSN field] should be populated. Identify the processing entry, assignment logic, intermediate DSN structures, source infotype/payroll/configuration, enhancements, and breakpoints. Compare a working and failing employee. Separate confirmed findings from verification items.</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Comparative debugging</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Comparing working and failing cases can expose missing conditions.</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15B8A6"/>
          </a:solidFill>
          <a:ln w="12700">
            <a:solidFill>
              <a:srgbClr val="15B8A6"/>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Use the same payroll period where possible.</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Compare selection-screen values.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Compare source infotypes and result structures.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Compare configuration keys and enhancement paths.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Watch where the target field diverges.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Debugging documentation</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Request a trace that can be reused by the team.</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22A06B"/>
          </a:solidFill>
          <a:ln w="12700">
            <a:solidFill>
              <a:srgbClr val="22A06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Entry point.</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Call sequence.</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Source-to-target mapping.</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Conditions and configuration.</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Test employee characteristics without exposing sensitive data.</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Module 9 summary</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good debugging prompt asks for proof.</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0B5CAD"/>
          </a:solidFill>
          <a:ln w="12700">
            <a:solidFill>
              <a:srgbClr val="0B5CAD"/>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Trace the full path.</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Distinguish code from configuration.</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Use breakpoints and watchpoints.</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Compare cases.</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Document confirmed and unverified findings.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31520" y="896112"/>
            <a:ext cx="1188720" cy="960120"/>
          </a:xfrm>
          <a:prstGeom prst="rect">
            <a:avLst/>
          </a:prstGeom>
          <a:noFill/>
          <a:ln/>
        </p:spPr>
        <p:txBody>
          <a:bodyPr wrap="square" lIns="0" tIns="0" rIns="0" bIns="0" rtlCol="0" anchor="ctr"/>
          <a:lstStyle/>
          <a:p>
            <a:pPr marL="0" indent="0" algn="ctr">
              <a:buNone/>
            </a:pPr>
            <a:r>
              <a:rPr lang="en-US" sz="5200" b="1" dirty="0">
                <a:solidFill>
                  <a:srgbClr val="F59E0B"/>
                </a:solidFill>
              </a:rPr>
              <a:t>10</a:t>
            </a:r>
            <a:endParaRPr lang="en-US" sz="5200" dirty="0"/>
          </a:p>
        </p:txBody>
      </p:sp>
      <p:sp>
        <p:nvSpPr>
          <p:cNvPr id="3" name="Text 1"/>
          <p:cNvSpPr/>
          <p:nvPr/>
        </p:nvSpPr>
        <p:spPr>
          <a:xfrm>
            <a:off x="2148840" y="1078992"/>
            <a:ext cx="5029200" cy="292608"/>
          </a:xfrm>
          <a:prstGeom prst="rect">
            <a:avLst/>
          </a:prstGeom>
          <a:noFill/>
          <a:ln/>
        </p:spPr>
        <p:txBody>
          <a:bodyPr wrap="square" lIns="0" tIns="0" rIns="0" bIns="0" rtlCol="0" anchor="ctr"/>
          <a:lstStyle/>
          <a:p>
            <a:pPr marL="0" indent="0">
              <a:buNone/>
            </a:pPr>
            <a:r>
              <a:rPr lang="en-US" sz="1400" b="1" kern="0" spc="200" dirty="0">
                <a:solidFill>
                  <a:srgbClr val="7DD3FC"/>
                </a:solidFill>
              </a:rPr>
              <a:t>PRACTICE AND REFERENCE</a:t>
            </a:r>
            <a:endParaRPr lang="en-US" sz="1400" dirty="0"/>
          </a:p>
        </p:txBody>
      </p:sp>
      <p:sp>
        <p:nvSpPr>
          <p:cNvPr id="4" name="Text 2"/>
          <p:cNvSpPr/>
          <p:nvPr/>
        </p:nvSpPr>
        <p:spPr>
          <a:xfrm>
            <a:off x="2148840" y="1664208"/>
            <a:ext cx="8869680" cy="1005840"/>
          </a:xfrm>
          <a:prstGeom prst="rect">
            <a:avLst/>
          </a:prstGeom>
          <a:noFill/>
          <a:ln/>
        </p:spPr>
        <p:txBody>
          <a:bodyPr wrap="square" lIns="0" tIns="0" rIns="0" bIns="0" rtlCol="0" anchor="ctr"/>
          <a:lstStyle/>
          <a:p>
            <a:pPr marL="0" indent="0">
              <a:buNone/>
            </a:pPr>
            <a:r>
              <a:rPr lang="en-US" sz="3100" b="1" dirty="0">
                <a:solidFill>
                  <a:srgbClr val="FFFFFF"/>
                </a:solidFill>
              </a:rPr>
              <a:t>Apply, review and reuse</a:t>
            </a:r>
            <a:endParaRPr lang="en-US" sz="3100" dirty="0"/>
          </a:p>
        </p:txBody>
      </p:sp>
      <p:sp>
        <p:nvSpPr>
          <p:cNvPr id="5" name="Text 3"/>
          <p:cNvSpPr/>
          <p:nvPr/>
        </p:nvSpPr>
        <p:spPr>
          <a:xfrm>
            <a:off x="2176272" y="2999232"/>
            <a:ext cx="8046720" cy="731520"/>
          </a:xfrm>
          <a:prstGeom prst="rect">
            <a:avLst/>
          </a:prstGeom>
          <a:noFill/>
          <a:ln/>
        </p:spPr>
        <p:txBody>
          <a:bodyPr wrap="square" lIns="0" tIns="0" rIns="0" bIns="0" rtlCol="0" anchor="ctr"/>
          <a:lstStyle/>
          <a:p>
            <a:pPr marL="0" indent="0">
              <a:buNone/>
            </a:pPr>
            <a:r>
              <a:rPr lang="en-US" sz="1700" dirty="0">
                <a:solidFill>
                  <a:srgbClr val="C9D8E5"/>
                </a:solidFill>
              </a:rPr>
              <a:t>Finish with a compact library and a quality gate.</a:t>
            </a:r>
            <a:endParaRPr lang="en-US" sz="17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Capstone exercise: Build a complete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Practice turning a business request into a structured prompt.</a:t>
            </a:r>
            <a:endParaRPr lang="en-US" sz="1150" dirty="0"/>
          </a:p>
        </p:txBody>
      </p:sp>
      <p:sp>
        <p:nvSpPr>
          <p:cNvPr id="4" name="Shape 2"/>
          <p:cNvSpPr/>
          <p:nvPr/>
        </p:nvSpPr>
        <p:spPr>
          <a:xfrm>
            <a:off x="685800" y="1234440"/>
            <a:ext cx="3657600" cy="4846320"/>
          </a:xfrm>
          <a:prstGeom prst="roundRect">
            <a:avLst>
              <a:gd name="adj" fmla="val 2000"/>
            </a:avLst>
          </a:prstGeom>
          <a:solidFill>
            <a:srgbClr val="EEF5FB"/>
          </a:solidFill>
          <a:ln w="12700">
            <a:solidFill>
              <a:srgbClr val="D9E1EA"/>
            </a:solidFill>
            <a:prstDash val="solid"/>
          </a:ln>
        </p:spPr>
      </p:sp>
      <p:sp>
        <p:nvSpPr>
          <p:cNvPr id="5" name="Shape 3"/>
          <p:cNvSpPr/>
          <p:nvPr/>
        </p:nvSpPr>
        <p:spPr>
          <a:xfrm>
            <a:off x="950976"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1005840"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03120"/>
            <a:ext cx="3108960" cy="1645920"/>
          </a:xfrm>
          <a:prstGeom prst="rect">
            <a:avLst/>
          </a:prstGeom>
          <a:noFill/>
          <a:ln/>
        </p:spPr>
        <p:txBody>
          <a:bodyPr wrap="square" lIns="0" tIns="0" rIns="0" bIns="0" rtlCol="0" anchor="ctr"/>
          <a:lstStyle/>
          <a:p>
            <a:pPr marL="0" indent="0" algn="ctr">
              <a:buNone/>
            </a:pPr>
            <a:r>
              <a:rPr lang="en-US" sz="1700" b="1" dirty="0">
                <a:solidFill>
                  <a:srgbClr val="172033"/>
                </a:solidFill>
              </a:rPr>
              <a:t>A statutory HR report must be updated for a new field.</a:t>
            </a:r>
            <a:endParaRPr lang="en-US" sz="1700" dirty="0"/>
          </a:p>
        </p:txBody>
      </p:sp>
      <p:sp>
        <p:nvSpPr>
          <p:cNvPr id="8" name="Shape 6"/>
          <p:cNvSpPr/>
          <p:nvPr/>
        </p:nvSpPr>
        <p:spPr>
          <a:xfrm>
            <a:off x="4526280" y="1234440"/>
            <a:ext cx="2971800" cy="4846320"/>
          </a:xfrm>
          <a:prstGeom prst="roundRect">
            <a:avLst>
              <a:gd name="adj" fmla="val 2462"/>
            </a:avLst>
          </a:prstGeom>
          <a:solidFill>
            <a:srgbClr val="FFF9ED"/>
          </a:solidFill>
          <a:ln w="12700">
            <a:solidFill>
              <a:srgbClr val="F2D89C"/>
            </a:solidFill>
            <a:prstDash val="solid"/>
          </a:ln>
        </p:spPr>
      </p:sp>
      <p:sp>
        <p:nvSpPr>
          <p:cNvPr id="9" name="Shape 7"/>
          <p:cNvSpPr/>
          <p:nvPr/>
        </p:nvSpPr>
        <p:spPr>
          <a:xfrm>
            <a:off x="4800600" y="1508760"/>
            <a:ext cx="114300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855464" y="1577340"/>
            <a:ext cx="1033272"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Text 9"/>
          <p:cNvSpPr/>
          <p:nvPr/>
        </p:nvSpPr>
        <p:spPr>
          <a:xfrm>
            <a:off x="4892040" y="2057400"/>
            <a:ext cx="2240280" cy="1920240"/>
          </a:xfrm>
          <a:prstGeom prst="rect">
            <a:avLst/>
          </a:prstGeom>
          <a:noFill/>
          <a:ln/>
        </p:spPr>
        <p:txBody>
          <a:bodyPr wrap="square" lIns="0" tIns="0" rIns="0" bIns="0" rtlCol="0" anchor="ctr"/>
          <a:lstStyle/>
          <a:p>
            <a:pPr marL="0" indent="0" algn="ctr">
              <a:buNone/>
            </a:pPr>
            <a:r>
              <a:rPr lang="en-US" sz="1500" dirty="0">
                <a:solidFill>
                  <a:srgbClr val="172033"/>
                </a:solidFill>
              </a:rPr>
              <a:t>Compose a production prompt using all eleven components.</a:t>
            </a:r>
            <a:endParaRPr lang="en-US" sz="1500" dirty="0"/>
          </a:p>
        </p:txBody>
      </p:sp>
      <p:sp>
        <p:nvSpPr>
          <p:cNvPr id="12" name="Shape 10"/>
          <p:cNvSpPr/>
          <p:nvPr/>
        </p:nvSpPr>
        <p:spPr>
          <a:xfrm>
            <a:off x="7680960" y="1234440"/>
            <a:ext cx="3794760" cy="4846320"/>
          </a:xfrm>
          <a:prstGeom prst="roundRect">
            <a:avLst>
              <a:gd name="adj" fmla="val 1928"/>
            </a:avLst>
          </a:prstGeom>
          <a:solidFill>
            <a:srgbClr val="F1FBF9"/>
          </a:solidFill>
          <a:ln w="12700">
            <a:solidFill>
              <a:srgbClr val="A8DDD5"/>
            </a:solidFill>
            <a:prstDash val="solid"/>
          </a:ln>
        </p:spPr>
      </p:sp>
      <p:sp>
        <p:nvSpPr>
          <p:cNvPr id="13" name="Shape 11"/>
          <p:cNvSpPr/>
          <p:nvPr/>
        </p:nvSpPr>
        <p:spPr>
          <a:xfrm>
            <a:off x="7955280" y="1508760"/>
            <a:ext cx="1417320" cy="310896"/>
          </a:xfrm>
          <a:prstGeom prst="roundRect">
            <a:avLst>
              <a:gd name="adj" fmla="val 23529"/>
            </a:avLst>
          </a:prstGeom>
          <a:solidFill>
            <a:srgbClr val="15B8A6"/>
          </a:solidFill>
          <a:ln w="12700">
            <a:solidFill>
              <a:srgbClr val="15B8A6"/>
            </a:solidFill>
            <a:prstDash val="solid"/>
          </a:ln>
        </p:spPr>
      </p:sp>
      <p:sp>
        <p:nvSpPr>
          <p:cNvPr id="14" name="Text 12"/>
          <p:cNvSpPr/>
          <p:nvPr/>
        </p:nvSpPr>
        <p:spPr>
          <a:xfrm>
            <a:off x="8010144" y="1577340"/>
            <a:ext cx="1307592"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
        <p:nvSpPr>
          <p:cNvPr id="15" name="Text 13"/>
          <p:cNvSpPr/>
          <p:nvPr/>
        </p:nvSpPr>
        <p:spPr>
          <a:xfrm>
            <a:off x="8028432" y="1965960"/>
            <a:ext cx="3108960" cy="3429000"/>
          </a:xfrm>
          <a:prstGeom prst="rect">
            <a:avLst/>
          </a:prstGeom>
          <a:noFill/>
          <a:ln/>
        </p:spPr>
        <p:txBody>
          <a:bodyPr wrap="square" lIns="254" tIns="254" rIns="254" bIns="254" rtlCol="0" anchor="ctr">
            <a:normAutofit/>
          </a:bodyPr>
          <a:lstStyle/>
          <a:p>
            <a:pPr marL="0" indent="0">
              <a:buNone/>
            </a:pPr>
            <a:r>
              <a:rPr lang="en-US" sz="1230" dirty="0">
                <a:solidFill>
                  <a:srgbClr val="172033"/>
                </a:solidFill>
              </a:rPr>
              <a:t>Include role; system and ABAP release; exact report and field; input and output contract; statutory business rules; compatibility and performance constraints; known DDIC, infotype, payroll and configuration dependencies; sample source and expected output; complete code and tests; error handling; and acceptance criteria. Require assumptions and system-verification points.</a:t>
            </a:r>
            <a:endParaRPr lang="en-US" sz="123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Prompt quality scorecard</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Score each dimension before asking for production-ready code.</a:t>
            </a:r>
            <a:endParaRPr lang="en-US" sz="1150" dirty="0"/>
          </a:p>
        </p:txBody>
      </p:sp>
      <p:sp>
        <p:nvSpPr>
          <p:cNvPr id="4" name="Shape 2"/>
          <p:cNvSpPr/>
          <p:nvPr/>
        </p:nvSpPr>
        <p:spPr>
          <a:xfrm>
            <a:off x="731520" y="1234440"/>
            <a:ext cx="10698480" cy="685800"/>
          </a:xfrm>
          <a:prstGeom prst="roundRect">
            <a:avLst>
              <a:gd name="adj" fmla="val 10667"/>
            </a:avLst>
          </a:prstGeom>
          <a:solidFill>
            <a:srgbClr val="FFFFFF"/>
          </a:solidFill>
          <a:ln w="12700">
            <a:solidFill>
              <a:srgbClr val="D9E1EA"/>
            </a:solidFill>
            <a:prstDash val="solid"/>
          </a:ln>
        </p:spPr>
      </p:sp>
      <p:sp>
        <p:nvSpPr>
          <p:cNvPr id="5" name="Text 3"/>
          <p:cNvSpPr/>
          <p:nvPr/>
        </p:nvSpPr>
        <p:spPr>
          <a:xfrm>
            <a:off x="960120" y="1408176"/>
            <a:ext cx="320040" cy="228600"/>
          </a:xfrm>
          <a:prstGeom prst="rect">
            <a:avLst/>
          </a:prstGeom>
          <a:noFill/>
          <a:ln/>
        </p:spPr>
        <p:txBody>
          <a:bodyPr wrap="square" lIns="0" tIns="0" rIns="0" bIns="0" rtlCol="0" anchor="ctr"/>
          <a:lstStyle/>
          <a:p>
            <a:pPr marL="0" indent="0">
              <a:buNone/>
            </a:pPr>
            <a:r>
              <a:rPr lang="en-US" sz="1300" b="1" dirty="0">
                <a:solidFill>
                  <a:srgbClr val="F59E0B"/>
                </a:solidFill>
              </a:rPr>
              <a:t>1</a:t>
            </a:r>
            <a:endParaRPr lang="en-US" sz="1300" dirty="0"/>
          </a:p>
        </p:txBody>
      </p:sp>
      <p:sp>
        <p:nvSpPr>
          <p:cNvPr id="6" name="Text 4"/>
          <p:cNvSpPr/>
          <p:nvPr/>
        </p:nvSpPr>
        <p:spPr>
          <a:xfrm>
            <a:off x="1508760" y="1399032"/>
            <a:ext cx="1280160" cy="246888"/>
          </a:xfrm>
          <a:prstGeom prst="rect">
            <a:avLst/>
          </a:prstGeom>
          <a:noFill/>
          <a:ln/>
        </p:spPr>
        <p:txBody>
          <a:bodyPr wrap="square" lIns="0" tIns="0" rIns="0" bIns="0" rtlCol="0" anchor="ctr"/>
          <a:lstStyle/>
          <a:p>
            <a:pPr marL="0" indent="0">
              <a:buNone/>
            </a:pPr>
            <a:r>
              <a:rPr lang="en-US" sz="1550" b="1" dirty="0">
                <a:solidFill>
                  <a:srgbClr val="0B1F33"/>
                </a:solidFill>
              </a:rPr>
              <a:t>Context</a:t>
            </a:r>
            <a:endParaRPr lang="en-US" sz="1550" dirty="0"/>
          </a:p>
        </p:txBody>
      </p:sp>
      <p:sp>
        <p:nvSpPr>
          <p:cNvPr id="7" name="Text 5"/>
          <p:cNvSpPr/>
          <p:nvPr/>
        </p:nvSpPr>
        <p:spPr>
          <a:xfrm>
            <a:off x="3017520" y="1380744"/>
            <a:ext cx="7132320" cy="292608"/>
          </a:xfrm>
          <a:prstGeom prst="rect">
            <a:avLst/>
          </a:prstGeom>
          <a:noFill/>
          <a:ln/>
        </p:spPr>
        <p:txBody>
          <a:bodyPr wrap="square" lIns="0" tIns="0" rIns="0" bIns="0" rtlCol="0" anchor="ctr"/>
          <a:lstStyle/>
          <a:p>
            <a:pPr marL="0" indent="0">
              <a:buNone/>
            </a:pPr>
            <a:r>
              <a:rPr lang="en-US" sz="1400" dirty="0">
                <a:solidFill>
                  <a:srgbClr val="172033"/>
                </a:solidFill>
              </a:rPr>
              <a:t>System, ABAP release and process are stated</a:t>
            </a:r>
            <a:endParaRPr lang="en-US" sz="1400" dirty="0"/>
          </a:p>
        </p:txBody>
      </p:sp>
      <p:sp>
        <p:nvSpPr>
          <p:cNvPr id="8" name="Shape 6"/>
          <p:cNvSpPr/>
          <p:nvPr/>
        </p:nvSpPr>
        <p:spPr>
          <a:xfrm>
            <a:off x="731520" y="2148840"/>
            <a:ext cx="10698480" cy="685800"/>
          </a:xfrm>
          <a:prstGeom prst="roundRect">
            <a:avLst>
              <a:gd name="adj" fmla="val 10667"/>
            </a:avLst>
          </a:prstGeom>
          <a:solidFill>
            <a:srgbClr val="F0FAF8"/>
          </a:solidFill>
          <a:ln w="12700">
            <a:solidFill>
              <a:srgbClr val="D9E1EA"/>
            </a:solidFill>
            <a:prstDash val="solid"/>
          </a:ln>
        </p:spPr>
      </p:sp>
      <p:sp>
        <p:nvSpPr>
          <p:cNvPr id="9" name="Text 7"/>
          <p:cNvSpPr/>
          <p:nvPr/>
        </p:nvSpPr>
        <p:spPr>
          <a:xfrm>
            <a:off x="960120" y="2322576"/>
            <a:ext cx="320040" cy="228600"/>
          </a:xfrm>
          <a:prstGeom prst="rect">
            <a:avLst/>
          </a:prstGeom>
          <a:noFill/>
          <a:ln/>
        </p:spPr>
        <p:txBody>
          <a:bodyPr wrap="square" lIns="0" tIns="0" rIns="0" bIns="0" rtlCol="0" anchor="ctr"/>
          <a:lstStyle/>
          <a:p>
            <a:pPr marL="0" indent="0">
              <a:buNone/>
            </a:pPr>
            <a:r>
              <a:rPr lang="en-US" sz="1300" b="1" dirty="0">
                <a:solidFill>
                  <a:srgbClr val="F59E0B"/>
                </a:solidFill>
              </a:rPr>
              <a:t>2</a:t>
            </a:r>
            <a:endParaRPr lang="en-US" sz="1300" dirty="0"/>
          </a:p>
        </p:txBody>
      </p:sp>
      <p:sp>
        <p:nvSpPr>
          <p:cNvPr id="10" name="Text 8"/>
          <p:cNvSpPr/>
          <p:nvPr/>
        </p:nvSpPr>
        <p:spPr>
          <a:xfrm>
            <a:off x="1508760" y="2313432"/>
            <a:ext cx="1280160" cy="246888"/>
          </a:xfrm>
          <a:prstGeom prst="rect">
            <a:avLst/>
          </a:prstGeom>
          <a:noFill/>
          <a:ln/>
        </p:spPr>
        <p:txBody>
          <a:bodyPr wrap="square" lIns="0" tIns="0" rIns="0" bIns="0" rtlCol="0" anchor="ctr"/>
          <a:lstStyle/>
          <a:p>
            <a:pPr marL="0" indent="0">
              <a:buNone/>
            </a:pPr>
            <a:r>
              <a:rPr lang="en-US" sz="1550" b="1" dirty="0">
                <a:solidFill>
                  <a:srgbClr val="0B1F33"/>
                </a:solidFill>
              </a:rPr>
              <a:t>Contract</a:t>
            </a:r>
            <a:endParaRPr lang="en-US" sz="1550" dirty="0"/>
          </a:p>
        </p:txBody>
      </p:sp>
      <p:sp>
        <p:nvSpPr>
          <p:cNvPr id="11" name="Text 9"/>
          <p:cNvSpPr/>
          <p:nvPr/>
        </p:nvSpPr>
        <p:spPr>
          <a:xfrm>
            <a:off x="3017520" y="2295144"/>
            <a:ext cx="7132320" cy="292608"/>
          </a:xfrm>
          <a:prstGeom prst="rect">
            <a:avLst/>
          </a:prstGeom>
          <a:noFill/>
          <a:ln/>
        </p:spPr>
        <p:txBody>
          <a:bodyPr wrap="square" lIns="0" tIns="0" rIns="0" bIns="0" rtlCol="0" anchor="ctr"/>
          <a:lstStyle/>
          <a:p>
            <a:pPr marL="0" indent="0">
              <a:buNone/>
            </a:pPr>
            <a:r>
              <a:rPr lang="en-US" sz="1400" dirty="0">
                <a:solidFill>
                  <a:srgbClr val="172033"/>
                </a:solidFill>
              </a:rPr>
              <a:t>Inputs, outputs and object are explicit</a:t>
            </a:r>
            <a:endParaRPr lang="en-US" sz="1400" dirty="0"/>
          </a:p>
        </p:txBody>
      </p:sp>
      <p:sp>
        <p:nvSpPr>
          <p:cNvPr id="12" name="Shape 10"/>
          <p:cNvSpPr/>
          <p:nvPr/>
        </p:nvSpPr>
        <p:spPr>
          <a:xfrm>
            <a:off x="731520" y="3063240"/>
            <a:ext cx="10698480" cy="685800"/>
          </a:xfrm>
          <a:prstGeom prst="roundRect">
            <a:avLst>
              <a:gd name="adj" fmla="val 10667"/>
            </a:avLst>
          </a:prstGeom>
          <a:solidFill>
            <a:srgbClr val="FFFFFF"/>
          </a:solidFill>
          <a:ln w="12700">
            <a:solidFill>
              <a:srgbClr val="D9E1EA"/>
            </a:solidFill>
            <a:prstDash val="solid"/>
          </a:ln>
        </p:spPr>
      </p:sp>
      <p:sp>
        <p:nvSpPr>
          <p:cNvPr id="13" name="Text 11"/>
          <p:cNvSpPr/>
          <p:nvPr/>
        </p:nvSpPr>
        <p:spPr>
          <a:xfrm>
            <a:off x="960120" y="3236976"/>
            <a:ext cx="320040" cy="228600"/>
          </a:xfrm>
          <a:prstGeom prst="rect">
            <a:avLst/>
          </a:prstGeom>
          <a:noFill/>
          <a:ln/>
        </p:spPr>
        <p:txBody>
          <a:bodyPr wrap="square" lIns="0" tIns="0" rIns="0" bIns="0" rtlCol="0" anchor="ctr"/>
          <a:lstStyle/>
          <a:p>
            <a:pPr marL="0" indent="0">
              <a:buNone/>
            </a:pPr>
            <a:r>
              <a:rPr lang="en-US" sz="1300" b="1" dirty="0">
                <a:solidFill>
                  <a:srgbClr val="F59E0B"/>
                </a:solidFill>
              </a:rPr>
              <a:t>3</a:t>
            </a:r>
            <a:endParaRPr lang="en-US" sz="1300" dirty="0"/>
          </a:p>
        </p:txBody>
      </p:sp>
      <p:sp>
        <p:nvSpPr>
          <p:cNvPr id="14" name="Text 12"/>
          <p:cNvSpPr/>
          <p:nvPr/>
        </p:nvSpPr>
        <p:spPr>
          <a:xfrm>
            <a:off x="1508760" y="3227832"/>
            <a:ext cx="1280160" cy="246888"/>
          </a:xfrm>
          <a:prstGeom prst="rect">
            <a:avLst/>
          </a:prstGeom>
          <a:noFill/>
          <a:ln/>
        </p:spPr>
        <p:txBody>
          <a:bodyPr wrap="square" lIns="0" tIns="0" rIns="0" bIns="0" rtlCol="0" anchor="ctr"/>
          <a:lstStyle/>
          <a:p>
            <a:pPr marL="0" indent="0">
              <a:buNone/>
            </a:pPr>
            <a:r>
              <a:rPr lang="en-US" sz="1550" b="1" dirty="0">
                <a:solidFill>
                  <a:srgbClr val="0B1F33"/>
                </a:solidFill>
              </a:rPr>
              <a:t>Rules</a:t>
            </a:r>
            <a:endParaRPr lang="en-US" sz="1550" dirty="0"/>
          </a:p>
        </p:txBody>
      </p:sp>
      <p:sp>
        <p:nvSpPr>
          <p:cNvPr id="15" name="Text 13"/>
          <p:cNvSpPr/>
          <p:nvPr/>
        </p:nvSpPr>
        <p:spPr>
          <a:xfrm>
            <a:off x="3017520" y="3209544"/>
            <a:ext cx="7132320" cy="292608"/>
          </a:xfrm>
          <a:prstGeom prst="rect">
            <a:avLst/>
          </a:prstGeom>
          <a:noFill/>
          <a:ln/>
        </p:spPr>
        <p:txBody>
          <a:bodyPr wrap="square" lIns="0" tIns="0" rIns="0" bIns="0" rtlCol="0" anchor="ctr"/>
          <a:lstStyle/>
          <a:p>
            <a:pPr marL="0" indent="0">
              <a:buNone/>
            </a:pPr>
            <a:r>
              <a:rPr lang="en-US" sz="1400" dirty="0">
                <a:solidFill>
                  <a:srgbClr val="172033"/>
                </a:solidFill>
              </a:rPr>
              <a:t>Validity, selection and exceptions are numbered</a:t>
            </a:r>
            <a:endParaRPr lang="en-US" sz="1400" dirty="0"/>
          </a:p>
        </p:txBody>
      </p:sp>
      <p:sp>
        <p:nvSpPr>
          <p:cNvPr id="16" name="Shape 14"/>
          <p:cNvSpPr/>
          <p:nvPr/>
        </p:nvSpPr>
        <p:spPr>
          <a:xfrm>
            <a:off x="731520" y="3977640"/>
            <a:ext cx="10698480" cy="685800"/>
          </a:xfrm>
          <a:prstGeom prst="roundRect">
            <a:avLst>
              <a:gd name="adj" fmla="val 10667"/>
            </a:avLst>
          </a:prstGeom>
          <a:solidFill>
            <a:srgbClr val="F0FAF8"/>
          </a:solidFill>
          <a:ln w="12700">
            <a:solidFill>
              <a:srgbClr val="D9E1EA"/>
            </a:solidFill>
            <a:prstDash val="solid"/>
          </a:ln>
        </p:spPr>
      </p:sp>
      <p:sp>
        <p:nvSpPr>
          <p:cNvPr id="17" name="Text 15"/>
          <p:cNvSpPr/>
          <p:nvPr/>
        </p:nvSpPr>
        <p:spPr>
          <a:xfrm>
            <a:off x="960120" y="4151376"/>
            <a:ext cx="320040" cy="228600"/>
          </a:xfrm>
          <a:prstGeom prst="rect">
            <a:avLst/>
          </a:prstGeom>
          <a:noFill/>
          <a:ln/>
        </p:spPr>
        <p:txBody>
          <a:bodyPr wrap="square" lIns="0" tIns="0" rIns="0" bIns="0" rtlCol="0" anchor="ctr"/>
          <a:lstStyle/>
          <a:p>
            <a:pPr marL="0" indent="0">
              <a:buNone/>
            </a:pPr>
            <a:r>
              <a:rPr lang="en-US" sz="1300" b="1" dirty="0">
                <a:solidFill>
                  <a:srgbClr val="F59E0B"/>
                </a:solidFill>
              </a:rPr>
              <a:t>4</a:t>
            </a:r>
            <a:endParaRPr lang="en-US" sz="1300" dirty="0"/>
          </a:p>
        </p:txBody>
      </p:sp>
      <p:sp>
        <p:nvSpPr>
          <p:cNvPr id="18" name="Text 16"/>
          <p:cNvSpPr/>
          <p:nvPr/>
        </p:nvSpPr>
        <p:spPr>
          <a:xfrm>
            <a:off x="1508760" y="4142232"/>
            <a:ext cx="1280160" cy="246888"/>
          </a:xfrm>
          <a:prstGeom prst="rect">
            <a:avLst/>
          </a:prstGeom>
          <a:noFill/>
          <a:ln/>
        </p:spPr>
        <p:txBody>
          <a:bodyPr wrap="square" lIns="0" tIns="0" rIns="0" bIns="0" rtlCol="0" anchor="ctr"/>
          <a:lstStyle/>
          <a:p>
            <a:pPr marL="0" indent="0">
              <a:buNone/>
            </a:pPr>
            <a:r>
              <a:rPr lang="en-US" sz="1550" b="1" dirty="0">
                <a:solidFill>
                  <a:srgbClr val="0B1F33"/>
                </a:solidFill>
              </a:rPr>
              <a:t>Controls</a:t>
            </a:r>
            <a:endParaRPr lang="en-US" sz="1550" dirty="0"/>
          </a:p>
        </p:txBody>
      </p:sp>
      <p:sp>
        <p:nvSpPr>
          <p:cNvPr id="19" name="Text 17"/>
          <p:cNvSpPr/>
          <p:nvPr/>
        </p:nvSpPr>
        <p:spPr>
          <a:xfrm>
            <a:off x="3017520" y="4123944"/>
            <a:ext cx="7132320" cy="292608"/>
          </a:xfrm>
          <a:prstGeom prst="rect">
            <a:avLst/>
          </a:prstGeom>
          <a:noFill/>
          <a:ln/>
        </p:spPr>
        <p:txBody>
          <a:bodyPr wrap="square" lIns="0" tIns="0" rIns="0" bIns="0" rtlCol="0" anchor="ctr"/>
          <a:lstStyle/>
          <a:p>
            <a:pPr marL="0" indent="0">
              <a:buNone/>
            </a:pPr>
            <a:r>
              <a:rPr lang="en-US" sz="1400" dirty="0">
                <a:solidFill>
                  <a:srgbClr val="172033"/>
                </a:solidFill>
              </a:rPr>
              <a:t>Authorization, performance and compatibility are included</a:t>
            </a:r>
            <a:endParaRPr lang="en-US" sz="1400" dirty="0"/>
          </a:p>
        </p:txBody>
      </p:sp>
      <p:sp>
        <p:nvSpPr>
          <p:cNvPr id="20" name="Shape 18"/>
          <p:cNvSpPr/>
          <p:nvPr/>
        </p:nvSpPr>
        <p:spPr>
          <a:xfrm>
            <a:off x="731520" y="4892040"/>
            <a:ext cx="10698480" cy="685800"/>
          </a:xfrm>
          <a:prstGeom prst="roundRect">
            <a:avLst>
              <a:gd name="adj" fmla="val 10667"/>
            </a:avLst>
          </a:prstGeom>
          <a:solidFill>
            <a:srgbClr val="FFFFFF"/>
          </a:solidFill>
          <a:ln w="12700">
            <a:solidFill>
              <a:srgbClr val="D9E1EA"/>
            </a:solidFill>
            <a:prstDash val="solid"/>
          </a:ln>
        </p:spPr>
      </p:sp>
      <p:sp>
        <p:nvSpPr>
          <p:cNvPr id="21" name="Text 19"/>
          <p:cNvSpPr/>
          <p:nvPr/>
        </p:nvSpPr>
        <p:spPr>
          <a:xfrm>
            <a:off x="960120" y="5065776"/>
            <a:ext cx="320040" cy="228600"/>
          </a:xfrm>
          <a:prstGeom prst="rect">
            <a:avLst/>
          </a:prstGeom>
          <a:noFill/>
          <a:ln/>
        </p:spPr>
        <p:txBody>
          <a:bodyPr wrap="square" lIns="0" tIns="0" rIns="0" bIns="0" rtlCol="0" anchor="ctr"/>
          <a:lstStyle/>
          <a:p>
            <a:pPr marL="0" indent="0">
              <a:buNone/>
            </a:pPr>
            <a:r>
              <a:rPr lang="en-US" sz="1300" b="1" dirty="0">
                <a:solidFill>
                  <a:srgbClr val="F59E0B"/>
                </a:solidFill>
              </a:rPr>
              <a:t>5</a:t>
            </a:r>
            <a:endParaRPr lang="en-US" sz="1300" dirty="0"/>
          </a:p>
        </p:txBody>
      </p:sp>
      <p:sp>
        <p:nvSpPr>
          <p:cNvPr id="22" name="Text 20"/>
          <p:cNvSpPr/>
          <p:nvPr/>
        </p:nvSpPr>
        <p:spPr>
          <a:xfrm>
            <a:off x="1508760" y="5056632"/>
            <a:ext cx="1280160" cy="246888"/>
          </a:xfrm>
          <a:prstGeom prst="rect">
            <a:avLst/>
          </a:prstGeom>
          <a:noFill/>
          <a:ln/>
        </p:spPr>
        <p:txBody>
          <a:bodyPr wrap="square" lIns="0" tIns="0" rIns="0" bIns="0" rtlCol="0" anchor="ctr"/>
          <a:lstStyle/>
          <a:p>
            <a:pPr marL="0" indent="0">
              <a:buNone/>
            </a:pPr>
            <a:r>
              <a:rPr lang="en-US" sz="1550" b="1" dirty="0">
                <a:solidFill>
                  <a:srgbClr val="0B1F33"/>
                </a:solidFill>
              </a:rPr>
              <a:t>Evidence</a:t>
            </a:r>
            <a:endParaRPr lang="en-US" sz="1550" dirty="0"/>
          </a:p>
        </p:txBody>
      </p:sp>
      <p:sp>
        <p:nvSpPr>
          <p:cNvPr id="23" name="Text 21"/>
          <p:cNvSpPr/>
          <p:nvPr/>
        </p:nvSpPr>
        <p:spPr>
          <a:xfrm>
            <a:off x="3017520" y="5038344"/>
            <a:ext cx="7132320" cy="292608"/>
          </a:xfrm>
          <a:prstGeom prst="rect">
            <a:avLst/>
          </a:prstGeom>
          <a:noFill/>
          <a:ln/>
        </p:spPr>
        <p:txBody>
          <a:bodyPr wrap="square" lIns="0" tIns="0" rIns="0" bIns="0" rtlCol="0" anchor="ctr"/>
          <a:lstStyle/>
          <a:p>
            <a:pPr marL="0" indent="0">
              <a:buNone/>
            </a:pPr>
            <a:r>
              <a:rPr lang="en-US" sz="1400" dirty="0">
                <a:solidFill>
                  <a:srgbClr val="172033"/>
                </a:solidFill>
              </a:rPr>
              <a:t>Examples, tests and acceptance criteria are included</a:t>
            </a:r>
            <a:endParaRPr lang="en-US" sz="1400" dirty="0"/>
          </a:p>
        </p:txBody>
      </p:sp>
      <p:sp>
        <p:nvSpPr>
          <p:cNvPr id="24" name="Text 22"/>
          <p:cNvSpPr/>
          <p:nvPr/>
        </p:nvSpPr>
        <p:spPr>
          <a:xfrm>
            <a:off x="914400" y="5961888"/>
            <a:ext cx="10332720" cy="274320"/>
          </a:xfrm>
          <a:prstGeom prst="rect">
            <a:avLst/>
          </a:prstGeom>
          <a:noFill/>
          <a:ln/>
        </p:spPr>
        <p:txBody>
          <a:bodyPr wrap="square" lIns="0" tIns="0" rIns="0" bIns="0" rtlCol="0" anchor="ctr"/>
          <a:lstStyle/>
          <a:p>
            <a:pPr marL="0" indent="0" algn="ctr">
              <a:buNone/>
            </a:pPr>
            <a:r>
              <a:rPr lang="en-US" sz="1450" b="1" dirty="0">
                <a:solidFill>
                  <a:srgbClr val="D14343"/>
                </a:solidFill>
              </a:rPr>
              <a:t>If any dimension is missing, expect the response to make assumptions or ask for more information.</a:t>
            </a:r>
            <a:endParaRPr lang="en-US" sz="14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1" cy="1"/>
          <a:chOff x="0" y="0"/>
          <a:chExt cx="1" cy="1"/>
        </a:xfrm>
      </p:grpSpPr>
      <p:sp>
        <p:nvSpPr>
          <p:cNvPr id="2" name="Text 0"/>
          <p:cNvSpPr/>
          <p:nvPr/>
        </p:nvSpPr>
        <p:spPr>
          <a:xfrm>
            <a:off x="566928" y="356616"/>
            <a:ext cx="10972800" cy="420624"/>
          </a:xfrm>
          <a:prstGeom prst="rect">
            <a:avLst/>
          </a:prstGeom>
          <a:noFill/>
          <a:ln/>
        </p:spPr>
        <p:txBody>
          <a:bodyPr wrap="square" lIns="0" tIns="0" rIns="0" bIns="0" rtlCol="0" anchor="ctr"/>
          <a:lstStyle/>
          <a:p>
            <a:pPr marL="0" indent="0">
              <a:buNone/>
            </a:pPr>
            <a:r>
              <a:rPr lang="en-US" sz="2400" b="1" dirty="0">
                <a:solidFill>
                  <a:srgbClr val="0B1F33"/>
                </a:solidFill>
              </a:rPr>
              <a:t>Reusable one-line formula</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A compact memory aid for everyday work.</a:t>
            </a:r>
            <a:endParaRPr lang="en-US" sz="1150" dirty="0"/>
          </a:p>
        </p:txBody>
      </p:sp>
      <p:sp>
        <p:nvSpPr>
          <p:cNvPr id="4" name="Shape 2"/>
          <p:cNvSpPr/>
          <p:nvPr/>
        </p:nvSpPr>
        <p:spPr>
          <a:xfrm>
            <a:off x="749808" y="1298448"/>
            <a:ext cx="10698480" cy="4526280"/>
          </a:xfrm>
          <a:prstGeom prst="roundRect">
            <a:avLst>
              <a:gd name="adj" fmla="val 1616"/>
            </a:avLst>
          </a:prstGeom>
          <a:solidFill>
            <a:srgbClr val="FFFFFF"/>
          </a:solidFill>
          <a:ln w="12700">
            <a:solidFill>
              <a:srgbClr val="D9E1EA"/>
            </a:solidFill>
            <a:prstDash val="solid"/>
          </a:ln>
        </p:spPr>
      </p:sp>
      <p:sp>
        <p:nvSpPr>
          <p:cNvPr id="5" name="Shape 3"/>
          <p:cNvSpPr/>
          <p:nvPr/>
        </p:nvSpPr>
        <p:spPr>
          <a:xfrm>
            <a:off x="749808" y="1298448"/>
            <a:ext cx="146304" cy="4526280"/>
          </a:xfrm>
          <a:prstGeom prst="rect">
            <a:avLst/>
          </a:prstGeom>
          <a:solidFill>
            <a:srgbClr val="F59E0B"/>
          </a:solidFill>
          <a:ln w="12700">
            <a:solidFill>
              <a:srgbClr val="F59E0B"/>
            </a:solidFill>
            <a:prstDash val="solid"/>
          </a:ln>
        </p:spPr>
      </p:sp>
      <p:sp>
        <p:nvSpPr>
          <p:cNvPr id="6" name="Shape 4"/>
          <p:cNvSpPr/>
          <p:nvPr/>
        </p:nvSpPr>
        <p:spPr>
          <a:xfrm>
            <a:off x="1234440" y="1719072"/>
            <a:ext cx="201168" cy="201168"/>
          </a:xfrm>
          <a:prstGeom prst="ellipse">
            <a:avLst/>
          </a:prstGeom>
          <a:solidFill>
            <a:srgbClr val="15B8A6"/>
          </a:solidFill>
          <a:ln w="12700">
            <a:solidFill>
              <a:srgbClr val="15B8A6"/>
            </a:solidFill>
            <a:prstDash val="solid"/>
          </a:ln>
        </p:spPr>
      </p:sp>
      <p:sp>
        <p:nvSpPr>
          <p:cNvPr id="7" name="Text 5"/>
          <p:cNvSpPr/>
          <p:nvPr/>
        </p:nvSpPr>
        <p:spPr>
          <a:xfrm>
            <a:off x="1581912" y="1645920"/>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ROLE + SYSTEM + OBJECTIVE + INPUTS + RULES</a:t>
            </a:r>
            <a:endParaRPr lang="en-US" sz="1600" dirty="0"/>
          </a:p>
        </p:txBody>
      </p:sp>
      <p:sp>
        <p:nvSpPr>
          <p:cNvPr id="8" name="Shape 6"/>
          <p:cNvSpPr/>
          <p:nvPr/>
        </p:nvSpPr>
        <p:spPr>
          <a:xfrm>
            <a:off x="1234440" y="2432304"/>
            <a:ext cx="201168" cy="201168"/>
          </a:xfrm>
          <a:prstGeom prst="ellipse">
            <a:avLst/>
          </a:prstGeom>
          <a:solidFill>
            <a:srgbClr val="15B8A6"/>
          </a:solidFill>
          <a:ln w="12700">
            <a:solidFill>
              <a:srgbClr val="15B8A6"/>
            </a:solidFill>
            <a:prstDash val="solid"/>
          </a:ln>
        </p:spPr>
      </p:sp>
      <p:sp>
        <p:nvSpPr>
          <p:cNvPr id="9" name="Text 7"/>
          <p:cNvSpPr/>
          <p:nvPr/>
        </p:nvSpPr>
        <p:spPr>
          <a:xfrm>
            <a:off x="1581912" y="2359152"/>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 CONSTRAINTS + DEPENDENCIES + EXAMPLES</a:t>
            </a:r>
            <a:endParaRPr lang="en-US" sz="1600" dirty="0"/>
          </a:p>
        </p:txBody>
      </p:sp>
      <p:sp>
        <p:nvSpPr>
          <p:cNvPr id="10" name="Shape 8"/>
          <p:cNvSpPr/>
          <p:nvPr/>
        </p:nvSpPr>
        <p:spPr>
          <a:xfrm>
            <a:off x="1234440" y="3145536"/>
            <a:ext cx="201168" cy="201168"/>
          </a:xfrm>
          <a:prstGeom prst="ellipse">
            <a:avLst/>
          </a:prstGeom>
          <a:solidFill>
            <a:srgbClr val="15B8A6"/>
          </a:solidFill>
          <a:ln w="12700">
            <a:solidFill>
              <a:srgbClr val="15B8A6"/>
            </a:solidFill>
            <a:prstDash val="solid"/>
          </a:ln>
        </p:spPr>
      </p:sp>
      <p:sp>
        <p:nvSpPr>
          <p:cNvPr id="11" name="Text 9"/>
          <p:cNvSpPr/>
          <p:nvPr/>
        </p:nvSpPr>
        <p:spPr>
          <a:xfrm>
            <a:off x="1581912" y="3072384"/>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 DELIVERABLES + ERRORS + ACCEPTANCE</a:t>
            </a:r>
            <a:endParaRPr lang="en-US" sz="1600" dirty="0"/>
          </a:p>
        </p:txBody>
      </p:sp>
      <p:sp>
        <p:nvSpPr>
          <p:cNvPr id="12" name="Shape 10"/>
          <p:cNvSpPr/>
          <p:nvPr/>
        </p:nvSpPr>
        <p:spPr>
          <a:xfrm>
            <a:off x="1234440" y="3858768"/>
            <a:ext cx="201168" cy="201168"/>
          </a:xfrm>
          <a:prstGeom prst="ellipse">
            <a:avLst/>
          </a:prstGeom>
          <a:solidFill>
            <a:srgbClr val="15B8A6"/>
          </a:solidFill>
          <a:ln w="12700">
            <a:solidFill>
              <a:srgbClr val="15B8A6"/>
            </a:solidFill>
            <a:prstDash val="solid"/>
          </a:ln>
        </p:spPr>
      </p:sp>
      <p:sp>
        <p:nvSpPr>
          <p:cNvPr id="13" name="Text 11"/>
          <p:cNvSpPr/>
          <p:nvPr/>
        </p:nvSpPr>
        <p:spPr>
          <a:xfrm>
            <a:off x="1581912" y="3785616"/>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For SAP HR add: validity + authorization + country/payroll context</a:t>
            </a:r>
            <a:endParaRPr lang="en-US" sz="1600" dirty="0"/>
          </a:p>
        </p:txBody>
      </p:sp>
      <p:sp>
        <p:nvSpPr>
          <p:cNvPr id="14" name="Shape 12"/>
          <p:cNvSpPr/>
          <p:nvPr/>
        </p:nvSpPr>
        <p:spPr>
          <a:xfrm>
            <a:off x="1234440" y="4572000"/>
            <a:ext cx="201168" cy="201168"/>
          </a:xfrm>
          <a:prstGeom prst="ellipse">
            <a:avLst/>
          </a:prstGeom>
          <a:solidFill>
            <a:srgbClr val="15B8A6"/>
          </a:solidFill>
          <a:ln w="12700">
            <a:solidFill>
              <a:srgbClr val="15B8A6"/>
            </a:solidFill>
            <a:prstDash val="solid"/>
          </a:ln>
        </p:spPr>
      </p:sp>
      <p:sp>
        <p:nvSpPr>
          <p:cNvPr id="15" name="Text 13"/>
          <p:cNvSpPr/>
          <p:nvPr/>
        </p:nvSpPr>
        <p:spPr>
          <a:xfrm>
            <a:off x="1581912" y="4498848"/>
            <a:ext cx="9299448"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For old systems add: exact ABAP compatibility restrictions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77240" y="960120"/>
            <a:ext cx="6583680" cy="1005840"/>
          </a:xfrm>
          <a:prstGeom prst="rect">
            <a:avLst/>
          </a:prstGeom>
          <a:noFill/>
          <a:ln/>
        </p:spPr>
        <p:txBody>
          <a:bodyPr wrap="square" lIns="0" tIns="0" rIns="0" bIns="0" rtlCol="0" anchor="ctr"/>
          <a:lstStyle/>
          <a:p>
            <a:pPr marL="0" indent="0">
              <a:buNone/>
            </a:pPr>
            <a:r>
              <a:rPr lang="en-US" sz="3400" b="1" dirty="0">
                <a:solidFill>
                  <a:srgbClr val="FFFFFF"/>
                </a:solidFill>
              </a:rPr>
              <a:t>Better prompts create better development conversations.</a:t>
            </a:r>
            <a:endParaRPr lang="en-US" sz="3400" dirty="0"/>
          </a:p>
        </p:txBody>
      </p:sp>
      <p:sp>
        <p:nvSpPr>
          <p:cNvPr id="3" name="Text 1"/>
          <p:cNvSpPr/>
          <p:nvPr/>
        </p:nvSpPr>
        <p:spPr>
          <a:xfrm>
            <a:off x="822960" y="2423160"/>
            <a:ext cx="6400800" cy="1234440"/>
          </a:xfrm>
          <a:prstGeom prst="rect">
            <a:avLst/>
          </a:prstGeom>
          <a:noFill/>
          <a:ln/>
        </p:spPr>
        <p:txBody>
          <a:bodyPr wrap="square" lIns="0" tIns="0" rIns="0" bIns="0" rtlCol="0" anchor="ctr"/>
          <a:lstStyle/>
          <a:p>
            <a:pPr marL="0" indent="0">
              <a:buNone/>
            </a:pPr>
            <a:r>
              <a:rPr lang="en-US" sz="2700" b="1" dirty="0">
                <a:solidFill>
                  <a:srgbClr val="5EEAD4"/>
                </a:solidFill>
              </a:rPr>
              <a:t>Context → Requirement → Input → Logic → Version → Constraints → Output → Tests</a:t>
            </a:r>
            <a:endParaRPr lang="en-US" sz="2700" dirty="0"/>
          </a:p>
        </p:txBody>
      </p:sp>
      <p:sp>
        <p:nvSpPr>
          <p:cNvPr id="4" name="Text 2"/>
          <p:cNvSpPr/>
          <p:nvPr/>
        </p:nvSpPr>
        <p:spPr>
          <a:xfrm>
            <a:off x="841248" y="4069080"/>
            <a:ext cx="6126480" cy="594360"/>
          </a:xfrm>
          <a:prstGeom prst="rect">
            <a:avLst/>
          </a:prstGeom>
          <a:noFill/>
          <a:ln/>
        </p:spPr>
        <p:txBody>
          <a:bodyPr wrap="square" lIns="0" tIns="0" rIns="0" bIns="0" rtlCol="0" anchor="ctr"/>
          <a:lstStyle/>
          <a:p>
            <a:pPr marL="0" indent="0">
              <a:buNone/>
            </a:pPr>
            <a:r>
              <a:rPr lang="en-US" sz="1800" dirty="0">
                <a:solidFill>
                  <a:srgbClr val="D7E7F2"/>
                </a:solidFill>
              </a:rPr>
              <a:t>Keep assumptions visible. Verify SAP objects. Test the business result.</a:t>
            </a:r>
            <a:endParaRPr lang="en-US" sz="1800" dirty="0"/>
          </a:p>
        </p:txBody>
      </p:sp>
      <p:pic>
        <p:nvPicPr>
          <p:cNvPr id="5" name="Image 0" descr="/mnt/data/88ad0cf153.png"/>
          <p:cNvPicPr>
            <a:picLocks noChangeAspect="1"/>
          </p:cNvPicPr>
          <p:nvPr/>
        </p:nvPicPr>
        <p:blipFill>
          <a:blip r:embed="rId3"/>
          <a:stretch>
            <a:fillRect/>
          </a:stretch>
        </p:blipFill>
        <p:spPr>
          <a:xfrm>
            <a:off x="7498080" y="594360"/>
            <a:ext cx="4160520" cy="5394960"/>
          </a:xfrm>
          <a:prstGeom prst="rect">
            <a:avLst/>
          </a:prstGeom>
        </p:spPr>
      </p:pic>
      <p:sp>
        <p:nvSpPr>
          <p:cNvPr id="6" name="Text 3"/>
          <p:cNvSpPr/>
          <p:nvPr/>
        </p:nvSpPr>
        <p:spPr>
          <a:xfrm>
            <a:off x="868680" y="5806440"/>
            <a:ext cx="4846320" cy="548640"/>
          </a:xfrm>
          <a:prstGeom prst="rect">
            <a:avLst/>
          </a:prstGeom>
          <a:noFill/>
          <a:ln/>
        </p:spPr>
        <p:txBody>
          <a:bodyPr wrap="square" lIns="0" tIns="0" rIns="0" bIns="0" rtlCol="0" anchor="ctr"/>
          <a:lstStyle/>
          <a:p>
            <a:pPr marL="0" indent="0">
              <a:buNone/>
            </a:pPr>
            <a:r>
              <a:rPr lang="en-US" sz="1300" dirty="0">
                <a:solidFill>
                  <a:srgbClr val="7DD3FC"/>
                </a:solidFill>
              </a:rPr>
              <a:t>SAP HR ABAP Prompt Formulas</a:t>
            </a:r>
            <a:endParaRPr lang="en-US" sz="1300" dirty="0"/>
          </a:p>
          <a:p>
            <a:pPr marL="0" indent="0">
              <a:buNone/>
            </a:pPr>
            <a:r>
              <a:rPr lang="en-US" sz="1300" dirty="0">
                <a:solidFill>
                  <a:srgbClr val="7DD3FC"/>
                </a:solidFill>
              </a:rPr>
              <a:t>100-Slide Learning Tutorial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104</Slides>
  <Notes>104</Notes>
  <HiddenSlides>0</HiddenSlides>
  <MMClips>0</MMClips>
  <ScaleCrop>false</ScaleCrop>
  <HeadingPairs>
    <vt:vector size="4" baseType="variant">
      <vt:variant>
        <vt:lpstr>Theme</vt:lpstr>
      </vt:variant>
      <vt:variant>
        <vt:i4>1</vt:i4>
      </vt:variant>
      <vt:variant>
        <vt:lpstr>Slide Titles</vt:lpstr>
      </vt:variant>
      <vt:variant>
        <vt:i4>104</vt:i4>
      </vt:variant>
    </vt:vector>
  </HeadingPairs>
  <TitlesOfParts>
    <vt:vector size="10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HR ABAP Prompt Formulas - 100 Slide Learning Tutorial</dc:title>
  <dc:subject>Comprehensive learning tutorial with prompt formulas and worked examples</dc:subject>
  <dc:creator>Vamsi Reddy Mullangi</dc:creator>
  <cp:lastModifiedBy>Vamsi Reddy Mullangi</cp:lastModifiedBy>
  <cp:revision>2</cp:revision>
  <dcterms:created xsi:type="dcterms:W3CDTF">2026-10-19T06:03:44Z</dcterms:created>
  <dcterms:modified xsi:type="dcterms:W3CDTF">2026-10-21T07:33:24Z</dcterms:modified>
</cp:coreProperties>
</file>