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slide for the practice deck.,[Sources]
- SAP_HR_ABAP_Prompt_Formulas_for_Better_Code_Generation.docx (user-provided content)
- Visual on this slide was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three-slide structure used for every exercise.,[Sources]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index.,[Sources]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1 challenge.,[Sources]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Step-by-step solution approach for exercise 1.,[Sources]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for exercise 1.,[Sources]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2 challenge.,[Sources]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Step-by-step solution approach for exercise 2.,[Sources]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for exercise 2.,[Sources]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3 challenge.,[Sources]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Step-by-step solution approach for exercise 3.,[Sources]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for exercise 3.,[Sources]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4 challenge.,[Sources]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Step-by-step solution approach for exercise 4.,[Sources]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for exercise 4.,[Sources]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5 challenge.,[Sources]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Step-by-step solution approach for exercise 5.,[Sources]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for exercise 5.,[Sources]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6 challenge.,[Sources]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Step-by-step solution approach for exercise 6.,[Sources]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for exercise 6.,[Sources]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7 challenge.,[Sources]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Step-by-step solution approach for exercise 7.,[Sources]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for exercise 7.,[Sources]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8 challenge.,[Sources]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Step-by-step solution approach for exercise 8.,[Sources]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for exercise 8.,[Sources]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9 challenge.,[Sources]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Step-by-step solution approach for exercise 9.,[Sources]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for exercise 9.,[Sources]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10 challenge.,[Sources]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Step-by-step solution approach for exercise 10.,[Sources]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for exercise 10.,[Sources]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11 challenge.,[Sources]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Step-by-step solution approach for exercise 11.,[Sources]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for exercise 11.,[Sources]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12 challenge.,[Sources]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Step-by-step solution approach for exercise 12.,[Sources]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for exercise 12.,[Sources]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13 challenge.,[Sources]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Step-by-step solution approach for exercise 13.,[Sources]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for exercise 13.,[Sources]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14 challenge.,[Sources]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Step-by-step solution approach for exercise 14.,[Sources]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for exercise 14.,[Sources]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15 challenge.,[Sources]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Step-by-step solution approach for exercise 15.,[Sources]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for exercise 15.,[Sources]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self-review checklist.,[Sources]
- SAP_HR_ABAP_Prompt_Formulas_for_Better_Code_Generation.docx (user-provided content)
[/Sources]</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slide.,[Sources]
- SAP_HR_ABAP_Prompt_Formulas_for_Better_Code_Generation.docx (user-provided content)
- Visual on this slide was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02920" y="6519672"/>
            <a:ext cx="4572000" cy="164592"/>
          </a:xfrm>
          <a:prstGeom prst="rect">
            <a:avLst/>
          </a:prstGeom>
          <a:noFill/>
          <a:ln/>
        </p:spPr>
        <p:txBody>
          <a:bodyPr wrap="square" lIns="0" tIns="0" rIns="0" bIns="0" rtlCol="0" anchor="ctr"/>
          <a:lstStyle/>
          <a:p>
            <a:pPr marL="0" indent="0">
              <a:buNone/>
            </a:pPr>
            <a:r>
              <a:rPr lang="en-US" sz="850" dirty="0">
                <a:solidFill>
                  <a:srgbClr val="7A8494"/>
                </a:solidFill>
              </a:rPr>
              <a:t>SAP HR ABAP Prompt Practice</a:t>
            </a:r>
            <a:endParaRPr lang="en-US" sz="85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a:effectLst/>
      </p:bgPr>
    </p:bg>
    <p:spTree>
      <p:nvGrpSpPr>
        <p:cNvPr id="1" name=""/>
        <p:cNvGrpSpPr/>
        <p:nvPr/>
      </p:nvGrpSpPr>
      <p:grpSpPr>
        <a:xfrm>
          <a:off x="0" y="0"/>
          <a:ext cx="1" cy="1"/>
          <a:chOff x="0" y="0"/>
          <a:chExt cx="1" cy="1"/>
        </a:xfrm>
      </p:grpSpPr>
      <p:pic>
        <p:nvPicPr>
          <p:cNvPr id="2" name="Image 0" descr="/mnt/data/cf2bfb0269.png"/>
          <p:cNvPicPr>
            <a:picLocks noChangeAspect="1"/>
          </p:cNvPicPr>
          <p:nvPr/>
        </p:nvPicPr>
        <p:blipFill>
          <a:blip r:embed="rId3"/>
          <a:stretch>
            <a:fillRect/>
          </a:stretch>
        </p:blipFill>
        <p:spPr>
          <a:xfrm>
            <a:off x="6903720" y="0"/>
            <a:ext cx="5287975" cy="6858000"/>
          </a:xfrm>
          <a:prstGeom prst="rect">
            <a:avLst/>
          </a:prstGeom>
        </p:spPr>
      </p:pic>
      <p:sp>
        <p:nvSpPr>
          <p:cNvPr id="3" name="Shape 0"/>
          <p:cNvSpPr/>
          <p:nvPr/>
        </p:nvSpPr>
        <p:spPr>
          <a:xfrm>
            <a:off x="6629400" y="0"/>
            <a:ext cx="5562295" cy="6858000"/>
          </a:xfrm>
          <a:prstGeom prst="rect">
            <a:avLst/>
          </a:prstGeom>
          <a:solidFill>
            <a:srgbClr val="0B1F33">
              <a:alpha val="58000"/>
            </a:srgbClr>
          </a:solidFill>
          <a:ln w="12700">
            <a:solidFill>
              <a:srgbClr val="0B1F33">
                <a:alpha val="0"/>
              </a:srgbClr>
            </a:solidFill>
            <a:prstDash val="solid"/>
          </a:ln>
        </p:spPr>
      </p:sp>
      <p:sp>
        <p:nvSpPr>
          <p:cNvPr id="4" name="Text 1"/>
          <p:cNvSpPr/>
          <p:nvPr/>
        </p:nvSpPr>
        <p:spPr>
          <a:xfrm>
            <a:off x="777240" y="960120"/>
            <a:ext cx="5669280" cy="502920"/>
          </a:xfrm>
          <a:prstGeom prst="rect">
            <a:avLst/>
          </a:prstGeom>
          <a:noFill/>
          <a:ln/>
        </p:spPr>
        <p:txBody>
          <a:bodyPr wrap="square" lIns="0" tIns="0" rIns="0" bIns="0" rtlCol="0" anchor="ctr"/>
          <a:lstStyle/>
          <a:p>
            <a:pPr marL="0" indent="0">
              <a:buNone/>
            </a:pPr>
            <a:r>
              <a:rPr lang="en-US" sz="3100" b="1" dirty="0">
                <a:solidFill>
                  <a:srgbClr val="FFFFFF"/>
                </a:solidFill>
              </a:rPr>
              <a:t>SAP HR ABAP</a:t>
            </a:r>
            <a:endParaRPr lang="en-US" sz="3100" dirty="0"/>
          </a:p>
        </p:txBody>
      </p:sp>
      <p:sp>
        <p:nvSpPr>
          <p:cNvPr id="5" name="Text 2"/>
          <p:cNvSpPr/>
          <p:nvPr/>
        </p:nvSpPr>
        <p:spPr>
          <a:xfrm>
            <a:off x="777240" y="1627632"/>
            <a:ext cx="5760720" cy="594360"/>
          </a:xfrm>
          <a:prstGeom prst="rect">
            <a:avLst/>
          </a:prstGeom>
          <a:noFill/>
          <a:ln/>
        </p:spPr>
        <p:txBody>
          <a:bodyPr wrap="square" lIns="0" tIns="0" rIns="0" bIns="0" rtlCol="0" anchor="ctr"/>
          <a:lstStyle/>
          <a:p>
            <a:pPr marL="0" indent="0">
              <a:buNone/>
            </a:pPr>
            <a:r>
              <a:rPr lang="en-US" sz="3400" b="1" dirty="0">
                <a:solidFill>
                  <a:srgbClr val="5EEAD4"/>
                </a:solidFill>
              </a:rPr>
              <a:t>Practice Exercises</a:t>
            </a:r>
            <a:endParaRPr lang="en-US" sz="3400" dirty="0"/>
          </a:p>
        </p:txBody>
      </p:sp>
      <p:sp>
        <p:nvSpPr>
          <p:cNvPr id="6" name="Text 3"/>
          <p:cNvSpPr/>
          <p:nvPr/>
        </p:nvSpPr>
        <p:spPr>
          <a:xfrm>
            <a:off x="777240" y="2331720"/>
            <a:ext cx="5669280" cy="475488"/>
          </a:xfrm>
          <a:prstGeom prst="rect">
            <a:avLst/>
          </a:prstGeom>
          <a:noFill/>
          <a:ln/>
        </p:spPr>
        <p:txBody>
          <a:bodyPr wrap="square" lIns="0" tIns="0" rIns="0" bIns="0" rtlCol="0" anchor="ctr"/>
          <a:lstStyle/>
          <a:p>
            <a:pPr marL="0" indent="0">
              <a:buNone/>
            </a:pPr>
            <a:r>
              <a:rPr lang="en-US" sz="2600" b="1" dirty="0">
                <a:solidFill>
                  <a:srgbClr val="F59E0B"/>
                </a:solidFill>
              </a:rPr>
              <a:t>with Step-by-Step Answers</a:t>
            </a:r>
            <a:endParaRPr lang="en-US" sz="2600" dirty="0"/>
          </a:p>
        </p:txBody>
      </p:sp>
      <p:sp>
        <p:nvSpPr>
          <p:cNvPr id="7" name="Text 4"/>
          <p:cNvSpPr/>
          <p:nvPr/>
        </p:nvSpPr>
        <p:spPr>
          <a:xfrm>
            <a:off x="804672" y="3273552"/>
            <a:ext cx="5257800" cy="777240"/>
          </a:xfrm>
          <a:prstGeom prst="rect">
            <a:avLst/>
          </a:prstGeom>
          <a:noFill/>
          <a:ln/>
        </p:spPr>
        <p:txBody>
          <a:bodyPr wrap="square" lIns="0" tIns="0" rIns="0" bIns="0" rtlCol="0" anchor="ctr"/>
          <a:lstStyle/>
          <a:p>
            <a:pPr marL="0" indent="0">
              <a:buNone/>
            </a:pPr>
            <a:r>
              <a:rPr lang="en-US" sz="1700" dirty="0">
                <a:solidFill>
                  <a:srgbClr val="D7E7F2"/>
                </a:solidFill>
              </a:rPr>
              <a:t>15 guided exercises covering prompts, HR data, performance, integration, payroll and debugging</a:t>
            </a:r>
            <a:endParaRPr lang="en-US" sz="1700" dirty="0"/>
          </a:p>
        </p:txBody>
      </p:sp>
      <p:sp>
        <p:nvSpPr>
          <p:cNvPr id="8" name="Shape 5"/>
          <p:cNvSpPr/>
          <p:nvPr/>
        </p:nvSpPr>
        <p:spPr>
          <a:xfrm>
            <a:off x="822960" y="4434840"/>
            <a:ext cx="914400" cy="310896"/>
          </a:xfrm>
          <a:prstGeom prst="roundRect">
            <a:avLst>
              <a:gd name="adj" fmla="val 23529"/>
            </a:avLst>
          </a:prstGeom>
          <a:solidFill>
            <a:srgbClr val="0B5CAD"/>
          </a:solidFill>
          <a:ln w="12700">
            <a:solidFill>
              <a:srgbClr val="0B5CAD"/>
            </a:solidFill>
            <a:prstDash val="solid"/>
          </a:ln>
        </p:spPr>
      </p:sp>
      <p:sp>
        <p:nvSpPr>
          <p:cNvPr id="9" name="Text 6"/>
          <p:cNvSpPr/>
          <p:nvPr/>
        </p:nvSpPr>
        <p:spPr>
          <a:xfrm>
            <a:off x="868680" y="4503420"/>
            <a:ext cx="822960" cy="164592"/>
          </a:xfrm>
          <a:prstGeom prst="rect">
            <a:avLst/>
          </a:prstGeom>
          <a:noFill/>
          <a:ln/>
        </p:spPr>
        <p:txBody>
          <a:bodyPr wrap="square" lIns="0" tIns="0" rIns="0" bIns="0" rtlCol="0" anchor="ctr"/>
          <a:lstStyle/>
          <a:p>
            <a:pPr marL="0" indent="0" algn="ctr">
              <a:buNone/>
            </a:pPr>
            <a:r>
              <a:rPr lang="en-US" sz="900" b="1" dirty="0">
                <a:solidFill>
                  <a:srgbClr val="FFFFFF"/>
                </a:solidFill>
              </a:rPr>
              <a:t>Exercise</a:t>
            </a:r>
            <a:endParaRPr lang="en-US" sz="900" dirty="0"/>
          </a:p>
        </p:txBody>
      </p:sp>
      <p:sp>
        <p:nvSpPr>
          <p:cNvPr id="10" name="Shape 7"/>
          <p:cNvSpPr/>
          <p:nvPr/>
        </p:nvSpPr>
        <p:spPr>
          <a:xfrm>
            <a:off x="1965960" y="4434840"/>
            <a:ext cx="822960" cy="310896"/>
          </a:xfrm>
          <a:prstGeom prst="roundRect">
            <a:avLst>
              <a:gd name="adj" fmla="val 23529"/>
            </a:avLst>
          </a:prstGeom>
          <a:solidFill>
            <a:srgbClr val="F59E0B"/>
          </a:solidFill>
          <a:ln w="12700">
            <a:solidFill>
              <a:srgbClr val="F59E0B"/>
            </a:solidFill>
            <a:prstDash val="solid"/>
          </a:ln>
        </p:spPr>
      </p:sp>
      <p:sp>
        <p:nvSpPr>
          <p:cNvPr id="11" name="Text 8"/>
          <p:cNvSpPr/>
          <p:nvPr/>
        </p:nvSpPr>
        <p:spPr>
          <a:xfrm>
            <a:off x="2011680" y="4503420"/>
            <a:ext cx="731520" cy="164592"/>
          </a:xfrm>
          <a:prstGeom prst="rect">
            <a:avLst/>
          </a:prstGeom>
          <a:noFill/>
          <a:ln/>
        </p:spPr>
        <p:txBody>
          <a:bodyPr wrap="square" lIns="0" tIns="0" rIns="0" bIns="0" rtlCol="0" anchor="ctr"/>
          <a:lstStyle/>
          <a:p>
            <a:pPr marL="0" indent="0" algn="ctr">
              <a:buNone/>
            </a:pPr>
            <a:r>
              <a:rPr lang="en-US" sz="900" b="1" dirty="0">
                <a:solidFill>
                  <a:srgbClr val="FFFFFF"/>
                </a:solidFill>
              </a:rPr>
              <a:t>Think</a:t>
            </a:r>
            <a:endParaRPr lang="en-US" sz="900" dirty="0"/>
          </a:p>
        </p:txBody>
      </p:sp>
      <p:sp>
        <p:nvSpPr>
          <p:cNvPr id="12" name="Shape 9"/>
          <p:cNvSpPr/>
          <p:nvPr/>
        </p:nvSpPr>
        <p:spPr>
          <a:xfrm>
            <a:off x="3017520" y="4434840"/>
            <a:ext cx="822960" cy="310896"/>
          </a:xfrm>
          <a:prstGeom prst="roundRect">
            <a:avLst>
              <a:gd name="adj" fmla="val 23529"/>
            </a:avLst>
          </a:prstGeom>
          <a:solidFill>
            <a:srgbClr val="7C3AED"/>
          </a:solidFill>
          <a:ln w="12700">
            <a:solidFill>
              <a:srgbClr val="7C3AED"/>
            </a:solidFill>
            <a:prstDash val="solid"/>
          </a:ln>
        </p:spPr>
      </p:sp>
      <p:sp>
        <p:nvSpPr>
          <p:cNvPr id="13" name="Text 10"/>
          <p:cNvSpPr/>
          <p:nvPr/>
        </p:nvSpPr>
        <p:spPr>
          <a:xfrm>
            <a:off x="3063240" y="4503420"/>
            <a:ext cx="731520" cy="164592"/>
          </a:xfrm>
          <a:prstGeom prst="rect">
            <a:avLst/>
          </a:prstGeom>
          <a:noFill/>
          <a:ln/>
        </p:spPr>
        <p:txBody>
          <a:bodyPr wrap="square" lIns="0" tIns="0" rIns="0" bIns="0" rtlCol="0" anchor="ctr"/>
          <a:lstStyle/>
          <a:p>
            <a:pPr marL="0" indent="0" algn="ctr">
              <a:buNone/>
            </a:pPr>
            <a:r>
              <a:rPr lang="en-US" sz="900" b="1" dirty="0">
                <a:solidFill>
                  <a:srgbClr val="FFFFFF"/>
                </a:solidFill>
              </a:rPr>
              <a:t>Steps</a:t>
            </a:r>
            <a:endParaRPr lang="en-US" sz="900" dirty="0"/>
          </a:p>
        </p:txBody>
      </p:sp>
      <p:sp>
        <p:nvSpPr>
          <p:cNvPr id="14" name="Shape 11"/>
          <p:cNvSpPr/>
          <p:nvPr/>
        </p:nvSpPr>
        <p:spPr>
          <a:xfrm>
            <a:off x="4069080" y="4434840"/>
            <a:ext cx="1325880" cy="310896"/>
          </a:xfrm>
          <a:prstGeom prst="roundRect">
            <a:avLst>
              <a:gd name="adj" fmla="val 23529"/>
            </a:avLst>
          </a:prstGeom>
          <a:solidFill>
            <a:srgbClr val="15B8A6"/>
          </a:solidFill>
          <a:ln w="12700">
            <a:solidFill>
              <a:srgbClr val="15B8A6"/>
            </a:solidFill>
            <a:prstDash val="solid"/>
          </a:ln>
        </p:spPr>
      </p:sp>
      <p:sp>
        <p:nvSpPr>
          <p:cNvPr id="15" name="Text 12"/>
          <p:cNvSpPr/>
          <p:nvPr/>
        </p:nvSpPr>
        <p:spPr>
          <a:xfrm>
            <a:off x="4114800" y="4503420"/>
            <a:ext cx="1234440" cy="164592"/>
          </a:xfrm>
          <a:prstGeom prst="rect">
            <a:avLst/>
          </a:prstGeom>
          <a:noFill/>
          <a:ln/>
        </p:spPr>
        <p:txBody>
          <a:bodyPr wrap="square" lIns="0" tIns="0" rIns="0" bIns="0" rtlCol="0" anchor="ctr"/>
          <a:lstStyle/>
          <a:p>
            <a:pPr marL="0" indent="0" algn="ctr">
              <a:buNone/>
            </a:pPr>
            <a:r>
              <a:rPr lang="en-US" sz="900" b="1" dirty="0">
                <a:solidFill>
                  <a:srgbClr val="FFFFFF"/>
                </a:solidFill>
              </a:rPr>
              <a:t>Model answer</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How to use the exercises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Each exercise has a challenge slide, a guided reasoning slide and a model-answer slide.</a:t>
            </a:r>
            <a:endParaRPr lang="en-US" sz="1150" dirty="0"/>
          </a:p>
        </p:txBody>
      </p:sp>
      <p:sp>
        <p:nvSpPr>
          <p:cNvPr id="4" name="Shape 2"/>
          <p:cNvSpPr/>
          <p:nvPr/>
        </p:nvSpPr>
        <p:spPr>
          <a:xfrm>
            <a:off x="868680" y="1298448"/>
            <a:ext cx="10469880" cy="676656"/>
          </a:xfrm>
          <a:prstGeom prst="roundRect">
            <a:avLst>
              <a:gd name="adj" fmla="val 10811"/>
            </a:avLst>
          </a:prstGeom>
          <a:solidFill>
            <a:srgbClr val="FFFFFF"/>
          </a:solidFill>
          <a:ln w="12700">
            <a:solidFill>
              <a:srgbClr val="D9E1EA"/>
            </a:solidFill>
            <a:prstDash val="solid"/>
          </a:ln>
        </p:spPr>
      </p:sp>
      <p:sp>
        <p:nvSpPr>
          <p:cNvPr id="5" name="Shape 3"/>
          <p:cNvSpPr/>
          <p:nvPr/>
        </p:nvSpPr>
        <p:spPr>
          <a:xfrm>
            <a:off x="1078992" y="1417320"/>
            <a:ext cx="438912" cy="438912"/>
          </a:xfrm>
          <a:prstGeom prst="ellipse">
            <a:avLst/>
          </a:prstGeom>
          <a:solidFill>
            <a:srgbClr val="15B8A6"/>
          </a:solidFill>
          <a:ln w="12700">
            <a:solidFill>
              <a:srgbClr val="15B8A6"/>
            </a:solidFill>
            <a:prstDash val="solid"/>
          </a:ln>
        </p:spPr>
      </p:sp>
      <p:sp>
        <p:nvSpPr>
          <p:cNvPr id="6" name="Text 4"/>
          <p:cNvSpPr/>
          <p:nvPr/>
        </p:nvSpPr>
        <p:spPr>
          <a:xfrm>
            <a:off x="1078992" y="1536192"/>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7" name="Text 5"/>
          <p:cNvSpPr/>
          <p:nvPr/>
        </p:nvSpPr>
        <p:spPr>
          <a:xfrm>
            <a:off x="1783080" y="1481328"/>
            <a:ext cx="8961120" cy="256032"/>
          </a:xfrm>
          <a:prstGeom prst="rect">
            <a:avLst/>
          </a:prstGeom>
          <a:noFill/>
          <a:ln/>
        </p:spPr>
        <p:txBody>
          <a:bodyPr wrap="square" lIns="0" tIns="0" rIns="0" bIns="0" rtlCol="0" anchor="ctr"/>
          <a:lstStyle/>
          <a:p>
            <a:pPr marL="0" indent="0">
              <a:buNone/>
            </a:pPr>
            <a:r>
              <a:rPr lang="en-US" sz="1600" dirty="0">
                <a:solidFill>
                  <a:srgbClr val="172033"/>
                </a:solidFill>
              </a:rPr>
              <a:t>Read the scenario without looking ahead.</a:t>
            </a:r>
            <a:endParaRPr lang="en-US" sz="1600" dirty="0"/>
          </a:p>
        </p:txBody>
      </p:sp>
      <p:sp>
        <p:nvSpPr>
          <p:cNvPr id="8" name="Shape 6"/>
          <p:cNvSpPr/>
          <p:nvPr/>
        </p:nvSpPr>
        <p:spPr>
          <a:xfrm>
            <a:off x="868680" y="2240280"/>
            <a:ext cx="10469880" cy="676656"/>
          </a:xfrm>
          <a:prstGeom prst="roundRect">
            <a:avLst>
              <a:gd name="adj" fmla="val 10811"/>
            </a:avLst>
          </a:prstGeom>
          <a:solidFill>
            <a:srgbClr val="F0FAF8"/>
          </a:solidFill>
          <a:ln w="12700">
            <a:solidFill>
              <a:srgbClr val="D9E1EA"/>
            </a:solidFill>
            <a:prstDash val="solid"/>
          </a:ln>
        </p:spPr>
      </p:sp>
      <p:sp>
        <p:nvSpPr>
          <p:cNvPr id="9" name="Shape 7"/>
          <p:cNvSpPr/>
          <p:nvPr/>
        </p:nvSpPr>
        <p:spPr>
          <a:xfrm>
            <a:off x="1078992" y="2359152"/>
            <a:ext cx="438912" cy="438912"/>
          </a:xfrm>
          <a:prstGeom prst="ellipse">
            <a:avLst/>
          </a:prstGeom>
          <a:solidFill>
            <a:srgbClr val="15B8A6"/>
          </a:solidFill>
          <a:ln w="12700">
            <a:solidFill>
              <a:srgbClr val="15B8A6"/>
            </a:solidFill>
            <a:prstDash val="solid"/>
          </a:ln>
        </p:spPr>
      </p:sp>
      <p:sp>
        <p:nvSpPr>
          <p:cNvPr id="10" name="Text 8"/>
          <p:cNvSpPr/>
          <p:nvPr/>
        </p:nvSpPr>
        <p:spPr>
          <a:xfrm>
            <a:off x="1078992" y="2478024"/>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1" name="Text 9"/>
          <p:cNvSpPr/>
          <p:nvPr/>
        </p:nvSpPr>
        <p:spPr>
          <a:xfrm>
            <a:off x="1783080" y="2423160"/>
            <a:ext cx="8961120" cy="256032"/>
          </a:xfrm>
          <a:prstGeom prst="rect">
            <a:avLst/>
          </a:prstGeom>
          <a:noFill/>
          <a:ln/>
        </p:spPr>
        <p:txBody>
          <a:bodyPr wrap="square" lIns="0" tIns="0" rIns="0" bIns="0" rtlCol="0" anchor="ctr"/>
          <a:lstStyle/>
          <a:p>
            <a:pPr marL="0" indent="0">
              <a:buNone/>
            </a:pPr>
            <a:r>
              <a:rPr lang="en-US" sz="1600" dirty="0">
                <a:solidFill>
                  <a:srgbClr val="172033"/>
                </a:solidFill>
              </a:rPr>
              <a:t>Draft a prompt using the core formula.</a:t>
            </a:r>
            <a:endParaRPr lang="en-US" sz="1600" dirty="0"/>
          </a:p>
        </p:txBody>
      </p:sp>
      <p:sp>
        <p:nvSpPr>
          <p:cNvPr id="12" name="Shape 10"/>
          <p:cNvSpPr/>
          <p:nvPr/>
        </p:nvSpPr>
        <p:spPr>
          <a:xfrm>
            <a:off x="868680" y="3182112"/>
            <a:ext cx="10469880" cy="676656"/>
          </a:xfrm>
          <a:prstGeom prst="roundRect">
            <a:avLst>
              <a:gd name="adj" fmla="val 10811"/>
            </a:avLst>
          </a:prstGeom>
          <a:solidFill>
            <a:srgbClr val="FFFFFF"/>
          </a:solidFill>
          <a:ln w="12700">
            <a:solidFill>
              <a:srgbClr val="D9E1EA"/>
            </a:solidFill>
            <a:prstDash val="solid"/>
          </a:ln>
        </p:spPr>
      </p:sp>
      <p:sp>
        <p:nvSpPr>
          <p:cNvPr id="13" name="Shape 11"/>
          <p:cNvSpPr/>
          <p:nvPr/>
        </p:nvSpPr>
        <p:spPr>
          <a:xfrm>
            <a:off x="1078992" y="3300984"/>
            <a:ext cx="438912" cy="438912"/>
          </a:xfrm>
          <a:prstGeom prst="ellipse">
            <a:avLst/>
          </a:prstGeom>
          <a:solidFill>
            <a:srgbClr val="15B8A6"/>
          </a:solidFill>
          <a:ln w="12700">
            <a:solidFill>
              <a:srgbClr val="15B8A6"/>
            </a:solidFill>
            <a:prstDash val="solid"/>
          </a:ln>
        </p:spPr>
      </p:sp>
      <p:sp>
        <p:nvSpPr>
          <p:cNvPr id="14" name="Text 12"/>
          <p:cNvSpPr/>
          <p:nvPr/>
        </p:nvSpPr>
        <p:spPr>
          <a:xfrm>
            <a:off x="1078992" y="3419856"/>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5" name="Text 13"/>
          <p:cNvSpPr/>
          <p:nvPr/>
        </p:nvSpPr>
        <p:spPr>
          <a:xfrm>
            <a:off x="1783080" y="3364992"/>
            <a:ext cx="8961120" cy="256032"/>
          </a:xfrm>
          <a:prstGeom prst="rect">
            <a:avLst/>
          </a:prstGeom>
          <a:noFill/>
          <a:ln/>
        </p:spPr>
        <p:txBody>
          <a:bodyPr wrap="square" lIns="0" tIns="0" rIns="0" bIns="0" rtlCol="0" anchor="ctr"/>
          <a:lstStyle/>
          <a:p>
            <a:pPr marL="0" indent="0">
              <a:buNone/>
            </a:pPr>
            <a:r>
              <a:rPr lang="en-US" sz="1600" dirty="0">
                <a:solidFill>
                  <a:srgbClr val="172033"/>
                </a:solidFill>
              </a:rPr>
              <a:t>Compare the draft with the guided steps.</a:t>
            </a:r>
            <a:endParaRPr lang="en-US" sz="1600" dirty="0"/>
          </a:p>
        </p:txBody>
      </p:sp>
      <p:sp>
        <p:nvSpPr>
          <p:cNvPr id="16" name="Shape 14"/>
          <p:cNvSpPr/>
          <p:nvPr/>
        </p:nvSpPr>
        <p:spPr>
          <a:xfrm>
            <a:off x="868680" y="4123944"/>
            <a:ext cx="10469880" cy="676656"/>
          </a:xfrm>
          <a:prstGeom prst="roundRect">
            <a:avLst>
              <a:gd name="adj" fmla="val 10811"/>
            </a:avLst>
          </a:prstGeom>
          <a:solidFill>
            <a:srgbClr val="F0FAF8"/>
          </a:solidFill>
          <a:ln w="12700">
            <a:solidFill>
              <a:srgbClr val="D9E1EA"/>
            </a:solidFill>
            <a:prstDash val="solid"/>
          </a:ln>
        </p:spPr>
      </p:sp>
      <p:sp>
        <p:nvSpPr>
          <p:cNvPr id="17" name="Shape 15"/>
          <p:cNvSpPr/>
          <p:nvPr/>
        </p:nvSpPr>
        <p:spPr>
          <a:xfrm>
            <a:off x="1078992" y="4242816"/>
            <a:ext cx="438912" cy="438912"/>
          </a:xfrm>
          <a:prstGeom prst="ellipse">
            <a:avLst/>
          </a:prstGeom>
          <a:solidFill>
            <a:srgbClr val="15B8A6"/>
          </a:solidFill>
          <a:ln w="12700">
            <a:solidFill>
              <a:srgbClr val="15B8A6"/>
            </a:solidFill>
            <a:prstDash val="solid"/>
          </a:ln>
        </p:spPr>
      </p:sp>
      <p:sp>
        <p:nvSpPr>
          <p:cNvPr id="18" name="Text 16"/>
          <p:cNvSpPr/>
          <p:nvPr/>
        </p:nvSpPr>
        <p:spPr>
          <a:xfrm>
            <a:off x="1078992" y="4361688"/>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19" name="Text 17"/>
          <p:cNvSpPr/>
          <p:nvPr/>
        </p:nvSpPr>
        <p:spPr>
          <a:xfrm>
            <a:off x="1783080" y="4306824"/>
            <a:ext cx="8961120" cy="256032"/>
          </a:xfrm>
          <a:prstGeom prst="rect">
            <a:avLst/>
          </a:prstGeom>
          <a:noFill/>
          <a:ln/>
        </p:spPr>
        <p:txBody>
          <a:bodyPr wrap="square" lIns="0" tIns="0" rIns="0" bIns="0" rtlCol="0" anchor="ctr"/>
          <a:lstStyle/>
          <a:p>
            <a:pPr marL="0" indent="0">
              <a:buNone/>
            </a:pPr>
            <a:r>
              <a:rPr lang="en-US" sz="1600" dirty="0">
                <a:solidFill>
                  <a:srgbClr val="172033"/>
                </a:solidFill>
              </a:rPr>
              <a:t>Review the model answer and improve the draft.</a:t>
            </a:r>
            <a:endParaRPr lang="en-US" sz="1600" dirty="0"/>
          </a:p>
        </p:txBody>
      </p:sp>
      <p:sp>
        <p:nvSpPr>
          <p:cNvPr id="20" name="Shape 18"/>
          <p:cNvSpPr/>
          <p:nvPr/>
        </p:nvSpPr>
        <p:spPr>
          <a:xfrm>
            <a:off x="868680" y="5065776"/>
            <a:ext cx="10469880" cy="676656"/>
          </a:xfrm>
          <a:prstGeom prst="roundRect">
            <a:avLst>
              <a:gd name="adj" fmla="val 10811"/>
            </a:avLst>
          </a:prstGeom>
          <a:solidFill>
            <a:srgbClr val="FFFFFF"/>
          </a:solidFill>
          <a:ln w="12700">
            <a:solidFill>
              <a:srgbClr val="D9E1EA"/>
            </a:solidFill>
            <a:prstDash val="solid"/>
          </a:ln>
        </p:spPr>
      </p:sp>
      <p:sp>
        <p:nvSpPr>
          <p:cNvPr id="21" name="Shape 19"/>
          <p:cNvSpPr/>
          <p:nvPr/>
        </p:nvSpPr>
        <p:spPr>
          <a:xfrm>
            <a:off x="1078992" y="5184648"/>
            <a:ext cx="438912" cy="438912"/>
          </a:xfrm>
          <a:prstGeom prst="ellipse">
            <a:avLst/>
          </a:prstGeom>
          <a:solidFill>
            <a:srgbClr val="F59E0B"/>
          </a:solidFill>
          <a:ln w="12700">
            <a:solidFill>
              <a:srgbClr val="F59E0B"/>
            </a:solidFill>
            <a:prstDash val="solid"/>
          </a:ln>
        </p:spPr>
      </p:sp>
      <p:sp>
        <p:nvSpPr>
          <p:cNvPr id="22" name="Text 20"/>
          <p:cNvSpPr/>
          <p:nvPr/>
        </p:nvSpPr>
        <p:spPr>
          <a:xfrm>
            <a:off x="1078992" y="5303520"/>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23" name="Text 21"/>
          <p:cNvSpPr/>
          <p:nvPr/>
        </p:nvSpPr>
        <p:spPr>
          <a:xfrm>
            <a:off x="1783080" y="5248656"/>
            <a:ext cx="8961120" cy="256032"/>
          </a:xfrm>
          <a:prstGeom prst="rect">
            <a:avLst/>
          </a:prstGeom>
          <a:noFill/>
          <a:ln/>
        </p:spPr>
        <p:txBody>
          <a:bodyPr wrap="square" lIns="0" tIns="0" rIns="0" bIns="0" rtlCol="0" anchor="ctr"/>
          <a:lstStyle/>
          <a:p>
            <a:pPr marL="0" indent="0">
              <a:buNone/>
            </a:pPr>
            <a:r>
              <a:rPr lang="en-US" sz="1600" dirty="0">
                <a:solidFill>
                  <a:srgbClr val="172033"/>
                </a:solidFill>
              </a:rPr>
              <a:t>Adapt the answer to the actual SAP system.</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index</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The set progresses from foundational prompting to advanced SAP HR scenarios.</a:t>
            </a:r>
            <a:endParaRPr lang="en-US" sz="1150" dirty="0"/>
          </a:p>
        </p:txBody>
      </p:sp>
      <p:sp>
        <p:nvSpPr>
          <p:cNvPr id="4" name="Shape 2"/>
          <p:cNvSpPr/>
          <p:nvPr/>
        </p:nvSpPr>
        <p:spPr>
          <a:xfrm>
            <a:off x="530352" y="1188720"/>
            <a:ext cx="3520440" cy="685800"/>
          </a:xfrm>
          <a:prstGeom prst="roundRect">
            <a:avLst>
              <a:gd name="adj" fmla="val 10667"/>
            </a:avLst>
          </a:prstGeom>
          <a:solidFill>
            <a:srgbClr val="FFFFFF"/>
          </a:solidFill>
          <a:ln w="12700">
            <a:solidFill>
              <a:srgbClr val="D9E1EA"/>
            </a:solidFill>
            <a:prstDash val="solid"/>
          </a:ln>
        </p:spPr>
      </p:sp>
      <p:sp>
        <p:nvSpPr>
          <p:cNvPr id="5" name="Text 3"/>
          <p:cNvSpPr/>
          <p:nvPr/>
        </p:nvSpPr>
        <p:spPr>
          <a:xfrm>
            <a:off x="676656" y="1371600"/>
            <a:ext cx="347472" cy="201168"/>
          </a:xfrm>
          <a:prstGeom prst="rect">
            <a:avLst/>
          </a:prstGeom>
          <a:noFill/>
          <a:ln/>
        </p:spPr>
        <p:txBody>
          <a:bodyPr wrap="square" lIns="0" tIns="0" rIns="0" bIns="0" rtlCol="0" anchor="ctr"/>
          <a:lstStyle/>
          <a:p>
            <a:pPr marL="0" indent="0">
              <a:buNone/>
            </a:pPr>
            <a:r>
              <a:rPr lang="en-US" sz="1100" b="1" dirty="0">
                <a:solidFill>
                  <a:srgbClr val="F59E0B"/>
                </a:solidFill>
              </a:rPr>
              <a:t>01</a:t>
            </a:r>
            <a:endParaRPr lang="en-US" sz="1100" dirty="0"/>
          </a:p>
        </p:txBody>
      </p:sp>
      <p:sp>
        <p:nvSpPr>
          <p:cNvPr id="6" name="Text 4"/>
          <p:cNvSpPr/>
          <p:nvPr/>
        </p:nvSpPr>
        <p:spPr>
          <a:xfrm>
            <a:off x="1124712" y="1307592"/>
            <a:ext cx="2697480" cy="365760"/>
          </a:xfrm>
          <a:prstGeom prst="rect">
            <a:avLst/>
          </a:prstGeom>
          <a:noFill/>
          <a:ln/>
        </p:spPr>
        <p:txBody>
          <a:bodyPr wrap="square" lIns="0" tIns="0" rIns="0" bIns="0" rtlCol="0" anchor="ctr">
            <a:normAutofit/>
          </a:bodyPr>
          <a:lstStyle/>
          <a:p>
            <a:pPr marL="0" indent="0">
              <a:buNone/>
            </a:pPr>
            <a:r>
              <a:rPr lang="en-US" sz="1260" b="1" dirty="0">
                <a:solidFill>
                  <a:srgbClr val="0B1F33"/>
                </a:solidFill>
              </a:rPr>
              <a:t>Improve a vague employee report request</a:t>
            </a:r>
            <a:endParaRPr lang="en-US" sz="1260" dirty="0"/>
          </a:p>
        </p:txBody>
      </p:sp>
      <p:sp>
        <p:nvSpPr>
          <p:cNvPr id="7" name="Shape 5"/>
          <p:cNvSpPr/>
          <p:nvPr/>
        </p:nvSpPr>
        <p:spPr>
          <a:xfrm>
            <a:off x="4370832" y="1188720"/>
            <a:ext cx="3520440" cy="685800"/>
          </a:xfrm>
          <a:prstGeom prst="roundRect">
            <a:avLst>
              <a:gd name="adj" fmla="val 10667"/>
            </a:avLst>
          </a:prstGeom>
          <a:solidFill>
            <a:srgbClr val="F0FAF8"/>
          </a:solidFill>
          <a:ln w="12700">
            <a:solidFill>
              <a:srgbClr val="D9E1EA"/>
            </a:solidFill>
            <a:prstDash val="solid"/>
          </a:ln>
        </p:spPr>
      </p:sp>
      <p:sp>
        <p:nvSpPr>
          <p:cNvPr id="8" name="Text 6"/>
          <p:cNvSpPr/>
          <p:nvPr/>
        </p:nvSpPr>
        <p:spPr>
          <a:xfrm>
            <a:off x="4517136" y="1371600"/>
            <a:ext cx="347472" cy="201168"/>
          </a:xfrm>
          <a:prstGeom prst="rect">
            <a:avLst/>
          </a:prstGeom>
          <a:noFill/>
          <a:ln/>
        </p:spPr>
        <p:txBody>
          <a:bodyPr wrap="square" lIns="0" tIns="0" rIns="0" bIns="0" rtlCol="0" anchor="ctr"/>
          <a:lstStyle/>
          <a:p>
            <a:pPr marL="0" indent="0">
              <a:buNone/>
            </a:pPr>
            <a:r>
              <a:rPr lang="en-US" sz="1100" b="1" dirty="0">
                <a:solidFill>
                  <a:srgbClr val="F59E0B"/>
                </a:solidFill>
              </a:rPr>
              <a:t>02</a:t>
            </a:r>
            <a:endParaRPr lang="en-US" sz="1100" dirty="0"/>
          </a:p>
        </p:txBody>
      </p:sp>
      <p:sp>
        <p:nvSpPr>
          <p:cNvPr id="9" name="Text 7"/>
          <p:cNvSpPr/>
          <p:nvPr/>
        </p:nvSpPr>
        <p:spPr>
          <a:xfrm>
            <a:off x="4965192" y="1307592"/>
            <a:ext cx="2697480" cy="365760"/>
          </a:xfrm>
          <a:prstGeom prst="rect">
            <a:avLst/>
          </a:prstGeom>
          <a:noFill/>
          <a:ln/>
        </p:spPr>
        <p:txBody>
          <a:bodyPr wrap="square" lIns="0" tIns="0" rIns="0" bIns="0" rtlCol="0" anchor="ctr">
            <a:normAutofit/>
          </a:bodyPr>
          <a:lstStyle/>
          <a:p>
            <a:pPr marL="0" indent="0">
              <a:buNone/>
            </a:pPr>
            <a:r>
              <a:rPr lang="en-US" sz="1260" b="1" dirty="0">
                <a:solidFill>
                  <a:srgbClr val="0B1F33"/>
                </a:solidFill>
              </a:rPr>
              <a:t>Complete an infotype validity prompt</a:t>
            </a:r>
            <a:endParaRPr lang="en-US" sz="1260" dirty="0"/>
          </a:p>
        </p:txBody>
      </p:sp>
      <p:sp>
        <p:nvSpPr>
          <p:cNvPr id="10" name="Shape 8"/>
          <p:cNvSpPr/>
          <p:nvPr/>
        </p:nvSpPr>
        <p:spPr>
          <a:xfrm>
            <a:off x="8211312" y="1188720"/>
            <a:ext cx="3520440" cy="685800"/>
          </a:xfrm>
          <a:prstGeom prst="roundRect">
            <a:avLst>
              <a:gd name="adj" fmla="val 10667"/>
            </a:avLst>
          </a:prstGeom>
          <a:solidFill>
            <a:srgbClr val="FFFFFF"/>
          </a:solidFill>
          <a:ln w="12700">
            <a:solidFill>
              <a:srgbClr val="D9E1EA"/>
            </a:solidFill>
            <a:prstDash val="solid"/>
          </a:ln>
        </p:spPr>
      </p:sp>
      <p:sp>
        <p:nvSpPr>
          <p:cNvPr id="11" name="Text 9"/>
          <p:cNvSpPr/>
          <p:nvPr/>
        </p:nvSpPr>
        <p:spPr>
          <a:xfrm>
            <a:off x="8357616" y="1371600"/>
            <a:ext cx="347472" cy="201168"/>
          </a:xfrm>
          <a:prstGeom prst="rect">
            <a:avLst/>
          </a:prstGeom>
          <a:noFill/>
          <a:ln/>
        </p:spPr>
        <p:txBody>
          <a:bodyPr wrap="square" lIns="0" tIns="0" rIns="0" bIns="0" rtlCol="0" anchor="ctr"/>
          <a:lstStyle/>
          <a:p>
            <a:pPr marL="0" indent="0">
              <a:buNone/>
            </a:pPr>
            <a:r>
              <a:rPr lang="en-US" sz="1100" b="1" dirty="0">
                <a:solidFill>
                  <a:srgbClr val="F59E0B"/>
                </a:solidFill>
              </a:rPr>
              <a:t>03</a:t>
            </a:r>
            <a:endParaRPr lang="en-US" sz="1100" dirty="0"/>
          </a:p>
        </p:txBody>
      </p:sp>
      <p:sp>
        <p:nvSpPr>
          <p:cNvPr id="12" name="Text 10"/>
          <p:cNvSpPr/>
          <p:nvPr/>
        </p:nvSpPr>
        <p:spPr>
          <a:xfrm>
            <a:off x="8805672" y="1307592"/>
            <a:ext cx="2697480" cy="365760"/>
          </a:xfrm>
          <a:prstGeom prst="rect">
            <a:avLst/>
          </a:prstGeom>
          <a:noFill/>
          <a:ln/>
        </p:spPr>
        <p:txBody>
          <a:bodyPr wrap="square" lIns="0" tIns="0" rIns="0" bIns="0" rtlCol="0" anchor="ctr">
            <a:normAutofit/>
          </a:bodyPr>
          <a:lstStyle/>
          <a:p>
            <a:pPr marL="0" indent="0">
              <a:buNone/>
            </a:pPr>
            <a:r>
              <a:rPr lang="en-US" sz="1260" b="1" dirty="0">
                <a:solidFill>
                  <a:srgbClr val="0B1F33"/>
                </a:solidFill>
              </a:rPr>
              <a:t>Design a production-ready ALV prompt</a:t>
            </a:r>
            <a:endParaRPr lang="en-US" sz="1260" dirty="0"/>
          </a:p>
        </p:txBody>
      </p:sp>
      <p:sp>
        <p:nvSpPr>
          <p:cNvPr id="13" name="Shape 11"/>
          <p:cNvSpPr/>
          <p:nvPr/>
        </p:nvSpPr>
        <p:spPr>
          <a:xfrm>
            <a:off x="530352" y="2121408"/>
            <a:ext cx="3520440" cy="685800"/>
          </a:xfrm>
          <a:prstGeom prst="roundRect">
            <a:avLst>
              <a:gd name="adj" fmla="val 10667"/>
            </a:avLst>
          </a:prstGeom>
          <a:solidFill>
            <a:srgbClr val="F0FAF8"/>
          </a:solidFill>
          <a:ln w="12700">
            <a:solidFill>
              <a:srgbClr val="D9E1EA"/>
            </a:solidFill>
            <a:prstDash val="solid"/>
          </a:ln>
        </p:spPr>
      </p:sp>
      <p:sp>
        <p:nvSpPr>
          <p:cNvPr id="14" name="Text 12"/>
          <p:cNvSpPr/>
          <p:nvPr/>
        </p:nvSpPr>
        <p:spPr>
          <a:xfrm>
            <a:off x="676656" y="2304288"/>
            <a:ext cx="347472" cy="201168"/>
          </a:xfrm>
          <a:prstGeom prst="rect">
            <a:avLst/>
          </a:prstGeom>
          <a:noFill/>
          <a:ln/>
        </p:spPr>
        <p:txBody>
          <a:bodyPr wrap="square" lIns="0" tIns="0" rIns="0" bIns="0" rtlCol="0" anchor="ctr"/>
          <a:lstStyle/>
          <a:p>
            <a:pPr marL="0" indent="0">
              <a:buNone/>
            </a:pPr>
            <a:r>
              <a:rPr lang="en-US" sz="1100" b="1" dirty="0">
                <a:solidFill>
                  <a:srgbClr val="F59E0B"/>
                </a:solidFill>
              </a:rPr>
              <a:t>04</a:t>
            </a:r>
            <a:endParaRPr lang="en-US" sz="1100" dirty="0"/>
          </a:p>
        </p:txBody>
      </p:sp>
      <p:sp>
        <p:nvSpPr>
          <p:cNvPr id="15" name="Text 13"/>
          <p:cNvSpPr/>
          <p:nvPr/>
        </p:nvSpPr>
        <p:spPr>
          <a:xfrm>
            <a:off x="1124712" y="2240280"/>
            <a:ext cx="2697480" cy="365760"/>
          </a:xfrm>
          <a:prstGeom prst="rect">
            <a:avLst/>
          </a:prstGeom>
          <a:noFill/>
          <a:ln/>
        </p:spPr>
        <p:txBody>
          <a:bodyPr wrap="square" lIns="0" tIns="0" rIns="0" bIns="0" rtlCol="0" anchor="ctr">
            <a:normAutofit/>
          </a:bodyPr>
          <a:lstStyle/>
          <a:p>
            <a:pPr marL="0" indent="0">
              <a:buNone/>
            </a:pPr>
            <a:r>
              <a:rPr lang="en-US" sz="1260" b="1" dirty="0">
                <a:solidFill>
                  <a:srgbClr val="0B1F33"/>
                </a:solidFill>
              </a:rPr>
              <a:t>Convert modern ABAP to ABAP 7.0</a:t>
            </a:r>
            <a:endParaRPr lang="en-US" sz="1260" dirty="0"/>
          </a:p>
        </p:txBody>
      </p:sp>
      <p:sp>
        <p:nvSpPr>
          <p:cNvPr id="16" name="Shape 14"/>
          <p:cNvSpPr/>
          <p:nvPr/>
        </p:nvSpPr>
        <p:spPr>
          <a:xfrm>
            <a:off x="4370832" y="2121408"/>
            <a:ext cx="3520440" cy="685800"/>
          </a:xfrm>
          <a:prstGeom prst="roundRect">
            <a:avLst>
              <a:gd name="adj" fmla="val 10667"/>
            </a:avLst>
          </a:prstGeom>
          <a:solidFill>
            <a:srgbClr val="FFFFFF"/>
          </a:solidFill>
          <a:ln w="12700">
            <a:solidFill>
              <a:srgbClr val="D9E1EA"/>
            </a:solidFill>
            <a:prstDash val="solid"/>
          </a:ln>
        </p:spPr>
      </p:sp>
      <p:sp>
        <p:nvSpPr>
          <p:cNvPr id="17" name="Text 15"/>
          <p:cNvSpPr/>
          <p:nvPr/>
        </p:nvSpPr>
        <p:spPr>
          <a:xfrm>
            <a:off x="4517136" y="2304288"/>
            <a:ext cx="347472" cy="201168"/>
          </a:xfrm>
          <a:prstGeom prst="rect">
            <a:avLst/>
          </a:prstGeom>
          <a:noFill/>
          <a:ln/>
        </p:spPr>
        <p:txBody>
          <a:bodyPr wrap="square" lIns="0" tIns="0" rIns="0" bIns="0" rtlCol="0" anchor="ctr"/>
          <a:lstStyle/>
          <a:p>
            <a:pPr marL="0" indent="0">
              <a:buNone/>
            </a:pPr>
            <a:r>
              <a:rPr lang="en-US" sz="1100" b="1" dirty="0">
                <a:solidFill>
                  <a:srgbClr val="F59E0B"/>
                </a:solidFill>
              </a:rPr>
              <a:t>05</a:t>
            </a:r>
            <a:endParaRPr lang="en-US" sz="1100" dirty="0"/>
          </a:p>
        </p:txBody>
      </p:sp>
      <p:sp>
        <p:nvSpPr>
          <p:cNvPr id="18" name="Text 16"/>
          <p:cNvSpPr/>
          <p:nvPr/>
        </p:nvSpPr>
        <p:spPr>
          <a:xfrm>
            <a:off x="4965192" y="2240280"/>
            <a:ext cx="2697480" cy="365760"/>
          </a:xfrm>
          <a:prstGeom prst="rect">
            <a:avLst/>
          </a:prstGeom>
          <a:noFill/>
          <a:ln/>
        </p:spPr>
        <p:txBody>
          <a:bodyPr wrap="square" lIns="0" tIns="0" rIns="0" bIns="0" rtlCol="0" anchor="ctr">
            <a:normAutofit/>
          </a:bodyPr>
          <a:lstStyle/>
          <a:p>
            <a:pPr marL="0" indent="0">
              <a:buNone/>
            </a:pPr>
            <a:r>
              <a:rPr lang="en-US" sz="1260" b="1" dirty="0">
                <a:solidFill>
                  <a:srgbClr val="0B1F33"/>
                </a:solidFill>
              </a:rPr>
              <a:t>Review SELECT inside LOOP</a:t>
            </a:r>
            <a:endParaRPr lang="en-US" sz="1260" dirty="0"/>
          </a:p>
        </p:txBody>
      </p:sp>
      <p:sp>
        <p:nvSpPr>
          <p:cNvPr id="19" name="Shape 17"/>
          <p:cNvSpPr/>
          <p:nvPr/>
        </p:nvSpPr>
        <p:spPr>
          <a:xfrm>
            <a:off x="8211312" y="2121408"/>
            <a:ext cx="3520440" cy="685800"/>
          </a:xfrm>
          <a:prstGeom prst="roundRect">
            <a:avLst>
              <a:gd name="adj" fmla="val 10667"/>
            </a:avLst>
          </a:prstGeom>
          <a:solidFill>
            <a:srgbClr val="F0FAF8"/>
          </a:solidFill>
          <a:ln w="12700">
            <a:solidFill>
              <a:srgbClr val="D9E1EA"/>
            </a:solidFill>
            <a:prstDash val="solid"/>
          </a:ln>
        </p:spPr>
      </p:sp>
      <p:sp>
        <p:nvSpPr>
          <p:cNvPr id="20" name="Text 18"/>
          <p:cNvSpPr/>
          <p:nvPr/>
        </p:nvSpPr>
        <p:spPr>
          <a:xfrm>
            <a:off x="8357616" y="2304288"/>
            <a:ext cx="347472" cy="201168"/>
          </a:xfrm>
          <a:prstGeom prst="rect">
            <a:avLst/>
          </a:prstGeom>
          <a:noFill/>
          <a:ln/>
        </p:spPr>
        <p:txBody>
          <a:bodyPr wrap="square" lIns="0" tIns="0" rIns="0" bIns="0" rtlCol="0" anchor="ctr"/>
          <a:lstStyle/>
          <a:p>
            <a:pPr marL="0" indent="0">
              <a:buNone/>
            </a:pPr>
            <a:r>
              <a:rPr lang="en-US" sz="1100" b="1" dirty="0">
                <a:solidFill>
                  <a:srgbClr val="F59E0B"/>
                </a:solidFill>
              </a:rPr>
              <a:t>06</a:t>
            </a:r>
            <a:endParaRPr lang="en-US" sz="1100" dirty="0"/>
          </a:p>
        </p:txBody>
      </p:sp>
      <p:sp>
        <p:nvSpPr>
          <p:cNvPr id="21" name="Text 19"/>
          <p:cNvSpPr/>
          <p:nvPr/>
        </p:nvSpPr>
        <p:spPr>
          <a:xfrm>
            <a:off x="8805672" y="2240280"/>
            <a:ext cx="2697480" cy="365760"/>
          </a:xfrm>
          <a:prstGeom prst="rect">
            <a:avLst/>
          </a:prstGeom>
          <a:noFill/>
          <a:ln/>
        </p:spPr>
        <p:txBody>
          <a:bodyPr wrap="square" lIns="0" tIns="0" rIns="0" bIns="0" rtlCol="0" anchor="ctr">
            <a:normAutofit/>
          </a:bodyPr>
          <a:lstStyle/>
          <a:p>
            <a:pPr marL="0" indent="0">
              <a:buNone/>
            </a:pPr>
            <a:r>
              <a:rPr lang="en-US" sz="1260" b="1" dirty="0">
                <a:solidFill>
                  <a:srgbClr val="0B1F33"/>
                </a:solidFill>
              </a:rPr>
              <a:t>Make FOR ALL ENTRIES safe</a:t>
            </a:r>
            <a:endParaRPr lang="en-US" sz="1260" dirty="0"/>
          </a:p>
        </p:txBody>
      </p:sp>
      <p:sp>
        <p:nvSpPr>
          <p:cNvPr id="22" name="Shape 20"/>
          <p:cNvSpPr/>
          <p:nvPr/>
        </p:nvSpPr>
        <p:spPr>
          <a:xfrm>
            <a:off x="530352" y="3054096"/>
            <a:ext cx="3520440" cy="685800"/>
          </a:xfrm>
          <a:prstGeom prst="roundRect">
            <a:avLst>
              <a:gd name="adj" fmla="val 10667"/>
            </a:avLst>
          </a:prstGeom>
          <a:solidFill>
            <a:srgbClr val="FFFFFF"/>
          </a:solidFill>
          <a:ln w="12700">
            <a:solidFill>
              <a:srgbClr val="D9E1EA"/>
            </a:solidFill>
            <a:prstDash val="solid"/>
          </a:ln>
        </p:spPr>
      </p:sp>
      <p:sp>
        <p:nvSpPr>
          <p:cNvPr id="23" name="Text 21"/>
          <p:cNvSpPr/>
          <p:nvPr/>
        </p:nvSpPr>
        <p:spPr>
          <a:xfrm>
            <a:off x="676656" y="3236976"/>
            <a:ext cx="347472" cy="201168"/>
          </a:xfrm>
          <a:prstGeom prst="rect">
            <a:avLst/>
          </a:prstGeom>
          <a:noFill/>
          <a:ln/>
        </p:spPr>
        <p:txBody>
          <a:bodyPr wrap="square" lIns="0" tIns="0" rIns="0" bIns="0" rtlCol="0" anchor="ctr"/>
          <a:lstStyle/>
          <a:p>
            <a:pPr marL="0" indent="0">
              <a:buNone/>
            </a:pPr>
            <a:r>
              <a:rPr lang="en-US" sz="1100" b="1" dirty="0">
                <a:solidFill>
                  <a:srgbClr val="F59E0B"/>
                </a:solidFill>
              </a:rPr>
              <a:t>07</a:t>
            </a:r>
            <a:endParaRPr lang="en-US" sz="1100" dirty="0"/>
          </a:p>
        </p:txBody>
      </p:sp>
      <p:sp>
        <p:nvSpPr>
          <p:cNvPr id="24" name="Text 22"/>
          <p:cNvSpPr/>
          <p:nvPr/>
        </p:nvSpPr>
        <p:spPr>
          <a:xfrm>
            <a:off x="1124712" y="3172968"/>
            <a:ext cx="2697480" cy="365760"/>
          </a:xfrm>
          <a:prstGeom prst="rect">
            <a:avLst/>
          </a:prstGeom>
          <a:noFill/>
          <a:ln/>
        </p:spPr>
        <p:txBody>
          <a:bodyPr wrap="square" lIns="0" tIns="0" rIns="0" bIns="0" rtlCol="0" anchor="ctr">
            <a:normAutofit/>
          </a:bodyPr>
          <a:lstStyle/>
          <a:p>
            <a:pPr marL="0" indent="0">
              <a:buNone/>
            </a:pPr>
            <a:r>
              <a:rPr lang="en-US" sz="1260" b="1" dirty="0">
                <a:solidFill>
                  <a:srgbClr val="0B1F33"/>
                </a:solidFill>
              </a:rPr>
              <a:t>Choose an internal table type</a:t>
            </a:r>
            <a:endParaRPr lang="en-US" sz="1260" dirty="0"/>
          </a:p>
        </p:txBody>
      </p:sp>
      <p:sp>
        <p:nvSpPr>
          <p:cNvPr id="25" name="Shape 23"/>
          <p:cNvSpPr/>
          <p:nvPr/>
        </p:nvSpPr>
        <p:spPr>
          <a:xfrm>
            <a:off x="4370832" y="3054096"/>
            <a:ext cx="3520440" cy="685800"/>
          </a:xfrm>
          <a:prstGeom prst="roundRect">
            <a:avLst>
              <a:gd name="adj" fmla="val 10667"/>
            </a:avLst>
          </a:prstGeom>
          <a:solidFill>
            <a:srgbClr val="F0FAF8"/>
          </a:solidFill>
          <a:ln w="12700">
            <a:solidFill>
              <a:srgbClr val="D9E1EA"/>
            </a:solidFill>
            <a:prstDash val="solid"/>
          </a:ln>
        </p:spPr>
      </p:sp>
      <p:sp>
        <p:nvSpPr>
          <p:cNvPr id="26" name="Text 24"/>
          <p:cNvSpPr/>
          <p:nvPr/>
        </p:nvSpPr>
        <p:spPr>
          <a:xfrm>
            <a:off x="4517136" y="3236976"/>
            <a:ext cx="347472" cy="201168"/>
          </a:xfrm>
          <a:prstGeom prst="rect">
            <a:avLst/>
          </a:prstGeom>
          <a:noFill/>
          <a:ln/>
        </p:spPr>
        <p:txBody>
          <a:bodyPr wrap="square" lIns="0" tIns="0" rIns="0" bIns="0" rtlCol="0" anchor="ctr"/>
          <a:lstStyle/>
          <a:p>
            <a:pPr marL="0" indent="0">
              <a:buNone/>
            </a:pPr>
            <a:r>
              <a:rPr lang="en-US" sz="1100" b="1" dirty="0">
                <a:solidFill>
                  <a:srgbClr val="F59E0B"/>
                </a:solidFill>
              </a:rPr>
              <a:t>08</a:t>
            </a:r>
            <a:endParaRPr lang="en-US" sz="1100" dirty="0"/>
          </a:p>
        </p:txBody>
      </p:sp>
      <p:sp>
        <p:nvSpPr>
          <p:cNvPr id="27" name="Text 25"/>
          <p:cNvSpPr/>
          <p:nvPr/>
        </p:nvSpPr>
        <p:spPr>
          <a:xfrm>
            <a:off x="4965192" y="3172968"/>
            <a:ext cx="2697480" cy="365760"/>
          </a:xfrm>
          <a:prstGeom prst="rect">
            <a:avLst/>
          </a:prstGeom>
          <a:noFill/>
          <a:ln/>
        </p:spPr>
        <p:txBody>
          <a:bodyPr wrap="square" lIns="0" tIns="0" rIns="0" bIns="0" rtlCol="0" anchor="ctr">
            <a:normAutofit/>
          </a:bodyPr>
          <a:lstStyle/>
          <a:p>
            <a:pPr marL="0" indent="0">
              <a:buNone/>
            </a:pPr>
            <a:r>
              <a:rPr lang="en-US" sz="1260" b="1" dirty="0">
                <a:solidFill>
                  <a:srgbClr val="0B1F33"/>
                </a:solidFill>
              </a:rPr>
              <a:t>Create an RFC read-service prompt</a:t>
            </a:r>
            <a:endParaRPr lang="en-US" sz="1260" dirty="0"/>
          </a:p>
        </p:txBody>
      </p:sp>
      <p:sp>
        <p:nvSpPr>
          <p:cNvPr id="28" name="Shape 26"/>
          <p:cNvSpPr/>
          <p:nvPr/>
        </p:nvSpPr>
        <p:spPr>
          <a:xfrm>
            <a:off x="8211312" y="3054096"/>
            <a:ext cx="3520440" cy="685800"/>
          </a:xfrm>
          <a:prstGeom prst="roundRect">
            <a:avLst>
              <a:gd name="adj" fmla="val 10667"/>
            </a:avLst>
          </a:prstGeom>
          <a:solidFill>
            <a:srgbClr val="FFFFFF"/>
          </a:solidFill>
          <a:ln w="12700">
            <a:solidFill>
              <a:srgbClr val="D9E1EA"/>
            </a:solidFill>
            <a:prstDash val="solid"/>
          </a:ln>
        </p:spPr>
      </p:sp>
      <p:sp>
        <p:nvSpPr>
          <p:cNvPr id="29" name="Text 27"/>
          <p:cNvSpPr/>
          <p:nvPr/>
        </p:nvSpPr>
        <p:spPr>
          <a:xfrm>
            <a:off x="8357616" y="3236976"/>
            <a:ext cx="347472" cy="201168"/>
          </a:xfrm>
          <a:prstGeom prst="rect">
            <a:avLst/>
          </a:prstGeom>
          <a:noFill/>
          <a:ln/>
        </p:spPr>
        <p:txBody>
          <a:bodyPr wrap="square" lIns="0" tIns="0" rIns="0" bIns="0" rtlCol="0" anchor="ctr"/>
          <a:lstStyle/>
          <a:p>
            <a:pPr marL="0" indent="0">
              <a:buNone/>
            </a:pPr>
            <a:r>
              <a:rPr lang="en-US" sz="1100" b="1" dirty="0">
                <a:solidFill>
                  <a:srgbClr val="F59E0B"/>
                </a:solidFill>
              </a:rPr>
              <a:t>09</a:t>
            </a:r>
            <a:endParaRPr lang="en-US" sz="1100" dirty="0"/>
          </a:p>
        </p:txBody>
      </p:sp>
      <p:sp>
        <p:nvSpPr>
          <p:cNvPr id="30" name="Text 28"/>
          <p:cNvSpPr/>
          <p:nvPr/>
        </p:nvSpPr>
        <p:spPr>
          <a:xfrm>
            <a:off x="8805672" y="3172968"/>
            <a:ext cx="2697480" cy="365760"/>
          </a:xfrm>
          <a:prstGeom prst="rect">
            <a:avLst/>
          </a:prstGeom>
          <a:noFill/>
          <a:ln/>
        </p:spPr>
        <p:txBody>
          <a:bodyPr wrap="square" lIns="0" tIns="0" rIns="0" bIns="0" rtlCol="0" anchor="ctr">
            <a:normAutofit/>
          </a:bodyPr>
          <a:lstStyle/>
          <a:p>
            <a:pPr marL="0" indent="0">
              <a:buNone/>
            </a:pPr>
            <a:r>
              <a:rPr lang="en-US" sz="1260" b="1" dirty="0">
                <a:solidFill>
                  <a:srgbClr val="0B1F33"/>
                </a:solidFill>
              </a:rPr>
              <a:t>Add transaction control to an update wrapper</a:t>
            </a:r>
            <a:endParaRPr lang="en-US" sz="1260" dirty="0"/>
          </a:p>
        </p:txBody>
      </p:sp>
      <p:sp>
        <p:nvSpPr>
          <p:cNvPr id="31" name="Shape 29"/>
          <p:cNvSpPr/>
          <p:nvPr/>
        </p:nvSpPr>
        <p:spPr>
          <a:xfrm>
            <a:off x="530352" y="3986784"/>
            <a:ext cx="3520440" cy="685800"/>
          </a:xfrm>
          <a:prstGeom prst="roundRect">
            <a:avLst>
              <a:gd name="adj" fmla="val 10667"/>
            </a:avLst>
          </a:prstGeom>
          <a:solidFill>
            <a:srgbClr val="F0FAF8"/>
          </a:solidFill>
          <a:ln w="12700">
            <a:solidFill>
              <a:srgbClr val="D9E1EA"/>
            </a:solidFill>
            <a:prstDash val="solid"/>
          </a:ln>
        </p:spPr>
      </p:sp>
      <p:sp>
        <p:nvSpPr>
          <p:cNvPr id="32" name="Text 30"/>
          <p:cNvSpPr/>
          <p:nvPr/>
        </p:nvSpPr>
        <p:spPr>
          <a:xfrm>
            <a:off x="676656" y="4169664"/>
            <a:ext cx="347472" cy="201168"/>
          </a:xfrm>
          <a:prstGeom prst="rect">
            <a:avLst/>
          </a:prstGeom>
          <a:noFill/>
          <a:ln/>
        </p:spPr>
        <p:txBody>
          <a:bodyPr wrap="square" lIns="0" tIns="0" rIns="0" bIns="0" rtlCol="0" anchor="ctr"/>
          <a:lstStyle/>
          <a:p>
            <a:pPr marL="0" indent="0">
              <a:buNone/>
            </a:pPr>
            <a:r>
              <a:rPr lang="en-US" sz="1100" b="1" dirty="0">
                <a:solidFill>
                  <a:srgbClr val="F59E0B"/>
                </a:solidFill>
              </a:rPr>
              <a:t>10</a:t>
            </a:r>
            <a:endParaRPr lang="en-US" sz="1100" dirty="0"/>
          </a:p>
        </p:txBody>
      </p:sp>
      <p:sp>
        <p:nvSpPr>
          <p:cNvPr id="33" name="Text 31"/>
          <p:cNvSpPr/>
          <p:nvPr/>
        </p:nvSpPr>
        <p:spPr>
          <a:xfrm>
            <a:off x="1124712" y="4105656"/>
            <a:ext cx="2697480" cy="365760"/>
          </a:xfrm>
          <a:prstGeom prst="rect">
            <a:avLst/>
          </a:prstGeom>
          <a:noFill/>
          <a:ln/>
        </p:spPr>
        <p:txBody>
          <a:bodyPr wrap="square" lIns="0" tIns="0" rIns="0" bIns="0" rtlCol="0" anchor="ctr">
            <a:normAutofit/>
          </a:bodyPr>
          <a:lstStyle/>
          <a:p>
            <a:pPr marL="0" indent="0">
              <a:buNone/>
            </a:pPr>
            <a:r>
              <a:rPr lang="en-US" sz="1260" b="1" dirty="0">
                <a:solidFill>
                  <a:srgbClr val="0B1F33"/>
                </a:solidFill>
              </a:rPr>
              <a:t>Design JSON mapping instructions</a:t>
            </a:r>
            <a:endParaRPr lang="en-US" sz="1260" dirty="0"/>
          </a:p>
        </p:txBody>
      </p:sp>
      <p:sp>
        <p:nvSpPr>
          <p:cNvPr id="34" name="Shape 32"/>
          <p:cNvSpPr/>
          <p:nvPr/>
        </p:nvSpPr>
        <p:spPr>
          <a:xfrm>
            <a:off x="4370832" y="3986784"/>
            <a:ext cx="3520440" cy="685800"/>
          </a:xfrm>
          <a:prstGeom prst="roundRect">
            <a:avLst>
              <a:gd name="adj" fmla="val 10667"/>
            </a:avLst>
          </a:prstGeom>
          <a:solidFill>
            <a:srgbClr val="FFFFFF"/>
          </a:solidFill>
          <a:ln w="12700">
            <a:solidFill>
              <a:srgbClr val="D9E1EA"/>
            </a:solidFill>
            <a:prstDash val="solid"/>
          </a:ln>
        </p:spPr>
      </p:sp>
      <p:sp>
        <p:nvSpPr>
          <p:cNvPr id="35" name="Text 33"/>
          <p:cNvSpPr/>
          <p:nvPr/>
        </p:nvSpPr>
        <p:spPr>
          <a:xfrm>
            <a:off x="4517136" y="4169664"/>
            <a:ext cx="347472" cy="201168"/>
          </a:xfrm>
          <a:prstGeom prst="rect">
            <a:avLst/>
          </a:prstGeom>
          <a:noFill/>
          <a:ln/>
        </p:spPr>
        <p:txBody>
          <a:bodyPr wrap="square" lIns="0" tIns="0" rIns="0" bIns="0" rtlCol="0" anchor="ctr"/>
          <a:lstStyle/>
          <a:p>
            <a:pPr marL="0" indent="0">
              <a:buNone/>
            </a:pPr>
            <a:r>
              <a:rPr lang="en-US" sz="1100" b="1" dirty="0">
                <a:solidFill>
                  <a:srgbClr val="F59E0B"/>
                </a:solidFill>
              </a:rPr>
              <a:t>11</a:t>
            </a:r>
            <a:endParaRPr lang="en-US" sz="1100" dirty="0"/>
          </a:p>
        </p:txBody>
      </p:sp>
      <p:sp>
        <p:nvSpPr>
          <p:cNvPr id="36" name="Text 34"/>
          <p:cNvSpPr/>
          <p:nvPr/>
        </p:nvSpPr>
        <p:spPr>
          <a:xfrm>
            <a:off x="4965192" y="4105656"/>
            <a:ext cx="2697480" cy="365760"/>
          </a:xfrm>
          <a:prstGeom prst="rect">
            <a:avLst/>
          </a:prstGeom>
          <a:noFill/>
          <a:ln/>
        </p:spPr>
        <p:txBody>
          <a:bodyPr wrap="square" lIns="0" tIns="0" rIns="0" bIns="0" rtlCol="0" anchor="ctr">
            <a:normAutofit/>
          </a:bodyPr>
          <a:lstStyle/>
          <a:p>
            <a:pPr marL="0" indent="0">
              <a:buNone/>
            </a:pPr>
            <a:r>
              <a:rPr lang="en-US" sz="1260" b="1" dirty="0">
                <a:solidFill>
                  <a:srgbClr val="0B1F33"/>
                </a:solidFill>
              </a:rPr>
              <a:t>Request payroll result extraction</a:t>
            </a:r>
            <a:endParaRPr lang="en-US" sz="1260" dirty="0"/>
          </a:p>
        </p:txBody>
      </p:sp>
      <p:sp>
        <p:nvSpPr>
          <p:cNvPr id="37" name="Shape 35"/>
          <p:cNvSpPr/>
          <p:nvPr/>
        </p:nvSpPr>
        <p:spPr>
          <a:xfrm>
            <a:off x="8211312" y="3986784"/>
            <a:ext cx="3520440" cy="685800"/>
          </a:xfrm>
          <a:prstGeom prst="roundRect">
            <a:avLst>
              <a:gd name="adj" fmla="val 10667"/>
            </a:avLst>
          </a:prstGeom>
          <a:solidFill>
            <a:srgbClr val="F0FAF8"/>
          </a:solidFill>
          <a:ln w="12700">
            <a:solidFill>
              <a:srgbClr val="D9E1EA"/>
            </a:solidFill>
            <a:prstDash val="solid"/>
          </a:ln>
        </p:spPr>
      </p:sp>
      <p:sp>
        <p:nvSpPr>
          <p:cNvPr id="38" name="Text 36"/>
          <p:cNvSpPr/>
          <p:nvPr/>
        </p:nvSpPr>
        <p:spPr>
          <a:xfrm>
            <a:off x="8357616" y="4169664"/>
            <a:ext cx="347472" cy="201168"/>
          </a:xfrm>
          <a:prstGeom prst="rect">
            <a:avLst/>
          </a:prstGeom>
          <a:noFill/>
          <a:ln/>
        </p:spPr>
        <p:txBody>
          <a:bodyPr wrap="square" lIns="0" tIns="0" rIns="0" bIns="0" rtlCol="0" anchor="ctr"/>
          <a:lstStyle/>
          <a:p>
            <a:pPr marL="0" indent="0">
              <a:buNone/>
            </a:pPr>
            <a:r>
              <a:rPr lang="en-US" sz="1100" b="1" dirty="0">
                <a:solidFill>
                  <a:srgbClr val="F59E0B"/>
                </a:solidFill>
              </a:rPr>
              <a:t>12</a:t>
            </a:r>
            <a:endParaRPr lang="en-US" sz="1100" dirty="0"/>
          </a:p>
        </p:txBody>
      </p:sp>
      <p:sp>
        <p:nvSpPr>
          <p:cNvPr id="39" name="Text 37"/>
          <p:cNvSpPr/>
          <p:nvPr/>
        </p:nvSpPr>
        <p:spPr>
          <a:xfrm>
            <a:off x="8805672" y="4105656"/>
            <a:ext cx="2697480" cy="365760"/>
          </a:xfrm>
          <a:prstGeom prst="rect">
            <a:avLst/>
          </a:prstGeom>
          <a:noFill/>
          <a:ln/>
        </p:spPr>
        <p:txBody>
          <a:bodyPr wrap="square" lIns="0" tIns="0" rIns="0" bIns="0" rtlCol="0" anchor="ctr">
            <a:normAutofit/>
          </a:bodyPr>
          <a:lstStyle/>
          <a:p>
            <a:pPr marL="0" indent="0">
              <a:buNone/>
            </a:pPr>
            <a:r>
              <a:rPr lang="en-US" sz="1260" b="1" dirty="0">
                <a:solidFill>
                  <a:srgbClr val="0B1F33"/>
                </a:solidFill>
              </a:rPr>
              <a:t>Trace a blank statutory-output field</a:t>
            </a:r>
            <a:endParaRPr lang="en-US" sz="1260" dirty="0"/>
          </a:p>
        </p:txBody>
      </p:sp>
      <p:sp>
        <p:nvSpPr>
          <p:cNvPr id="40" name="Shape 38"/>
          <p:cNvSpPr/>
          <p:nvPr/>
        </p:nvSpPr>
        <p:spPr>
          <a:xfrm>
            <a:off x="530352" y="4919472"/>
            <a:ext cx="3520440" cy="685800"/>
          </a:xfrm>
          <a:prstGeom prst="roundRect">
            <a:avLst>
              <a:gd name="adj" fmla="val 10667"/>
            </a:avLst>
          </a:prstGeom>
          <a:solidFill>
            <a:srgbClr val="FFFFFF"/>
          </a:solidFill>
          <a:ln w="12700">
            <a:solidFill>
              <a:srgbClr val="D9E1EA"/>
            </a:solidFill>
            <a:prstDash val="solid"/>
          </a:ln>
        </p:spPr>
      </p:sp>
      <p:sp>
        <p:nvSpPr>
          <p:cNvPr id="41" name="Text 39"/>
          <p:cNvSpPr/>
          <p:nvPr/>
        </p:nvSpPr>
        <p:spPr>
          <a:xfrm>
            <a:off x="676656" y="5102352"/>
            <a:ext cx="347472" cy="201168"/>
          </a:xfrm>
          <a:prstGeom prst="rect">
            <a:avLst/>
          </a:prstGeom>
          <a:noFill/>
          <a:ln/>
        </p:spPr>
        <p:txBody>
          <a:bodyPr wrap="square" lIns="0" tIns="0" rIns="0" bIns="0" rtlCol="0" anchor="ctr"/>
          <a:lstStyle/>
          <a:p>
            <a:pPr marL="0" indent="0">
              <a:buNone/>
            </a:pPr>
            <a:r>
              <a:rPr lang="en-US" sz="1100" b="1" dirty="0">
                <a:solidFill>
                  <a:srgbClr val="F59E0B"/>
                </a:solidFill>
              </a:rPr>
              <a:t>13</a:t>
            </a:r>
            <a:endParaRPr lang="en-US" sz="1100" dirty="0"/>
          </a:p>
        </p:txBody>
      </p:sp>
      <p:sp>
        <p:nvSpPr>
          <p:cNvPr id="42" name="Text 40"/>
          <p:cNvSpPr/>
          <p:nvPr/>
        </p:nvSpPr>
        <p:spPr>
          <a:xfrm>
            <a:off x="1124712" y="5038344"/>
            <a:ext cx="2697480" cy="365760"/>
          </a:xfrm>
          <a:prstGeom prst="rect">
            <a:avLst/>
          </a:prstGeom>
          <a:noFill/>
          <a:ln/>
        </p:spPr>
        <p:txBody>
          <a:bodyPr wrap="square" lIns="0" tIns="0" rIns="0" bIns="0" rtlCol="0" anchor="ctr">
            <a:normAutofit/>
          </a:bodyPr>
          <a:lstStyle/>
          <a:p>
            <a:pPr marL="0" indent="0">
              <a:buNone/>
            </a:pPr>
            <a:r>
              <a:rPr lang="en-US" sz="1260" b="1" dirty="0">
                <a:solidFill>
                  <a:srgbClr val="0B1F33"/>
                </a:solidFill>
              </a:rPr>
              <a:t>Create a code-review prompt</a:t>
            </a:r>
            <a:endParaRPr lang="en-US" sz="1260" dirty="0"/>
          </a:p>
        </p:txBody>
      </p:sp>
      <p:sp>
        <p:nvSpPr>
          <p:cNvPr id="43" name="Shape 41"/>
          <p:cNvSpPr/>
          <p:nvPr/>
        </p:nvSpPr>
        <p:spPr>
          <a:xfrm>
            <a:off x="4370832" y="4919472"/>
            <a:ext cx="3520440" cy="685800"/>
          </a:xfrm>
          <a:prstGeom prst="roundRect">
            <a:avLst>
              <a:gd name="adj" fmla="val 10667"/>
            </a:avLst>
          </a:prstGeom>
          <a:solidFill>
            <a:srgbClr val="F0FAF8"/>
          </a:solidFill>
          <a:ln w="12700">
            <a:solidFill>
              <a:srgbClr val="D9E1EA"/>
            </a:solidFill>
            <a:prstDash val="solid"/>
          </a:ln>
        </p:spPr>
      </p:sp>
      <p:sp>
        <p:nvSpPr>
          <p:cNvPr id="44" name="Text 42"/>
          <p:cNvSpPr/>
          <p:nvPr/>
        </p:nvSpPr>
        <p:spPr>
          <a:xfrm>
            <a:off x="4517136" y="5102352"/>
            <a:ext cx="347472" cy="201168"/>
          </a:xfrm>
          <a:prstGeom prst="rect">
            <a:avLst/>
          </a:prstGeom>
          <a:noFill/>
          <a:ln/>
        </p:spPr>
        <p:txBody>
          <a:bodyPr wrap="square" lIns="0" tIns="0" rIns="0" bIns="0" rtlCol="0" anchor="ctr"/>
          <a:lstStyle/>
          <a:p>
            <a:pPr marL="0" indent="0">
              <a:buNone/>
            </a:pPr>
            <a:r>
              <a:rPr lang="en-US" sz="1100" b="1" dirty="0">
                <a:solidFill>
                  <a:srgbClr val="F59E0B"/>
                </a:solidFill>
              </a:rPr>
              <a:t>14</a:t>
            </a:r>
            <a:endParaRPr lang="en-US" sz="1100" dirty="0"/>
          </a:p>
        </p:txBody>
      </p:sp>
      <p:sp>
        <p:nvSpPr>
          <p:cNvPr id="45" name="Text 43"/>
          <p:cNvSpPr/>
          <p:nvPr/>
        </p:nvSpPr>
        <p:spPr>
          <a:xfrm>
            <a:off x="4965192" y="5038344"/>
            <a:ext cx="2697480" cy="365760"/>
          </a:xfrm>
          <a:prstGeom prst="rect">
            <a:avLst/>
          </a:prstGeom>
          <a:noFill/>
          <a:ln/>
        </p:spPr>
        <p:txBody>
          <a:bodyPr wrap="square" lIns="0" tIns="0" rIns="0" bIns="0" rtlCol="0" anchor="ctr">
            <a:normAutofit/>
          </a:bodyPr>
          <a:lstStyle/>
          <a:p>
            <a:pPr marL="0" indent="0">
              <a:buNone/>
            </a:pPr>
            <a:r>
              <a:rPr lang="en-US" sz="1260" b="1" dirty="0">
                <a:solidFill>
                  <a:srgbClr val="0B1F33"/>
                </a:solidFill>
              </a:rPr>
              <a:t>Decide whether CDS is suitable</a:t>
            </a:r>
            <a:endParaRPr lang="en-US" sz="1260" dirty="0"/>
          </a:p>
        </p:txBody>
      </p:sp>
      <p:sp>
        <p:nvSpPr>
          <p:cNvPr id="46" name="Shape 44"/>
          <p:cNvSpPr/>
          <p:nvPr/>
        </p:nvSpPr>
        <p:spPr>
          <a:xfrm>
            <a:off x="8211312" y="4919472"/>
            <a:ext cx="3520440" cy="685800"/>
          </a:xfrm>
          <a:prstGeom prst="roundRect">
            <a:avLst>
              <a:gd name="adj" fmla="val 10667"/>
            </a:avLst>
          </a:prstGeom>
          <a:solidFill>
            <a:srgbClr val="FFFFFF"/>
          </a:solidFill>
          <a:ln w="12700">
            <a:solidFill>
              <a:srgbClr val="D9E1EA"/>
            </a:solidFill>
            <a:prstDash val="solid"/>
          </a:ln>
        </p:spPr>
      </p:sp>
      <p:sp>
        <p:nvSpPr>
          <p:cNvPr id="47" name="Text 45"/>
          <p:cNvSpPr/>
          <p:nvPr/>
        </p:nvSpPr>
        <p:spPr>
          <a:xfrm>
            <a:off x="8357616" y="5102352"/>
            <a:ext cx="347472" cy="201168"/>
          </a:xfrm>
          <a:prstGeom prst="rect">
            <a:avLst/>
          </a:prstGeom>
          <a:noFill/>
          <a:ln/>
        </p:spPr>
        <p:txBody>
          <a:bodyPr wrap="square" lIns="0" tIns="0" rIns="0" bIns="0" rtlCol="0" anchor="ctr"/>
          <a:lstStyle/>
          <a:p>
            <a:pPr marL="0" indent="0">
              <a:buNone/>
            </a:pPr>
            <a:r>
              <a:rPr lang="en-US" sz="1100" b="1" dirty="0">
                <a:solidFill>
                  <a:srgbClr val="F59E0B"/>
                </a:solidFill>
              </a:rPr>
              <a:t>15</a:t>
            </a:r>
            <a:endParaRPr lang="en-US" sz="1100" dirty="0"/>
          </a:p>
        </p:txBody>
      </p:sp>
      <p:sp>
        <p:nvSpPr>
          <p:cNvPr id="48" name="Text 46"/>
          <p:cNvSpPr/>
          <p:nvPr/>
        </p:nvSpPr>
        <p:spPr>
          <a:xfrm>
            <a:off x="8805672" y="5038344"/>
            <a:ext cx="2697480" cy="365760"/>
          </a:xfrm>
          <a:prstGeom prst="rect">
            <a:avLst/>
          </a:prstGeom>
          <a:noFill/>
          <a:ln/>
        </p:spPr>
        <p:txBody>
          <a:bodyPr wrap="square" lIns="0" tIns="0" rIns="0" bIns="0" rtlCol="0" anchor="ctr">
            <a:normAutofit/>
          </a:bodyPr>
          <a:lstStyle/>
          <a:p>
            <a:pPr marL="0" indent="0">
              <a:buNone/>
            </a:pPr>
            <a:r>
              <a:rPr lang="en-US" sz="1260" b="1" dirty="0">
                <a:solidFill>
                  <a:srgbClr val="0B1F33"/>
                </a:solidFill>
              </a:rPr>
              <a:t>Build acceptance criteria for generated code</a:t>
            </a:r>
            <a:endParaRPr lang="en-US" sz="1260" dirty="0"/>
          </a:p>
        </p:txBody>
      </p:sp>
      <p:sp>
        <p:nvSpPr>
          <p:cNvPr id="49"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1: Improve a vague employee report request</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Level: Foundation</a:t>
            </a:r>
            <a:endParaRPr lang="en-US" sz="1150" dirty="0"/>
          </a:p>
        </p:txBody>
      </p:sp>
      <p:sp>
        <p:nvSpPr>
          <p:cNvPr id="4" name="Shape 2"/>
          <p:cNvSpPr/>
          <p:nvPr/>
        </p:nvSpPr>
        <p:spPr>
          <a:xfrm>
            <a:off x="685800" y="1234440"/>
            <a:ext cx="3703320" cy="4800600"/>
          </a:xfrm>
          <a:prstGeom prst="roundRect">
            <a:avLst>
              <a:gd name="adj" fmla="val 1975"/>
            </a:avLst>
          </a:prstGeom>
          <a:solidFill>
            <a:srgbClr val="EEF5FB"/>
          </a:solidFill>
          <a:ln w="12700">
            <a:solidFill>
              <a:srgbClr val="D9E1EA"/>
            </a:solidFill>
            <a:prstDash val="solid"/>
          </a:ln>
        </p:spPr>
      </p:sp>
      <p:sp>
        <p:nvSpPr>
          <p:cNvPr id="5" name="Shape 3"/>
          <p:cNvSpPr/>
          <p:nvPr/>
        </p:nvSpPr>
        <p:spPr>
          <a:xfrm>
            <a:off x="932688" y="1508760"/>
            <a:ext cx="1143000" cy="310896"/>
          </a:xfrm>
          <a:prstGeom prst="roundRect">
            <a:avLst>
              <a:gd name="adj" fmla="val 23529"/>
            </a:avLst>
          </a:prstGeom>
          <a:solidFill>
            <a:srgbClr val="0B5CAD"/>
          </a:solidFill>
          <a:ln w="12700">
            <a:solidFill>
              <a:srgbClr val="0B5CAD"/>
            </a:solidFill>
            <a:prstDash val="solid"/>
          </a:ln>
        </p:spPr>
      </p:sp>
      <p:sp>
        <p:nvSpPr>
          <p:cNvPr id="6" name="Text 4"/>
          <p:cNvSpPr/>
          <p:nvPr/>
        </p:nvSpPr>
        <p:spPr>
          <a:xfrm>
            <a:off x="978408" y="1577340"/>
            <a:ext cx="1051560" cy="164592"/>
          </a:xfrm>
          <a:prstGeom prst="rect">
            <a:avLst/>
          </a:prstGeom>
          <a:noFill/>
          <a:ln/>
        </p:spPr>
        <p:txBody>
          <a:bodyPr wrap="square" lIns="0" tIns="0" rIns="0" bIns="0" rtlCol="0" anchor="ctr"/>
          <a:lstStyle/>
          <a:p>
            <a:pPr marL="0" indent="0" algn="ctr">
              <a:buNone/>
            </a:pPr>
            <a:r>
              <a:rPr lang="en-US" sz="900" b="1" dirty="0">
                <a:solidFill>
                  <a:srgbClr val="FFFFFF"/>
                </a:solidFill>
              </a:rPr>
              <a:t>SCENARIO</a:t>
            </a:r>
            <a:endParaRPr lang="en-US" sz="900" dirty="0"/>
          </a:p>
        </p:txBody>
      </p:sp>
      <p:sp>
        <p:nvSpPr>
          <p:cNvPr id="7" name="Text 5"/>
          <p:cNvSpPr/>
          <p:nvPr/>
        </p:nvSpPr>
        <p:spPr>
          <a:xfrm>
            <a:off x="960120" y="2148840"/>
            <a:ext cx="3154680" cy="2057400"/>
          </a:xfrm>
          <a:prstGeom prst="rect">
            <a:avLst/>
          </a:prstGeom>
          <a:noFill/>
          <a:ln/>
        </p:spPr>
        <p:txBody>
          <a:bodyPr wrap="square" lIns="0" tIns="0" rIns="0" bIns="0" rtlCol="0" anchor="ctr"/>
          <a:lstStyle/>
          <a:p>
            <a:pPr marL="0" indent="0" algn="ctr">
              <a:buNone/>
            </a:pPr>
            <a:r>
              <a:rPr lang="en-US" sz="1700" b="1" dirty="0">
                <a:solidFill>
                  <a:srgbClr val="172033"/>
                </a:solidFill>
              </a:rPr>
              <a:t>A requester writes: “Create an employee report.”</a:t>
            </a:r>
            <a:endParaRPr lang="en-US" sz="1700" dirty="0"/>
          </a:p>
        </p:txBody>
      </p:sp>
      <p:sp>
        <p:nvSpPr>
          <p:cNvPr id="8" name="Shape 6"/>
          <p:cNvSpPr/>
          <p:nvPr/>
        </p:nvSpPr>
        <p:spPr>
          <a:xfrm>
            <a:off x="4590288" y="1234440"/>
            <a:ext cx="6903720" cy="4800600"/>
          </a:xfrm>
          <a:prstGeom prst="roundRect">
            <a:avLst>
              <a:gd name="adj" fmla="val 1524"/>
            </a:avLst>
          </a:prstGeom>
          <a:solidFill>
            <a:srgbClr val="FFF9ED"/>
          </a:solidFill>
          <a:ln w="12700">
            <a:solidFill>
              <a:srgbClr val="F2D89C"/>
            </a:solidFill>
            <a:prstDash val="solid"/>
          </a:ln>
        </p:spPr>
      </p:sp>
      <p:sp>
        <p:nvSpPr>
          <p:cNvPr id="9" name="Shape 7"/>
          <p:cNvSpPr/>
          <p:nvPr/>
        </p:nvSpPr>
        <p:spPr>
          <a:xfrm>
            <a:off x="4873752" y="1508760"/>
            <a:ext cx="1188720" cy="310896"/>
          </a:xfrm>
          <a:prstGeom prst="roundRect">
            <a:avLst>
              <a:gd name="adj" fmla="val 23529"/>
            </a:avLst>
          </a:prstGeom>
          <a:solidFill>
            <a:srgbClr val="F59E0B"/>
          </a:solidFill>
          <a:ln w="12700">
            <a:solidFill>
              <a:srgbClr val="F59E0B"/>
            </a:solidFill>
            <a:prstDash val="solid"/>
          </a:ln>
        </p:spPr>
      </p:sp>
      <p:sp>
        <p:nvSpPr>
          <p:cNvPr id="10" name="Text 8"/>
          <p:cNvSpPr/>
          <p:nvPr/>
        </p:nvSpPr>
        <p:spPr>
          <a:xfrm>
            <a:off x="4919472" y="1577340"/>
            <a:ext cx="1097280" cy="164592"/>
          </a:xfrm>
          <a:prstGeom prst="rect">
            <a:avLst/>
          </a:prstGeom>
          <a:noFill/>
          <a:ln/>
        </p:spPr>
        <p:txBody>
          <a:bodyPr wrap="square" lIns="0" tIns="0" rIns="0" bIns="0" rtlCol="0" anchor="ctr"/>
          <a:lstStyle/>
          <a:p>
            <a:pPr marL="0" indent="0" algn="ctr">
              <a:buNone/>
            </a:pPr>
            <a:r>
              <a:rPr lang="en-US" sz="900" b="1" dirty="0">
                <a:solidFill>
                  <a:srgbClr val="FFFFFF"/>
                </a:solidFill>
              </a:rPr>
              <a:t>YOUR TASK</a:t>
            </a:r>
            <a:endParaRPr lang="en-US" sz="900" dirty="0"/>
          </a:p>
        </p:txBody>
      </p:sp>
      <p:sp>
        <p:nvSpPr>
          <p:cNvPr id="11" name="Shape 9"/>
          <p:cNvSpPr/>
          <p:nvPr/>
        </p:nvSpPr>
        <p:spPr>
          <a:xfrm>
            <a:off x="4937760" y="2313432"/>
            <a:ext cx="192024" cy="192024"/>
          </a:xfrm>
          <a:prstGeom prst="ellipse">
            <a:avLst/>
          </a:prstGeom>
          <a:solidFill>
            <a:srgbClr val="15B8A6"/>
          </a:solidFill>
          <a:ln w="12700">
            <a:solidFill>
              <a:srgbClr val="15B8A6"/>
            </a:solidFill>
            <a:prstDash val="solid"/>
          </a:ln>
        </p:spPr>
      </p:sp>
      <p:sp>
        <p:nvSpPr>
          <p:cNvPr id="12" name="Text 10"/>
          <p:cNvSpPr/>
          <p:nvPr/>
        </p:nvSpPr>
        <p:spPr>
          <a:xfrm>
            <a:off x="5266944" y="224028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Identify at least six missing details.</a:t>
            </a:r>
            <a:endParaRPr lang="en-US" sz="1600" dirty="0"/>
          </a:p>
        </p:txBody>
      </p:sp>
      <p:sp>
        <p:nvSpPr>
          <p:cNvPr id="13" name="Shape 11"/>
          <p:cNvSpPr/>
          <p:nvPr/>
        </p:nvSpPr>
        <p:spPr>
          <a:xfrm>
            <a:off x="4937760" y="3136392"/>
            <a:ext cx="192024" cy="192024"/>
          </a:xfrm>
          <a:prstGeom prst="ellipse">
            <a:avLst/>
          </a:prstGeom>
          <a:solidFill>
            <a:srgbClr val="15B8A6"/>
          </a:solidFill>
          <a:ln w="12700">
            <a:solidFill>
              <a:srgbClr val="15B8A6"/>
            </a:solidFill>
            <a:prstDash val="solid"/>
          </a:ln>
        </p:spPr>
      </p:sp>
      <p:sp>
        <p:nvSpPr>
          <p:cNvPr id="14" name="Text 12"/>
          <p:cNvSpPr/>
          <p:nvPr/>
        </p:nvSpPr>
        <p:spPr>
          <a:xfrm>
            <a:off x="5266944" y="306324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Rewrite the request using the core formula.</a:t>
            </a:r>
            <a:endParaRPr lang="en-US" sz="1600" dirty="0"/>
          </a:p>
        </p:txBody>
      </p:sp>
      <p:sp>
        <p:nvSpPr>
          <p:cNvPr id="15" name="Shape 13"/>
          <p:cNvSpPr/>
          <p:nvPr/>
        </p:nvSpPr>
        <p:spPr>
          <a:xfrm>
            <a:off x="4937760" y="3959352"/>
            <a:ext cx="192024" cy="192024"/>
          </a:xfrm>
          <a:prstGeom prst="ellipse">
            <a:avLst/>
          </a:prstGeom>
          <a:solidFill>
            <a:srgbClr val="15B8A6"/>
          </a:solidFill>
          <a:ln w="12700">
            <a:solidFill>
              <a:srgbClr val="15B8A6"/>
            </a:solidFill>
            <a:prstDash val="solid"/>
          </a:ln>
        </p:spPr>
      </p:sp>
      <p:sp>
        <p:nvSpPr>
          <p:cNvPr id="16" name="Text 14"/>
          <p:cNvSpPr/>
          <p:nvPr/>
        </p:nvSpPr>
        <p:spPr>
          <a:xfrm>
            <a:off x="5266944" y="388620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Add one acceptance criterion.</a:t>
            </a:r>
            <a:endParaRPr lang="en-US" sz="1600" dirty="0"/>
          </a:p>
        </p:txBody>
      </p:sp>
      <p:sp>
        <p:nvSpPr>
          <p:cNvPr id="17" name="Text 15"/>
          <p:cNvSpPr/>
          <p:nvPr/>
        </p:nvSpPr>
        <p:spPr>
          <a:xfrm>
            <a:off x="4983480" y="5166360"/>
            <a:ext cx="5852160" cy="411480"/>
          </a:xfrm>
          <a:prstGeom prst="rect">
            <a:avLst/>
          </a:prstGeom>
          <a:noFill/>
          <a:ln/>
        </p:spPr>
        <p:txBody>
          <a:bodyPr wrap="square" lIns="0" tIns="0" rIns="0" bIns="0" rtlCol="0" anchor="ctr"/>
          <a:lstStyle/>
          <a:p>
            <a:pPr marL="0" indent="0" algn="ctr">
              <a:buNone/>
            </a:pPr>
            <a:r>
              <a:rPr lang="en-US" sz="1400" b="1" dirty="0">
                <a:solidFill>
                  <a:srgbClr val="D14343"/>
                </a:solidFill>
              </a:rPr>
              <a:t>Pause here and create your answer before moving to the next slide.</a:t>
            </a:r>
            <a:endParaRPr lang="en-US" sz="14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1: Guided steps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Build the answer one decision at a time.</a:t>
            </a:r>
            <a:endParaRPr lang="en-US" sz="1150" dirty="0"/>
          </a:p>
        </p:txBody>
      </p:sp>
      <p:sp>
        <p:nvSpPr>
          <p:cNvPr id="4" name="Shape 2"/>
          <p:cNvSpPr/>
          <p:nvPr/>
        </p:nvSpPr>
        <p:spPr>
          <a:xfrm>
            <a:off x="786384" y="1225296"/>
            <a:ext cx="10561320" cy="685800"/>
          </a:xfrm>
          <a:prstGeom prst="roundRect">
            <a:avLst>
              <a:gd name="adj" fmla="val 10667"/>
            </a:avLst>
          </a:prstGeom>
          <a:solidFill>
            <a:srgbClr val="FFFFFF"/>
          </a:solidFill>
          <a:ln w="12700">
            <a:solidFill>
              <a:srgbClr val="D9E1EA"/>
            </a:solidFill>
            <a:prstDash val="solid"/>
          </a:ln>
        </p:spPr>
      </p:sp>
      <p:sp>
        <p:nvSpPr>
          <p:cNvPr id="5" name="Shape 3"/>
          <p:cNvSpPr/>
          <p:nvPr/>
        </p:nvSpPr>
        <p:spPr>
          <a:xfrm>
            <a:off x="1005840" y="1344168"/>
            <a:ext cx="438912" cy="438912"/>
          </a:xfrm>
          <a:prstGeom prst="ellipse">
            <a:avLst/>
          </a:prstGeom>
          <a:solidFill>
            <a:srgbClr val="15B8A6"/>
          </a:solidFill>
          <a:ln w="12700">
            <a:solidFill>
              <a:srgbClr val="15B8A6"/>
            </a:solidFill>
            <a:prstDash val="solid"/>
          </a:ln>
        </p:spPr>
      </p:sp>
      <p:sp>
        <p:nvSpPr>
          <p:cNvPr id="6" name="Text 4"/>
          <p:cNvSpPr/>
          <p:nvPr/>
        </p:nvSpPr>
        <p:spPr>
          <a:xfrm>
            <a:off x="1005840" y="1463040"/>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7" name="Text 5"/>
          <p:cNvSpPr/>
          <p:nvPr/>
        </p:nvSpPr>
        <p:spPr>
          <a:xfrm>
            <a:off x="1737360" y="1399032"/>
            <a:ext cx="9098280" cy="274320"/>
          </a:xfrm>
          <a:prstGeom prst="rect">
            <a:avLst/>
          </a:prstGeom>
          <a:noFill/>
          <a:ln/>
        </p:spPr>
        <p:txBody>
          <a:bodyPr wrap="square" lIns="0" tIns="0" rIns="0" bIns="0" rtlCol="0" anchor="ctr"/>
          <a:lstStyle/>
          <a:p>
            <a:pPr marL="0" indent="0">
              <a:buNone/>
            </a:pPr>
            <a:r>
              <a:rPr lang="en-US" sz="1600" dirty="0">
                <a:solidFill>
                  <a:srgbClr val="172033"/>
                </a:solidFill>
              </a:rPr>
              <a:t>Define the object: executable report.</a:t>
            </a:r>
            <a:endParaRPr lang="en-US" sz="1600" dirty="0"/>
          </a:p>
        </p:txBody>
      </p:sp>
      <p:sp>
        <p:nvSpPr>
          <p:cNvPr id="8" name="Shape 6"/>
          <p:cNvSpPr/>
          <p:nvPr/>
        </p:nvSpPr>
        <p:spPr>
          <a:xfrm>
            <a:off x="786384" y="2157984"/>
            <a:ext cx="10561320" cy="685800"/>
          </a:xfrm>
          <a:prstGeom prst="roundRect">
            <a:avLst>
              <a:gd name="adj" fmla="val 10667"/>
            </a:avLst>
          </a:prstGeom>
          <a:solidFill>
            <a:srgbClr val="F0FAF8"/>
          </a:solidFill>
          <a:ln w="12700">
            <a:solidFill>
              <a:srgbClr val="D9E1EA"/>
            </a:solidFill>
            <a:prstDash val="solid"/>
          </a:ln>
        </p:spPr>
      </p:sp>
      <p:sp>
        <p:nvSpPr>
          <p:cNvPr id="9" name="Shape 7"/>
          <p:cNvSpPr/>
          <p:nvPr/>
        </p:nvSpPr>
        <p:spPr>
          <a:xfrm>
            <a:off x="1005840" y="2276856"/>
            <a:ext cx="438912" cy="438912"/>
          </a:xfrm>
          <a:prstGeom prst="ellipse">
            <a:avLst/>
          </a:prstGeom>
          <a:solidFill>
            <a:srgbClr val="15B8A6"/>
          </a:solidFill>
          <a:ln w="12700">
            <a:solidFill>
              <a:srgbClr val="15B8A6"/>
            </a:solidFill>
            <a:prstDash val="solid"/>
          </a:ln>
        </p:spPr>
      </p:sp>
      <p:sp>
        <p:nvSpPr>
          <p:cNvPr id="10" name="Text 8"/>
          <p:cNvSpPr/>
          <p:nvPr/>
        </p:nvSpPr>
        <p:spPr>
          <a:xfrm>
            <a:off x="1005840" y="2395728"/>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1" name="Text 9"/>
          <p:cNvSpPr/>
          <p:nvPr/>
        </p:nvSpPr>
        <p:spPr>
          <a:xfrm>
            <a:off x="1737360" y="2331720"/>
            <a:ext cx="9098280" cy="274320"/>
          </a:xfrm>
          <a:prstGeom prst="rect">
            <a:avLst/>
          </a:prstGeom>
          <a:noFill/>
          <a:ln/>
        </p:spPr>
        <p:txBody>
          <a:bodyPr wrap="square" lIns="0" tIns="0" rIns="0" bIns="0" rtlCol="0" anchor="ctr"/>
          <a:lstStyle/>
          <a:p>
            <a:pPr marL="0" indent="0">
              <a:buNone/>
            </a:pPr>
            <a:r>
              <a:rPr lang="en-US" sz="1600" dirty="0">
                <a:solidFill>
                  <a:srgbClr val="172033"/>
                </a:solidFill>
              </a:rPr>
              <a:t>State ECC/S/4HANA and ABAP release.</a:t>
            </a:r>
            <a:endParaRPr lang="en-US" sz="1600" dirty="0"/>
          </a:p>
        </p:txBody>
      </p:sp>
      <p:sp>
        <p:nvSpPr>
          <p:cNvPr id="12" name="Shape 10"/>
          <p:cNvSpPr/>
          <p:nvPr/>
        </p:nvSpPr>
        <p:spPr>
          <a:xfrm>
            <a:off x="786384" y="3090672"/>
            <a:ext cx="10561320" cy="685800"/>
          </a:xfrm>
          <a:prstGeom prst="roundRect">
            <a:avLst>
              <a:gd name="adj" fmla="val 10667"/>
            </a:avLst>
          </a:prstGeom>
          <a:solidFill>
            <a:srgbClr val="FFFFFF"/>
          </a:solidFill>
          <a:ln w="12700">
            <a:solidFill>
              <a:srgbClr val="D9E1EA"/>
            </a:solidFill>
            <a:prstDash val="solid"/>
          </a:ln>
        </p:spPr>
      </p:sp>
      <p:sp>
        <p:nvSpPr>
          <p:cNvPr id="13" name="Shape 11"/>
          <p:cNvSpPr/>
          <p:nvPr/>
        </p:nvSpPr>
        <p:spPr>
          <a:xfrm>
            <a:off x="1005840" y="3209544"/>
            <a:ext cx="438912" cy="438912"/>
          </a:xfrm>
          <a:prstGeom prst="ellipse">
            <a:avLst/>
          </a:prstGeom>
          <a:solidFill>
            <a:srgbClr val="15B8A6"/>
          </a:solidFill>
          <a:ln w="12700">
            <a:solidFill>
              <a:srgbClr val="15B8A6"/>
            </a:solidFill>
            <a:prstDash val="solid"/>
          </a:ln>
        </p:spPr>
      </p:sp>
      <p:sp>
        <p:nvSpPr>
          <p:cNvPr id="14" name="Text 12"/>
          <p:cNvSpPr/>
          <p:nvPr/>
        </p:nvSpPr>
        <p:spPr>
          <a:xfrm>
            <a:off x="1005840" y="3328416"/>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5" name="Text 13"/>
          <p:cNvSpPr/>
          <p:nvPr/>
        </p:nvSpPr>
        <p:spPr>
          <a:xfrm>
            <a:off x="1737360" y="3264408"/>
            <a:ext cx="9098280" cy="274320"/>
          </a:xfrm>
          <a:prstGeom prst="rect">
            <a:avLst/>
          </a:prstGeom>
          <a:noFill/>
          <a:ln/>
        </p:spPr>
        <p:txBody>
          <a:bodyPr wrap="square" lIns="0" tIns="0" rIns="0" bIns="0" rtlCol="0" anchor="ctr"/>
          <a:lstStyle/>
          <a:p>
            <a:pPr marL="0" indent="0">
              <a:buNone/>
            </a:pPr>
            <a:r>
              <a:rPr lang="en-US" sz="1600" dirty="0">
                <a:solidFill>
                  <a:srgbClr val="172033"/>
                </a:solidFill>
              </a:rPr>
              <a:t>Name selection inputs and infotypes.</a:t>
            </a:r>
            <a:endParaRPr lang="en-US" sz="1600" dirty="0"/>
          </a:p>
        </p:txBody>
      </p:sp>
      <p:sp>
        <p:nvSpPr>
          <p:cNvPr id="16" name="Shape 14"/>
          <p:cNvSpPr/>
          <p:nvPr/>
        </p:nvSpPr>
        <p:spPr>
          <a:xfrm>
            <a:off x="786384" y="4023360"/>
            <a:ext cx="10561320" cy="685800"/>
          </a:xfrm>
          <a:prstGeom prst="roundRect">
            <a:avLst>
              <a:gd name="adj" fmla="val 10667"/>
            </a:avLst>
          </a:prstGeom>
          <a:solidFill>
            <a:srgbClr val="F0FAF8"/>
          </a:solidFill>
          <a:ln w="12700">
            <a:solidFill>
              <a:srgbClr val="D9E1EA"/>
            </a:solidFill>
            <a:prstDash val="solid"/>
          </a:ln>
        </p:spPr>
      </p:sp>
      <p:sp>
        <p:nvSpPr>
          <p:cNvPr id="17" name="Shape 15"/>
          <p:cNvSpPr/>
          <p:nvPr/>
        </p:nvSpPr>
        <p:spPr>
          <a:xfrm>
            <a:off x="1005840" y="4142232"/>
            <a:ext cx="438912" cy="438912"/>
          </a:xfrm>
          <a:prstGeom prst="ellipse">
            <a:avLst/>
          </a:prstGeom>
          <a:solidFill>
            <a:srgbClr val="15B8A6"/>
          </a:solidFill>
          <a:ln w="12700">
            <a:solidFill>
              <a:srgbClr val="15B8A6"/>
            </a:solidFill>
            <a:prstDash val="solid"/>
          </a:ln>
        </p:spPr>
      </p:sp>
      <p:sp>
        <p:nvSpPr>
          <p:cNvPr id="18" name="Text 16"/>
          <p:cNvSpPr/>
          <p:nvPr/>
        </p:nvSpPr>
        <p:spPr>
          <a:xfrm>
            <a:off x="1005840" y="4261104"/>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19" name="Text 17"/>
          <p:cNvSpPr/>
          <p:nvPr/>
        </p:nvSpPr>
        <p:spPr>
          <a:xfrm>
            <a:off x="1737360" y="4197096"/>
            <a:ext cx="9098280" cy="274320"/>
          </a:xfrm>
          <a:prstGeom prst="rect">
            <a:avLst/>
          </a:prstGeom>
          <a:noFill/>
          <a:ln/>
        </p:spPr>
        <p:txBody>
          <a:bodyPr wrap="square" lIns="0" tIns="0" rIns="0" bIns="0" rtlCol="0" anchor="ctr"/>
          <a:lstStyle/>
          <a:p>
            <a:pPr marL="0" indent="0">
              <a:buNone/>
            </a:pPr>
            <a:r>
              <a:rPr lang="en-US" sz="1600" dirty="0">
                <a:solidFill>
                  <a:srgbClr val="172033"/>
                </a:solidFill>
              </a:rPr>
              <a:t>Define validity and authorisation behaviour.</a:t>
            </a:r>
            <a:endParaRPr lang="en-US" sz="1600" dirty="0"/>
          </a:p>
        </p:txBody>
      </p:sp>
      <p:sp>
        <p:nvSpPr>
          <p:cNvPr id="20" name="Shape 18"/>
          <p:cNvSpPr/>
          <p:nvPr/>
        </p:nvSpPr>
        <p:spPr>
          <a:xfrm>
            <a:off x="786384" y="4956048"/>
            <a:ext cx="10561320" cy="685800"/>
          </a:xfrm>
          <a:prstGeom prst="roundRect">
            <a:avLst>
              <a:gd name="adj" fmla="val 10667"/>
            </a:avLst>
          </a:prstGeom>
          <a:solidFill>
            <a:srgbClr val="FFFFFF"/>
          </a:solidFill>
          <a:ln w="12700">
            <a:solidFill>
              <a:srgbClr val="D9E1EA"/>
            </a:solidFill>
            <a:prstDash val="solid"/>
          </a:ln>
        </p:spPr>
      </p:sp>
      <p:sp>
        <p:nvSpPr>
          <p:cNvPr id="21" name="Shape 19"/>
          <p:cNvSpPr/>
          <p:nvPr/>
        </p:nvSpPr>
        <p:spPr>
          <a:xfrm>
            <a:off x="1005840" y="5074920"/>
            <a:ext cx="438912" cy="438912"/>
          </a:xfrm>
          <a:prstGeom prst="ellipse">
            <a:avLst/>
          </a:prstGeom>
          <a:solidFill>
            <a:srgbClr val="F59E0B"/>
          </a:solidFill>
          <a:ln w="12700">
            <a:solidFill>
              <a:srgbClr val="F59E0B"/>
            </a:solidFill>
            <a:prstDash val="solid"/>
          </a:ln>
        </p:spPr>
      </p:sp>
      <p:sp>
        <p:nvSpPr>
          <p:cNvPr id="22" name="Text 20"/>
          <p:cNvSpPr/>
          <p:nvPr/>
        </p:nvSpPr>
        <p:spPr>
          <a:xfrm>
            <a:off x="1005840" y="5193792"/>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23" name="Text 21"/>
          <p:cNvSpPr/>
          <p:nvPr/>
        </p:nvSpPr>
        <p:spPr>
          <a:xfrm>
            <a:off x="1737360" y="5129784"/>
            <a:ext cx="9098280" cy="274320"/>
          </a:xfrm>
          <a:prstGeom prst="rect">
            <a:avLst/>
          </a:prstGeom>
          <a:noFill/>
          <a:ln/>
        </p:spPr>
        <p:txBody>
          <a:bodyPr wrap="square" lIns="0" tIns="0" rIns="0" bIns="0" rtlCol="0" anchor="ctr"/>
          <a:lstStyle/>
          <a:p>
            <a:pPr marL="0" indent="0">
              <a:buNone/>
            </a:pPr>
            <a:r>
              <a:rPr lang="en-US" sz="1600" dirty="0">
                <a:solidFill>
                  <a:srgbClr val="172033"/>
                </a:solidFill>
              </a:rPr>
              <a:t>List ALV columns and tests.</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1: Model answer</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Use this as a reference, then replace placeholders with verified system details.</a:t>
            </a:r>
            <a:endParaRPr lang="en-US" sz="1150" dirty="0"/>
          </a:p>
        </p:txBody>
      </p:sp>
      <p:sp>
        <p:nvSpPr>
          <p:cNvPr id="4" name="Shape 2"/>
          <p:cNvSpPr/>
          <p:nvPr/>
        </p:nvSpPr>
        <p:spPr>
          <a:xfrm>
            <a:off x="713232" y="1207008"/>
            <a:ext cx="10972800" cy="5010912"/>
          </a:xfrm>
          <a:prstGeom prst="roundRect">
            <a:avLst>
              <a:gd name="adj" fmla="val 1460"/>
            </a:avLst>
          </a:prstGeom>
          <a:solidFill>
            <a:srgbClr val="10263B"/>
          </a:solidFill>
          <a:ln w="12700">
            <a:solidFill>
              <a:srgbClr val="284B66"/>
            </a:solidFill>
            <a:prstDash val="solid"/>
          </a:ln>
        </p:spPr>
      </p:sp>
      <p:sp>
        <p:nvSpPr>
          <p:cNvPr id="5" name="Text 3"/>
          <p:cNvSpPr/>
          <p:nvPr/>
        </p:nvSpPr>
        <p:spPr>
          <a:xfrm>
            <a:off x="877824" y="1344168"/>
            <a:ext cx="10643616" cy="4736592"/>
          </a:xfrm>
          <a:prstGeom prst="rect">
            <a:avLst/>
          </a:prstGeom>
          <a:noFill/>
          <a:ln/>
        </p:spPr>
        <p:txBody>
          <a:bodyPr wrap="square" lIns="254" tIns="254" rIns="254" bIns="254" rtlCol="0" anchor="ctr">
            <a:normAutofit/>
          </a:bodyPr>
          <a:lstStyle/>
          <a:p>
            <a:pPr marL="0" indent="0">
              <a:buNone/>
            </a:pPr>
            <a:r>
              <a:rPr lang="en-US" sz="1250" dirty="0">
                <a:solidFill>
                  <a:srgbClr val="EDF6FC"/>
                </a:solidFill>
                <a:latin typeface="Consolas" pitchFamily="34" charset="0"/>
                <a:ea typeface="Consolas" pitchFamily="34" charset="-122"/>
                <a:cs typeface="Consolas" pitchFamily="34" charset="-120"/>
              </a:rPr>
              <a:t>Act as an SAP HR ABAP developer. Create executable report ZHR_EMP_EXTRACT for ECC, ABAP 7.0. Use S_PERNR and P_KEYDT. Read IT0001 for records valid on the key date, apply the applicable HR authorisation check, and display PERNR, personnel area, organisational unit and position with CL_SALV_TABLE. Handle invalid dates, no data and unauthorised records. Provide runnable code, activation steps, sample data and an ABAP Unit test. Acceptance: only records valid on P_KEYDT are displayed.</a:t>
            </a:r>
            <a:endParaRPr lang="en-US" sz="125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2: Complete an infotype validity prompt</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Level: HR Data</a:t>
            </a:r>
            <a:endParaRPr lang="en-US" sz="1150" dirty="0"/>
          </a:p>
        </p:txBody>
      </p:sp>
      <p:sp>
        <p:nvSpPr>
          <p:cNvPr id="4" name="Shape 2"/>
          <p:cNvSpPr/>
          <p:nvPr/>
        </p:nvSpPr>
        <p:spPr>
          <a:xfrm>
            <a:off x="685800" y="1234440"/>
            <a:ext cx="3703320" cy="4800600"/>
          </a:xfrm>
          <a:prstGeom prst="roundRect">
            <a:avLst>
              <a:gd name="adj" fmla="val 1975"/>
            </a:avLst>
          </a:prstGeom>
          <a:solidFill>
            <a:srgbClr val="EEF5FB"/>
          </a:solidFill>
          <a:ln w="12700">
            <a:solidFill>
              <a:srgbClr val="D9E1EA"/>
            </a:solidFill>
            <a:prstDash val="solid"/>
          </a:ln>
        </p:spPr>
      </p:sp>
      <p:sp>
        <p:nvSpPr>
          <p:cNvPr id="5" name="Shape 3"/>
          <p:cNvSpPr/>
          <p:nvPr/>
        </p:nvSpPr>
        <p:spPr>
          <a:xfrm>
            <a:off x="932688" y="1508760"/>
            <a:ext cx="1143000" cy="310896"/>
          </a:xfrm>
          <a:prstGeom prst="roundRect">
            <a:avLst>
              <a:gd name="adj" fmla="val 23529"/>
            </a:avLst>
          </a:prstGeom>
          <a:solidFill>
            <a:srgbClr val="0B5CAD"/>
          </a:solidFill>
          <a:ln w="12700">
            <a:solidFill>
              <a:srgbClr val="0B5CAD"/>
            </a:solidFill>
            <a:prstDash val="solid"/>
          </a:ln>
        </p:spPr>
      </p:sp>
      <p:sp>
        <p:nvSpPr>
          <p:cNvPr id="6" name="Text 4"/>
          <p:cNvSpPr/>
          <p:nvPr/>
        </p:nvSpPr>
        <p:spPr>
          <a:xfrm>
            <a:off x="978408" y="1577340"/>
            <a:ext cx="1051560" cy="164592"/>
          </a:xfrm>
          <a:prstGeom prst="rect">
            <a:avLst/>
          </a:prstGeom>
          <a:noFill/>
          <a:ln/>
        </p:spPr>
        <p:txBody>
          <a:bodyPr wrap="square" lIns="0" tIns="0" rIns="0" bIns="0" rtlCol="0" anchor="ctr"/>
          <a:lstStyle/>
          <a:p>
            <a:pPr marL="0" indent="0" algn="ctr">
              <a:buNone/>
            </a:pPr>
            <a:r>
              <a:rPr lang="en-US" sz="900" b="1" dirty="0">
                <a:solidFill>
                  <a:srgbClr val="FFFFFF"/>
                </a:solidFill>
              </a:rPr>
              <a:t>SCENARIO</a:t>
            </a:r>
            <a:endParaRPr lang="en-US" sz="900" dirty="0"/>
          </a:p>
        </p:txBody>
      </p:sp>
      <p:sp>
        <p:nvSpPr>
          <p:cNvPr id="7" name="Text 5"/>
          <p:cNvSpPr/>
          <p:nvPr/>
        </p:nvSpPr>
        <p:spPr>
          <a:xfrm>
            <a:off x="960120" y="2148840"/>
            <a:ext cx="3154680" cy="2057400"/>
          </a:xfrm>
          <a:prstGeom prst="rect">
            <a:avLst/>
          </a:prstGeom>
          <a:noFill/>
          <a:ln/>
        </p:spPr>
        <p:txBody>
          <a:bodyPr wrap="square" lIns="0" tIns="0" rIns="0" bIns="0" rtlCol="0" anchor="ctr"/>
          <a:lstStyle/>
          <a:p>
            <a:pPr marL="0" indent="0" algn="ctr">
              <a:buNone/>
            </a:pPr>
            <a:r>
              <a:rPr lang="en-US" sz="1700" b="1" dirty="0">
                <a:solidFill>
                  <a:srgbClr val="172033"/>
                </a:solidFill>
              </a:rPr>
              <a:t>Read IT0001 between two dates, but the required overlap rule is not stated.</a:t>
            </a:r>
            <a:endParaRPr lang="en-US" sz="1700" dirty="0"/>
          </a:p>
        </p:txBody>
      </p:sp>
      <p:sp>
        <p:nvSpPr>
          <p:cNvPr id="8" name="Shape 6"/>
          <p:cNvSpPr/>
          <p:nvPr/>
        </p:nvSpPr>
        <p:spPr>
          <a:xfrm>
            <a:off x="4590288" y="1234440"/>
            <a:ext cx="6903720" cy="4800600"/>
          </a:xfrm>
          <a:prstGeom prst="roundRect">
            <a:avLst>
              <a:gd name="adj" fmla="val 1524"/>
            </a:avLst>
          </a:prstGeom>
          <a:solidFill>
            <a:srgbClr val="FFF9ED"/>
          </a:solidFill>
          <a:ln w="12700">
            <a:solidFill>
              <a:srgbClr val="F2D89C"/>
            </a:solidFill>
            <a:prstDash val="solid"/>
          </a:ln>
        </p:spPr>
      </p:sp>
      <p:sp>
        <p:nvSpPr>
          <p:cNvPr id="9" name="Shape 7"/>
          <p:cNvSpPr/>
          <p:nvPr/>
        </p:nvSpPr>
        <p:spPr>
          <a:xfrm>
            <a:off x="4873752" y="1508760"/>
            <a:ext cx="1188720" cy="310896"/>
          </a:xfrm>
          <a:prstGeom prst="roundRect">
            <a:avLst>
              <a:gd name="adj" fmla="val 23529"/>
            </a:avLst>
          </a:prstGeom>
          <a:solidFill>
            <a:srgbClr val="F59E0B"/>
          </a:solidFill>
          <a:ln w="12700">
            <a:solidFill>
              <a:srgbClr val="F59E0B"/>
            </a:solidFill>
            <a:prstDash val="solid"/>
          </a:ln>
        </p:spPr>
      </p:sp>
      <p:sp>
        <p:nvSpPr>
          <p:cNvPr id="10" name="Text 8"/>
          <p:cNvSpPr/>
          <p:nvPr/>
        </p:nvSpPr>
        <p:spPr>
          <a:xfrm>
            <a:off x="4919472" y="1577340"/>
            <a:ext cx="1097280" cy="164592"/>
          </a:xfrm>
          <a:prstGeom prst="rect">
            <a:avLst/>
          </a:prstGeom>
          <a:noFill/>
          <a:ln/>
        </p:spPr>
        <p:txBody>
          <a:bodyPr wrap="square" lIns="0" tIns="0" rIns="0" bIns="0" rtlCol="0" anchor="ctr"/>
          <a:lstStyle/>
          <a:p>
            <a:pPr marL="0" indent="0" algn="ctr">
              <a:buNone/>
            </a:pPr>
            <a:r>
              <a:rPr lang="en-US" sz="900" b="1" dirty="0">
                <a:solidFill>
                  <a:srgbClr val="FFFFFF"/>
                </a:solidFill>
              </a:rPr>
              <a:t>YOUR TASK</a:t>
            </a:r>
            <a:endParaRPr lang="en-US" sz="900" dirty="0"/>
          </a:p>
        </p:txBody>
      </p:sp>
      <p:sp>
        <p:nvSpPr>
          <p:cNvPr id="11" name="Shape 9"/>
          <p:cNvSpPr/>
          <p:nvPr/>
        </p:nvSpPr>
        <p:spPr>
          <a:xfrm>
            <a:off x="4937760" y="2313432"/>
            <a:ext cx="192024" cy="192024"/>
          </a:xfrm>
          <a:prstGeom prst="ellipse">
            <a:avLst/>
          </a:prstGeom>
          <a:solidFill>
            <a:srgbClr val="15B8A6"/>
          </a:solidFill>
          <a:ln w="12700">
            <a:solidFill>
              <a:srgbClr val="15B8A6"/>
            </a:solidFill>
            <a:prstDash val="solid"/>
          </a:ln>
        </p:spPr>
      </p:sp>
      <p:sp>
        <p:nvSpPr>
          <p:cNvPr id="12" name="Text 10"/>
          <p:cNvSpPr/>
          <p:nvPr/>
        </p:nvSpPr>
        <p:spPr>
          <a:xfrm>
            <a:off x="5266944" y="224028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Choose an overlap rule.</a:t>
            </a:r>
            <a:endParaRPr lang="en-US" sz="1600" dirty="0"/>
          </a:p>
        </p:txBody>
      </p:sp>
      <p:sp>
        <p:nvSpPr>
          <p:cNvPr id="13" name="Shape 11"/>
          <p:cNvSpPr/>
          <p:nvPr/>
        </p:nvSpPr>
        <p:spPr>
          <a:xfrm>
            <a:off x="4937760" y="3136392"/>
            <a:ext cx="192024" cy="192024"/>
          </a:xfrm>
          <a:prstGeom prst="ellipse">
            <a:avLst/>
          </a:prstGeom>
          <a:solidFill>
            <a:srgbClr val="15B8A6"/>
          </a:solidFill>
          <a:ln w="12700">
            <a:solidFill>
              <a:srgbClr val="15B8A6"/>
            </a:solidFill>
            <a:prstDash val="solid"/>
          </a:ln>
        </p:spPr>
      </p:sp>
      <p:sp>
        <p:nvSpPr>
          <p:cNvPr id="14" name="Text 12"/>
          <p:cNvSpPr/>
          <p:nvPr/>
        </p:nvSpPr>
        <p:spPr>
          <a:xfrm>
            <a:off x="5266944" y="306324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Define multiple-record behaviour.</a:t>
            </a:r>
            <a:endParaRPr lang="en-US" sz="1600" dirty="0"/>
          </a:p>
        </p:txBody>
      </p:sp>
      <p:sp>
        <p:nvSpPr>
          <p:cNvPr id="15" name="Shape 13"/>
          <p:cNvSpPr/>
          <p:nvPr/>
        </p:nvSpPr>
        <p:spPr>
          <a:xfrm>
            <a:off x="4937760" y="3959352"/>
            <a:ext cx="192024" cy="192024"/>
          </a:xfrm>
          <a:prstGeom prst="ellipse">
            <a:avLst/>
          </a:prstGeom>
          <a:solidFill>
            <a:srgbClr val="15B8A6"/>
          </a:solidFill>
          <a:ln w="12700">
            <a:solidFill>
              <a:srgbClr val="15B8A6"/>
            </a:solidFill>
            <a:prstDash val="solid"/>
          </a:ln>
        </p:spPr>
      </p:sp>
      <p:sp>
        <p:nvSpPr>
          <p:cNvPr id="16" name="Text 14"/>
          <p:cNvSpPr/>
          <p:nvPr/>
        </p:nvSpPr>
        <p:spPr>
          <a:xfrm>
            <a:off x="5266944" y="388620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Add boundary tests.</a:t>
            </a:r>
            <a:endParaRPr lang="en-US" sz="1600" dirty="0"/>
          </a:p>
        </p:txBody>
      </p:sp>
      <p:sp>
        <p:nvSpPr>
          <p:cNvPr id="17" name="Text 15"/>
          <p:cNvSpPr/>
          <p:nvPr/>
        </p:nvSpPr>
        <p:spPr>
          <a:xfrm>
            <a:off x="4983480" y="5166360"/>
            <a:ext cx="5852160" cy="411480"/>
          </a:xfrm>
          <a:prstGeom prst="rect">
            <a:avLst/>
          </a:prstGeom>
          <a:noFill/>
          <a:ln/>
        </p:spPr>
        <p:txBody>
          <a:bodyPr wrap="square" lIns="0" tIns="0" rIns="0" bIns="0" rtlCol="0" anchor="ctr"/>
          <a:lstStyle/>
          <a:p>
            <a:pPr marL="0" indent="0" algn="ctr">
              <a:buNone/>
            </a:pPr>
            <a:r>
              <a:rPr lang="en-US" sz="1400" b="1" dirty="0">
                <a:solidFill>
                  <a:srgbClr val="D14343"/>
                </a:solidFill>
              </a:rPr>
              <a:t>Pause here and create your answer before moving to the next slide.</a:t>
            </a:r>
            <a:endParaRPr lang="en-US" sz="14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2: Guided steps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Build the answer one decision at a time.</a:t>
            </a:r>
            <a:endParaRPr lang="en-US" sz="1150" dirty="0"/>
          </a:p>
        </p:txBody>
      </p:sp>
      <p:sp>
        <p:nvSpPr>
          <p:cNvPr id="4" name="Shape 2"/>
          <p:cNvSpPr/>
          <p:nvPr/>
        </p:nvSpPr>
        <p:spPr>
          <a:xfrm>
            <a:off x="786384" y="1225296"/>
            <a:ext cx="10561320" cy="685800"/>
          </a:xfrm>
          <a:prstGeom prst="roundRect">
            <a:avLst>
              <a:gd name="adj" fmla="val 10667"/>
            </a:avLst>
          </a:prstGeom>
          <a:solidFill>
            <a:srgbClr val="FFFFFF"/>
          </a:solidFill>
          <a:ln w="12700">
            <a:solidFill>
              <a:srgbClr val="D9E1EA"/>
            </a:solidFill>
            <a:prstDash val="solid"/>
          </a:ln>
        </p:spPr>
      </p:sp>
      <p:sp>
        <p:nvSpPr>
          <p:cNvPr id="5" name="Shape 3"/>
          <p:cNvSpPr/>
          <p:nvPr/>
        </p:nvSpPr>
        <p:spPr>
          <a:xfrm>
            <a:off x="1005840" y="1344168"/>
            <a:ext cx="438912" cy="438912"/>
          </a:xfrm>
          <a:prstGeom prst="ellipse">
            <a:avLst/>
          </a:prstGeom>
          <a:solidFill>
            <a:srgbClr val="15B8A6"/>
          </a:solidFill>
          <a:ln w="12700">
            <a:solidFill>
              <a:srgbClr val="15B8A6"/>
            </a:solidFill>
            <a:prstDash val="solid"/>
          </a:ln>
        </p:spPr>
      </p:sp>
      <p:sp>
        <p:nvSpPr>
          <p:cNvPr id="6" name="Text 4"/>
          <p:cNvSpPr/>
          <p:nvPr/>
        </p:nvSpPr>
        <p:spPr>
          <a:xfrm>
            <a:off x="1005840" y="1463040"/>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7" name="Text 5"/>
          <p:cNvSpPr/>
          <p:nvPr/>
        </p:nvSpPr>
        <p:spPr>
          <a:xfrm>
            <a:off x="1737360" y="1399032"/>
            <a:ext cx="9098280" cy="274320"/>
          </a:xfrm>
          <a:prstGeom prst="rect">
            <a:avLst/>
          </a:prstGeom>
          <a:noFill/>
          <a:ln/>
        </p:spPr>
        <p:txBody>
          <a:bodyPr wrap="square" lIns="0" tIns="0" rIns="0" bIns="0" rtlCol="0" anchor="ctr"/>
          <a:lstStyle/>
          <a:p>
            <a:pPr marL="0" indent="0">
              <a:buNone/>
            </a:pPr>
            <a:r>
              <a:rPr lang="en-US" sz="1600" dirty="0">
                <a:solidFill>
                  <a:srgbClr val="172033"/>
                </a:solidFill>
              </a:rPr>
              <a:t>State the selection period.</a:t>
            </a:r>
            <a:endParaRPr lang="en-US" sz="1600" dirty="0"/>
          </a:p>
        </p:txBody>
      </p:sp>
      <p:sp>
        <p:nvSpPr>
          <p:cNvPr id="8" name="Shape 6"/>
          <p:cNvSpPr/>
          <p:nvPr/>
        </p:nvSpPr>
        <p:spPr>
          <a:xfrm>
            <a:off x="786384" y="2157984"/>
            <a:ext cx="10561320" cy="685800"/>
          </a:xfrm>
          <a:prstGeom prst="roundRect">
            <a:avLst>
              <a:gd name="adj" fmla="val 10667"/>
            </a:avLst>
          </a:prstGeom>
          <a:solidFill>
            <a:srgbClr val="F0FAF8"/>
          </a:solidFill>
          <a:ln w="12700">
            <a:solidFill>
              <a:srgbClr val="D9E1EA"/>
            </a:solidFill>
            <a:prstDash val="solid"/>
          </a:ln>
        </p:spPr>
      </p:sp>
      <p:sp>
        <p:nvSpPr>
          <p:cNvPr id="9" name="Shape 7"/>
          <p:cNvSpPr/>
          <p:nvPr/>
        </p:nvSpPr>
        <p:spPr>
          <a:xfrm>
            <a:off x="1005840" y="2276856"/>
            <a:ext cx="438912" cy="438912"/>
          </a:xfrm>
          <a:prstGeom prst="ellipse">
            <a:avLst/>
          </a:prstGeom>
          <a:solidFill>
            <a:srgbClr val="15B8A6"/>
          </a:solidFill>
          <a:ln w="12700">
            <a:solidFill>
              <a:srgbClr val="15B8A6"/>
            </a:solidFill>
            <a:prstDash val="solid"/>
          </a:ln>
        </p:spPr>
      </p:sp>
      <p:sp>
        <p:nvSpPr>
          <p:cNvPr id="10" name="Text 8"/>
          <p:cNvSpPr/>
          <p:nvPr/>
        </p:nvSpPr>
        <p:spPr>
          <a:xfrm>
            <a:off x="1005840" y="2395728"/>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1" name="Text 9"/>
          <p:cNvSpPr/>
          <p:nvPr/>
        </p:nvSpPr>
        <p:spPr>
          <a:xfrm>
            <a:off x="1737360" y="2331720"/>
            <a:ext cx="9098280" cy="274320"/>
          </a:xfrm>
          <a:prstGeom prst="rect">
            <a:avLst/>
          </a:prstGeom>
          <a:noFill/>
          <a:ln/>
        </p:spPr>
        <p:txBody>
          <a:bodyPr wrap="square" lIns="0" tIns="0" rIns="0" bIns="0" rtlCol="0" anchor="ctr"/>
          <a:lstStyle/>
          <a:p>
            <a:pPr marL="0" indent="0">
              <a:buNone/>
            </a:pPr>
            <a:r>
              <a:rPr lang="en-US" sz="1600" dirty="0">
                <a:solidFill>
                  <a:srgbClr val="172033"/>
                </a:solidFill>
              </a:rPr>
              <a:t>Define record overlap explicitly.</a:t>
            </a:r>
            <a:endParaRPr lang="en-US" sz="1600" dirty="0"/>
          </a:p>
        </p:txBody>
      </p:sp>
      <p:sp>
        <p:nvSpPr>
          <p:cNvPr id="12" name="Shape 10"/>
          <p:cNvSpPr/>
          <p:nvPr/>
        </p:nvSpPr>
        <p:spPr>
          <a:xfrm>
            <a:off x="786384" y="3090672"/>
            <a:ext cx="10561320" cy="685800"/>
          </a:xfrm>
          <a:prstGeom prst="roundRect">
            <a:avLst>
              <a:gd name="adj" fmla="val 10667"/>
            </a:avLst>
          </a:prstGeom>
          <a:solidFill>
            <a:srgbClr val="FFFFFF"/>
          </a:solidFill>
          <a:ln w="12700">
            <a:solidFill>
              <a:srgbClr val="D9E1EA"/>
            </a:solidFill>
            <a:prstDash val="solid"/>
          </a:ln>
        </p:spPr>
      </p:sp>
      <p:sp>
        <p:nvSpPr>
          <p:cNvPr id="13" name="Shape 11"/>
          <p:cNvSpPr/>
          <p:nvPr/>
        </p:nvSpPr>
        <p:spPr>
          <a:xfrm>
            <a:off x="1005840" y="3209544"/>
            <a:ext cx="438912" cy="438912"/>
          </a:xfrm>
          <a:prstGeom prst="ellipse">
            <a:avLst/>
          </a:prstGeom>
          <a:solidFill>
            <a:srgbClr val="15B8A6"/>
          </a:solidFill>
          <a:ln w="12700">
            <a:solidFill>
              <a:srgbClr val="15B8A6"/>
            </a:solidFill>
            <a:prstDash val="solid"/>
          </a:ln>
        </p:spPr>
      </p:sp>
      <p:sp>
        <p:nvSpPr>
          <p:cNvPr id="14" name="Text 12"/>
          <p:cNvSpPr/>
          <p:nvPr/>
        </p:nvSpPr>
        <p:spPr>
          <a:xfrm>
            <a:off x="1005840" y="3328416"/>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5" name="Text 13"/>
          <p:cNvSpPr/>
          <p:nvPr/>
        </p:nvSpPr>
        <p:spPr>
          <a:xfrm>
            <a:off x="1737360" y="3264408"/>
            <a:ext cx="9098280" cy="274320"/>
          </a:xfrm>
          <a:prstGeom prst="rect">
            <a:avLst/>
          </a:prstGeom>
          <a:noFill/>
          <a:ln/>
        </p:spPr>
        <p:txBody>
          <a:bodyPr wrap="square" lIns="0" tIns="0" rIns="0" bIns="0" rtlCol="0" anchor="ctr"/>
          <a:lstStyle/>
          <a:p>
            <a:pPr marL="0" indent="0">
              <a:buNone/>
            </a:pPr>
            <a:r>
              <a:rPr lang="en-US" sz="1600" dirty="0">
                <a:solidFill>
                  <a:srgbClr val="172033"/>
                </a:solidFill>
              </a:rPr>
              <a:t>Return all qualifying records in date order.</a:t>
            </a:r>
            <a:endParaRPr lang="en-US" sz="1600" dirty="0"/>
          </a:p>
        </p:txBody>
      </p:sp>
      <p:sp>
        <p:nvSpPr>
          <p:cNvPr id="16" name="Shape 14"/>
          <p:cNvSpPr/>
          <p:nvPr/>
        </p:nvSpPr>
        <p:spPr>
          <a:xfrm>
            <a:off x="786384" y="4023360"/>
            <a:ext cx="10561320" cy="685800"/>
          </a:xfrm>
          <a:prstGeom prst="roundRect">
            <a:avLst>
              <a:gd name="adj" fmla="val 10667"/>
            </a:avLst>
          </a:prstGeom>
          <a:solidFill>
            <a:srgbClr val="F0FAF8"/>
          </a:solidFill>
          <a:ln w="12700">
            <a:solidFill>
              <a:srgbClr val="D9E1EA"/>
            </a:solidFill>
            <a:prstDash val="solid"/>
          </a:ln>
        </p:spPr>
      </p:sp>
      <p:sp>
        <p:nvSpPr>
          <p:cNvPr id="17" name="Shape 15"/>
          <p:cNvSpPr/>
          <p:nvPr/>
        </p:nvSpPr>
        <p:spPr>
          <a:xfrm>
            <a:off x="1005840" y="4142232"/>
            <a:ext cx="438912" cy="438912"/>
          </a:xfrm>
          <a:prstGeom prst="ellipse">
            <a:avLst/>
          </a:prstGeom>
          <a:solidFill>
            <a:srgbClr val="15B8A6"/>
          </a:solidFill>
          <a:ln w="12700">
            <a:solidFill>
              <a:srgbClr val="15B8A6"/>
            </a:solidFill>
            <a:prstDash val="solid"/>
          </a:ln>
        </p:spPr>
      </p:sp>
      <p:sp>
        <p:nvSpPr>
          <p:cNvPr id="18" name="Text 16"/>
          <p:cNvSpPr/>
          <p:nvPr/>
        </p:nvSpPr>
        <p:spPr>
          <a:xfrm>
            <a:off x="1005840" y="4261104"/>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19" name="Text 17"/>
          <p:cNvSpPr/>
          <p:nvPr/>
        </p:nvSpPr>
        <p:spPr>
          <a:xfrm>
            <a:off x="1737360" y="4197096"/>
            <a:ext cx="9098280" cy="274320"/>
          </a:xfrm>
          <a:prstGeom prst="rect">
            <a:avLst/>
          </a:prstGeom>
          <a:noFill/>
          <a:ln/>
        </p:spPr>
        <p:txBody>
          <a:bodyPr wrap="square" lIns="0" tIns="0" rIns="0" bIns="0" rtlCol="0" anchor="ctr"/>
          <a:lstStyle/>
          <a:p>
            <a:pPr marL="0" indent="0">
              <a:buNone/>
            </a:pPr>
            <a:r>
              <a:rPr lang="en-US" sz="1600" dirty="0">
                <a:solidFill>
                  <a:srgbClr val="172033"/>
                </a:solidFill>
              </a:rPr>
              <a:t>Test exact start and end boundaries.</a:t>
            </a:r>
            <a:endParaRPr lang="en-US" sz="1600" dirty="0"/>
          </a:p>
        </p:txBody>
      </p:sp>
      <p:sp>
        <p:nvSpPr>
          <p:cNvPr id="20" name="Shape 18"/>
          <p:cNvSpPr/>
          <p:nvPr/>
        </p:nvSpPr>
        <p:spPr>
          <a:xfrm>
            <a:off x="786384" y="4956048"/>
            <a:ext cx="10561320" cy="685800"/>
          </a:xfrm>
          <a:prstGeom prst="roundRect">
            <a:avLst>
              <a:gd name="adj" fmla="val 10667"/>
            </a:avLst>
          </a:prstGeom>
          <a:solidFill>
            <a:srgbClr val="FFFFFF"/>
          </a:solidFill>
          <a:ln w="12700">
            <a:solidFill>
              <a:srgbClr val="D9E1EA"/>
            </a:solidFill>
            <a:prstDash val="solid"/>
          </a:ln>
        </p:spPr>
      </p:sp>
      <p:sp>
        <p:nvSpPr>
          <p:cNvPr id="21" name="Shape 19"/>
          <p:cNvSpPr/>
          <p:nvPr/>
        </p:nvSpPr>
        <p:spPr>
          <a:xfrm>
            <a:off x="1005840" y="5074920"/>
            <a:ext cx="438912" cy="438912"/>
          </a:xfrm>
          <a:prstGeom prst="ellipse">
            <a:avLst/>
          </a:prstGeom>
          <a:solidFill>
            <a:srgbClr val="F59E0B"/>
          </a:solidFill>
          <a:ln w="12700">
            <a:solidFill>
              <a:srgbClr val="F59E0B"/>
            </a:solidFill>
            <a:prstDash val="solid"/>
          </a:ln>
        </p:spPr>
      </p:sp>
      <p:sp>
        <p:nvSpPr>
          <p:cNvPr id="22" name="Text 20"/>
          <p:cNvSpPr/>
          <p:nvPr/>
        </p:nvSpPr>
        <p:spPr>
          <a:xfrm>
            <a:off x="1005840" y="5193792"/>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23" name="Text 21"/>
          <p:cNvSpPr/>
          <p:nvPr/>
        </p:nvSpPr>
        <p:spPr>
          <a:xfrm>
            <a:off x="1737360" y="5129784"/>
            <a:ext cx="9098280" cy="274320"/>
          </a:xfrm>
          <a:prstGeom prst="rect">
            <a:avLst/>
          </a:prstGeom>
          <a:noFill/>
          <a:ln/>
        </p:spPr>
        <p:txBody>
          <a:bodyPr wrap="square" lIns="0" tIns="0" rIns="0" bIns="0" rtlCol="0" anchor="ctr"/>
          <a:lstStyle/>
          <a:p>
            <a:pPr marL="0" indent="0">
              <a:buNone/>
            </a:pPr>
            <a:r>
              <a:rPr lang="en-US" sz="1600" dirty="0">
                <a:solidFill>
                  <a:srgbClr val="172033"/>
                </a:solidFill>
              </a:rPr>
              <a:t>Define no-data behaviour.</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2: Model answer</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Use this as a reference, then replace placeholders with verified system details.</a:t>
            </a:r>
            <a:endParaRPr lang="en-US" sz="1150" dirty="0"/>
          </a:p>
        </p:txBody>
      </p:sp>
      <p:sp>
        <p:nvSpPr>
          <p:cNvPr id="4" name="Shape 2"/>
          <p:cNvSpPr/>
          <p:nvPr/>
        </p:nvSpPr>
        <p:spPr>
          <a:xfrm>
            <a:off x="713232" y="1207008"/>
            <a:ext cx="10972800" cy="5010912"/>
          </a:xfrm>
          <a:prstGeom prst="roundRect">
            <a:avLst>
              <a:gd name="adj" fmla="val 1460"/>
            </a:avLst>
          </a:prstGeom>
          <a:solidFill>
            <a:srgbClr val="10263B"/>
          </a:solidFill>
          <a:ln w="12700">
            <a:solidFill>
              <a:srgbClr val="284B66"/>
            </a:solidFill>
            <a:prstDash val="solid"/>
          </a:ln>
        </p:spPr>
      </p:sp>
      <p:sp>
        <p:nvSpPr>
          <p:cNvPr id="5" name="Text 3"/>
          <p:cNvSpPr/>
          <p:nvPr/>
        </p:nvSpPr>
        <p:spPr>
          <a:xfrm>
            <a:off x="877824" y="1344168"/>
            <a:ext cx="10643616" cy="4736592"/>
          </a:xfrm>
          <a:prstGeom prst="rect">
            <a:avLst/>
          </a:prstGeom>
          <a:noFill/>
          <a:ln/>
        </p:spPr>
        <p:txBody>
          <a:bodyPr wrap="square" lIns="254" tIns="254" rIns="254" bIns="254" rtlCol="0" anchor="ctr">
            <a:normAutofit/>
          </a:bodyPr>
          <a:lstStyle/>
          <a:p>
            <a:pPr marL="0" indent="0">
              <a:buNone/>
            </a:pPr>
            <a:r>
              <a:rPr lang="en-US" sz="1250" dirty="0">
                <a:solidFill>
                  <a:srgbClr val="EDF6FC"/>
                </a:solidFill>
                <a:latin typeface="Consolas" pitchFamily="34" charset="0"/>
                <a:ea typeface="Consolas" pitchFamily="34" charset="-122"/>
                <a:cs typeface="Consolas" pitchFamily="34" charset="-120"/>
              </a:rPr>
              <a:t>Read IT0001 for S_PERNR and P_BEGDA–P_ENDDA. Include a record when record-BEGDA &lt;= P_ENDDA and record-ENDDA &gt;= P_BEGDA. Return all qualifying records, sorted by PERNR, BEGDA and ENDDA. Do not collapse valid splits. Return a clear no-data result when no overlap exists. Include tests for a record starting on P_ENDDA, ending on P_BEGDA, fully inside the period, fully outside it, and spanning the complete period.</a:t>
            </a:r>
            <a:endParaRPr lang="en-US" sz="125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3: Design a production-ready ALV prompt</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Level: Reporting</a:t>
            </a:r>
            <a:endParaRPr lang="en-US" sz="1150" dirty="0"/>
          </a:p>
        </p:txBody>
      </p:sp>
      <p:sp>
        <p:nvSpPr>
          <p:cNvPr id="4" name="Shape 2"/>
          <p:cNvSpPr/>
          <p:nvPr/>
        </p:nvSpPr>
        <p:spPr>
          <a:xfrm>
            <a:off x="685800" y="1234440"/>
            <a:ext cx="3703320" cy="4800600"/>
          </a:xfrm>
          <a:prstGeom prst="roundRect">
            <a:avLst>
              <a:gd name="adj" fmla="val 1975"/>
            </a:avLst>
          </a:prstGeom>
          <a:solidFill>
            <a:srgbClr val="EEF5FB"/>
          </a:solidFill>
          <a:ln w="12700">
            <a:solidFill>
              <a:srgbClr val="D9E1EA"/>
            </a:solidFill>
            <a:prstDash val="solid"/>
          </a:ln>
        </p:spPr>
      </p:sp>
      <p:sp>
        <p:nvSpPr>
          <p:cNvPr id="5" name="Shape 3"/>
          <p:cNvSpPr/>
          <p:nvPr/>
        </p:nvSpPr>
        <p:spPr>
          <a:xfrm>
            <a:off x="932688" y="1508760"/>
            <a:ext cx="1143000" cy="310896"/>
          </a:xfrm>
          <a:prstGeom prst="roundRect">
            <a:avLst>
              <a:gd name="adj" fmla="val 23529"/>
            </a:avLst>
          </a:prstGeom>
          <a:solidFill>
            <a:srgbClr val="0B5CAD"/>
          </a:solidFill>
          <a:ln w="12700">
            <a:solidFill>
              <a:srgbClr val="0B5CAD"/>
            </a:solidFill>
            <a:prstDash val="solid"/>
          </a:ln>
        </p:spPr>
      </p:sp>
      <p:sp>
        <p:nvSpPr>
          <p:cNvPr id="6" name="Text 4"/>
          <p:cNvSpPr/>
          <p:nvPr/>
        </p:nvSpPr>
        <p:spPr>
          <a:xfrm>
            <a:off x="978408" y="1577340"/>
            <a:ext cx="1051560" cy="164592"/>
          </a:xfrm>
          <a:prstGeom prst="rect">
            <a:avLst/>
          </a:prstGeom>
          <a:noFill/>
          <a:ln/>
        </p:spPr>
        <p:txBody>
          <a:bodyPr wrap="square" lIns="0" tIns="0" rIns="0" bIns="0" rtlCol="0" anchor="ctr"/>
          <a:lstStyle/>
          <a:p>
            <a:pPr marL="0" indent="0" algn="ctr">
              <a:buNone/>
            </a:pPr>
            <a:r>
              <a:rPr lang="en-US" sz="900" b="1" dirty="0">
                <a:solidFill>
                  <a:srgbClr val="FFFFFF"/>
                </a:solidFill>
              </a:rPr>
              <a:t>SCENARIO</a:t>
            </a:r>
            <a:endParaRPr lang="en-US" sz="900" dirty="0"/>
          </a:p>
        </p:txBody>
      </p:sp>
      <p:sp>
        <p:nvSpPr>
          <p:cNvPr id="7" name="Text 5"/>
          <p:cNvSpPr/>
          <p:nvPr/>
        </p:nvSpPr>
        <p:spPr>
          <a:xfrm>
            <a:off x="960120" y="2148840"/>
            <a:ext cx="3154680" cy="2057400"/>
          </a:xfrm>
          <a:prstGeom prst="rect">
            <a:avLst/>
          </a:prstGeom>
          <a:noFill/>
          <a:ln/>
        </p:spPr>
        <p:txBody>
          <a:bodyPr wrap="square" lIns="0" tIns="0" rIns="0" bIns="0" rtlCol="0" anchor="ctr"/>
          <a:lstStyle/>
          <a:p>
            <a:pPr marL="0" indent="0" algn="ctr">
              <a:buNone/>
            </a:pPr>
            <a:r>
              <a:rPr lang="en-US" sz="1700" b="1" dirty="0">
                <a:solidFill>
                  <a:srgbClr val="172033"/>
                </a:solidFill>
              </a:rPr>
              <a:t>A report must combine IT0001 and IT0002 and display employee details.</a:t>
            </a:r>
            <a:endParaRPr lang="en-US" sz="1700" dirty="0"/>
          </a:p>
        </p:txBody>
      </p:sp>
      <p:sp>
        <p:nvSpPr>
          <p:cNvPr id="8" name="Shape 6"/>
          <p:cNvSpPr/>
          <p:nvPr/>
        </p:nvSpPr>
        <p:spPr>
          <a:xfrm>
            <a:off x="4590288" y="1234440"/>
            <a:ext cx="6903720" cy="4800600"/>
          </a:xfrm>
          <a:prstGeom prst="roundRect">
            <a:avLst>
              <a:gd name="adj" fmla="val 1524"/>
            </a:avLst>
          </a:prstGeom>
          <a:solidFill>
            <a:srgbClr val="FFF9ED"/>
          </a:solidFill>
          <a:ln w="12700">
            <a:solidFill>
              <a:srgbClr val="F2D89C"/>
            </a:solidFill>
            <a:prstDash val="solid"/>
          </a:ln>
        </p:spPr>
      </p:sp>
      <p:sp>
        <p:nvSpPr>
          <p:cNvPr id="9" name="Shape 7"/>
          <p:cNvSpPr/>
          <p:nvPr/>
        </p:nvSpPr>
        <p:spPr>
          <a:xfrm>
            <a:off x="4873752" y="1508760"/>
            <a:ext cx="1188720" cy="310896"/>
          </a:xfrm>
          <a:prstGeom prst="roundRect">
            <a:avLst>
              <a:gd name="adj" fmla="val 23529"/>
            </a:avLst>
          </a:prstGeom>
          <a:solidFill>
            <a:srgbClr val="F59E0B"/>
          </a:solidFill>
          <a:ln w="12700">
            <a:solidFill>
              <a:srgbClr val="F59E0B"/>
            </a:solidFill>
            <a:prstDash val="solid"/>
          </a:ln>
        </p:spPr>
      </p:sp>
      <p:sp>
        <p:nvSpPr>
          <p:cNvPr id="10" name="Text 8"/>
          <p:cNvSpPr/>
          <p:nvPr/>
        </p:nvSpPr>
        <p:spPr>
          <a:xfrm>
            <a:off x="4919472" y="1577340"/>
            <a:ext cx="1097280" cy="164592"/>
          </a:xfrm>
          <a:prstGeom prst="rect">
            <a:avLst/>
          </a:prstGeom>
          <a:noFill/>
          <a:ln/>
        </p:spPr>
        <p:txBody>
          <a:bodyPr wrap="square" lIns="0" tIns="0" rIns="0" bIns="0" rtlCol="0" anchor="ctr"/>
          <a:lstStyle/>
          <a:p>
            <a:pPr marL="0" indent="0" algn="ctr">
              <a:buNone/>
            </a:pPr>
            <a:r>
              <a:rPr lang="en-US" sz="900" b="1" dirty="0">
                <a:solidFill>
                  <a:srgbClr val="FFFFFF"/>
                </a:solidFill>
              </a:rPr>
              <a:t>YOUR TASK</a:t>
            </a:r>
            <a:endParaRPr lang="en-US" sz="900" dirty="0"/>
          </a:p>
        </p:txBody>
      </p:sp>
      <p:sp>
        <p:nvSpPr>
          <p:cNvPr id="11" name="Shape 9"/>
          <p:cNvSpPr/>
          <p:nvPr/>
        </p:nvSpPr>
        <p:spPr>
          <a:xfrm>
            <a:off x="4937760" y="2313432"/>
            <a:ext cx="192024" cy="192024"/>
          </a:xfrm>
          <a:prstGeom prst="ellipse">
            <a:avLst/>
          </a:prstGeom>
          <a:solidFill>
            <a:srgbClr val="15B8A6"/>
          </a:solidFill>
          <a:ln w="12700">
            <a:solidFill>
              <a:srgbClr val="15B8A6"/>
            </a:solidFill>
            <a:prstDash val="solid"/>
          </a:ln>
        </p:spPr>
      </p:sp>
      <p:sp>
        <p:nvSpPr>
          <p:cNvPr id="12" name="Text 10"/>
          <p:cNvSpPr/>
          <p:nvPr/>
        </p:nvSpPr>
        <p:spPr>
          <a:xfrm>
            <a:off x="5266944" y="224028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Separate selection, retrieval, processing and display.</a:t>
            </a:r>
            <a:endParaRPr lang="en-US" sz="1600" dirty="0"/>
          </a:p>
        </p:txBody>
      </p:sp>
      <p:sp>
        <p:nvSpPr>
          <p:cNvPr id="13" name="Shape 11"/>
          <p:cNvSpPr/>
          <p:nvPr/>
        </p:nvSpPr>
        <p:spPr>
          <a:xfrm>
            <a:off x="4937760" y="3136392"/>
            <a:ext cx="192024" cy="192024"/>
          </a:xfrm>
          <a:prstGeom prst="ellipse">
            <a:avLst/>
          </a:prstGeom>
          <a:solidFill>
            <a:srgbClr val="15B8A6"/>
          </a:solidFill>
          <a:ln w="12700">
            <a:solidFill>
              <a:srgbClr val="15B8A6"/>
            </a:solidFill>
            <a:prstDash val="solid"/>
          </a:ln>
        </p:spPr>
      </p:sp>
      <p:sp>
        <p:nvSpPr>
          <p:cNvPr id="14" name="Text 12"/>
          <p:cNvSpPr/>
          <p:nvPr/>
        </p:nvSpPr>
        <p:spPr>
          <a:xfrm>
            <a:off x="5266944" y="306324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Add performance and security controls.</a:t>
            </a:r>
            <a:endParaRPr lang="en-US" sz="1600" dirty="0"/>
          </a:p>
        </p:txBody>
      </p:sp>
      <p:sp>
        <p:nvSpPr>
          <p:cNvPr id="15" name="Shape 13"/>
          <p:cNvSpPr/>
          <p:nvPr/>
        </p:nvSpPr>
        <p:spPr>
          <a:xfrm>
            <a:off x="4937760" y="3959352"/>
            <a:ext cx="192024" cy="192024"/>
          </a:xfrm>
          <a:prstGeom prst="ellipse">
            <a:avLst/>
          </a:prstGeom>
          <a:solidFill>
            <a:srgbClr val="15B8A6"/>
          </a:solidFill>
          <a:ln w="12700">
            <a:solidFill>
              <a:srgbClr val="15B8A6"/>
            </a:solidFill>
            <a:prstDash val="solid"/>
          </a:ln>
        </p:spPr>
      </p:sp>
      <p:sp>
        <p:nvSpPr>
          <p:cNvPr id="16" name="Text 14"/>
          <p:cNvSpPr/>
          <p:nvPr/>
        </p:nvSpPr>
        <p:spPr>
          <a:xfrm>
            <a:off x="5266944" y="388620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Specify deliverables.</a:t>
            </a:r>
            <a:endParaRPr lang="en-US" sz="1600" dirty="0"/>
          </a:p>
        </p:txBody>
      </p:sp>
      <p:sp>
        <p:nvSpPr>
          <p:cNvPr id="17" name="Text 15"/>
          <p:cNvSpPr/>
          <p:nvPr/>
        </p:nvSpPr>
        <p:spPr>
          <a:xfrm>
            <a:off x="4983480" y="5166360"/>
            <a:ext cx="5852160" cy="411480"/>
          </a:xfrm>
          <a:prstGeom prst="rect">
            <a:avLst/>
          </a:prstGeom>
          <a:noFill/>
          <a:ln/>
        </p:spPr>
        <p:txBody>
          <a:bodyPr wrap="square" lIns="0" tIns="0" rIns="0" bIns="0" rtlCol="0" anchor="ctr"/>
          <a:lstStyle/>
          <a:p>
            <a:pPr marL="0" indent="0" algn="ctr">
              <a:buNone/>
            </a:pPr>
            <a:r>
              <a:rPr lang="en-US" sz="1400" b="1" dirty="0">
                <a:solidFill>
                  <a:srgbClr val="D14343"/>
                </a:solidFill>
              </a:rPr>
              <a:t>Pause here and create your answer before moving to the next slide.</a:t>
            </a:r>
            <a:endParaRPr lang="en-US" sz="14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3: Guided steps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Build the answer one decision at a time.</a:t>
            </a:r>
            <a:endParaRPr lang="en-US" sz="1150" dirty="0"/>
          </a:p>
        </p:txBody>
      </p:sp>
      <p:sp>
        <p:nvSpPr>
          <p:cNvPr id="4" name="Shape 2"/>
          <p:cNvSpPr/>
          <p:nvPr/>
        </p:nvSpPr>
        <p:spPr>
          <a:xfrm>
            <a:off x="786384" y="1225296"/>
            <a:ext cx="10561320" cy="685800"/>
          </a:xfrm>
          <a:prstGeom prst="roundRect">
            <a:avLst>
              <a:gd name="adj" fmla="val 10667"/>
            </a:avLst>
          </a:prstGeom>
          <a:solidFill>
            <a:srgbClr val="FFFFFF"/>
          </a:solidFill>
          <a:ln w="12700">
            <a:solidFill>
              <a:srgbClr val="D9E1EA"/>
            </a:solidFill>
            <a:prstDash val="solid"/>
          </a:ln>
        </p:spPr>
      </p:sp>
      <p:sp>
        <p:nvSpPr>
          <p:cNvPr id="5" name="Shape 3"/>
          <p:cNvSpPr/>
          <p:nvPr/>
        </p:nvSpPr>
        <p:spPr>
          <a:xfrm>
            <a:off x="1005840" y="1344168"/>
            <a:ext cx="438912" cy="438912"/>
          </a:xfrm>
          <a:prstGeom prst="ellipse">
            <a:avLst/>
          </a:prstGeom>
          <a:solidFill>
            <a:srgbClr val="15B8A6"/>
          </a:solidFill>
          <a:ln w="12700">
            <a:solidFill>
              <a:srgbClr val="15B8A6"/>
            </a:solidFill>
            <a:prstDash val="solid"/>
          </a:ln>
        </p:spPr>
      </p:sp>
      <p:sp>
        <p:nvSpPr>
          <p:cNvPr id="6" name="Text 4"/>
          <p:cNvSpPr/>
          <p:nvPr/>
        </p:nvSpPr>
        <p:spPr>
          <a:xfrm>
            <a:off x="1005840" y="1463040"/>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7" name="Text 5"/>
          <p:cNvSpPr/>
          <p:nvPr/>
        </p:nvSpPr>
        <p:spPr>
          <a:xfrm>
            <a:off x="1737360" y="1399032"/>
            <a:ext cx="9098280" cy="274320"/>
          </a:xfrm>
          <a:prstGeom prst="rect">
            <a:avLst/>
          </a:prstGeom>
          <a:noFill/>
          <a:ln/>
        </p:spPr>
        <p:txBody>
          <a:bodyPr wrap="square" lIns="0" tIns="0" rIns="0" bIns="0" rtlCol="0" anchor="ctr"/>
          <a:lstStyle/>
          <a:p>
            <a:pPr marL="0" indent="0">
              <a:buNone/>
            </a:pPr>
            <a:r>
              <a:rPr lang="en-US" sz="1600" dirty="0">
                <a:solidFill>
                  <a:srgbClr val="172033"/>
                </a:solidFill>
              </a:rPr>
              <a:t>Name the report and system.</a:t>
            </a:r>
            <a:endParaRPr lang="en-US" sz="1600" dirty="0"/>
          </a:p>
        </p:txBody>
      </p:sp>
      <p:sp>
        <p:nvSpPr>
          <p:cNvPr id="8" name="Shape 6"/>
          <p:cNvSpPr/>
          <p:nvPr/>
        </p:nvSpPr>
        <p:spPr>
          <a:xfrm>
            <a:off x="786384" y="2157984"/>
            <a:ext cx="10561320" cy="685800"/>
          </a:xfrm>
          <a:prstGeom prst="roundRect">
            <a:avLst>
              <a:gd name="adj" fmla="val 10667"/>
            </a:avLst>
          </a:prstGeom>
          <a:solidFill>
            <a:srgbClr val="F0FAF8"/>
          </a:solidFill>
          <a:ln w="12700">
            <a:solidFill>
              <a:srgbClr val="D9E1EA"/>
            </a:solidFill>
            <a:prstDash val="solid"/>
          </a:ln>
        </p:spPr>
      </p:sp>
      <p:sp>
        <p:nvSpPr>
          <p:cNvPr id="9" name="Shape 7"/>
          <p:cNvSpPr/>
          <p:nvPr/>
        </p:nvSpPr>
        <p:spPr>
          <a:xfrm>
            <a:off x="1005840" y="2276856"/>
            <a:ext cx="438912" cy="438912"/>
          </a:xfrm>
          <a:prstGeom prst="ellipse">
            <a:avLst/>
          </a:prstGeom>
          <a:solidFill>
            <a:srgbClr val="15B8A6"/>
          </a:solidFill>
          <a:ln w="12700">
            <a:solidFill>
              <a:srgbClr val="15B8A6"/>
            </a:solidFill>
            <a:prstDash val="solid"/>
          </a:ln>
        </p:spPr>
      </p:sp>
      <p:sp>
        <p:nvSpPr>
          <p:cNvPr id="10" name="Text 8"/>
          <p:cNvSpPr/>
          <p:nvPr/>
        </p:nvSpPr>
        <p:spPr>
          <a:xfrm>
            <a:off x="1005840" y="2395728"/>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1" name="Text 9"/>
          <p:cNvSpPr/>
          <p:nvPr/>
        </p:nvSpPr>
        <p:spPr>
          <a:xfrm>
            <a:off x="1737360" y="2331720"/>
            <a:ext cx="9098280" cy="274320"/>
          </a:xfrm>
          <a:prstGeom prst="rect">
            <a:avLst/>
          </a:prstGeom>
          <a:noFill/>
          <a:ln/>
        </p:spPr>
        <p:txBody>
          <a:bodyPr wrap="square" lIns="0" tIns="0" rIns="0" bIns="0" rtlCol="0" anchor="ctr"/>
          <a:lstStyle/>
          <a:p>
            <a:pPr marL="0" indent="0">
              <a:buNone/>
            </a:pPr>
            <a:r>
              <a:rPr lang="en-US" sz="1600" dirty="0">
                <a:solidFill>
                  <a:srgbClr val="172033"/>
                </a:solidFill>
              </a:rPr>
              <a:t>Define selection parameters.</a:t>
            </a:r>
            <a:endParaRPr lang="en-US" sz="1600" dirty="0"/>
          </a:p>
        </p:txBody>
      </p:sp>
      <p:sp>
        <p:nvSpPr>
          <p:cNvPr id="12" name="Shape 10"/>
          <p:cNvSpPr/>
          <p:nvPr/>
        </p:nvSpPr>
        <p:spPr>
          <a:xfrm>
            <a:off x="786384" y="3090672"/>
            <a:ext cx="10561320" cy="685800"/>
          </a:xfrm>
          <a:prstGeom prst="roundRect">
            <a:avLst>
              <a:gd name="adj" fmla="val 10667"/>
            </a:avLst>
          </a:prstGeom>
          <a:solidFill>
            <a:srgbClr val="FFFFFF"/>
          </a:solidFill>
          <a:ln w="12700">
            <a:solidFill>
              <a:srgbClr val="D9E1EA"/>
            </a:solidFill>
            <a:prstDash val="solid"/>
          </a:ln>
        </p:spPr>
      </p:sp>
      <p:sp>
        <p:nvSpPr>
          <p:cNvPr id="13" name="Shape 11"/>
          <p:cNvSpPr/>
          <p:nvPr/>
        </p:nvSpPr>
        <p:spPr>
          <a:xfrm>
            <a:off x="1005840" y="3209544"/>
            <a:ext cx="438912" cy="438912"/>
          </a:xfrm>
          <a:prstGeom prst="ellipse">
            <a:avLst/>
          </a:prstGeom>
          <a:solidFill>
            <a:srgbClr val="15B8A6"/>
          </a:solidFill>
          <a:ln w="12700">
            <a:solidFill>
              <a:srgbClr val="15B8A6"/>
            </a:solidFill>
            <a:prstDash val="solid"/>
          </a:ln>
        </p:spPr>
      </p:sp>
      <p:sp>
        <p:nvSpPr>
          <p:cNvPr id="14" name="Text 12"/>
          <p:cNvSpPr/>
          <p:nvPr/>
        </p:nvSpPr>
        <p:spPr>
          <a:xfrm>
            <a:off x="1005840" y="3328416"/>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5" name="Text 13"/>
          <p:cNvSpPr/>
          <p:nvPr/>
        </p:nvSpPr>
        <p:spPr>
          <a:xfrm>
            <a:off x="1737360" y="3264408"/>
            <a:ext cx="9098280" cy="274320"/>
          </a:xfrm>
          <a:prstGeom prst="rect">
            <a:avLst/>
          </a:prstGeom>
          <a:noFill/>
          <a:ln/>
        </p:spPr>
        <p:txBody>
          <a:bodyPr wrap="square" lIns="0" tIns="0" rIns="0" bIns="0" rtlCol="0" anchor="ctr"/>
          <a:lstStyle/>
          <a:p>
            <a:pPr marL="0" indent="0">
              <a:buNone/>
            </a:pPr>
            <a:r>
              <a:rPr lang="en-US" sz="1600" dirty="0">
                <a:solidFill>
                  <a:srgbClr val="172033"/>
                </a:solidFill>
              </a:rPr>
              <a:t>List sources and output fields.</a:t>
            </a:r>
            <a:endParaRPr lang="en-US" sz="1600" dirty="0"/>
          </a:p>
        </p:txBody>
      </p:sp>
      <p:sp>
        <p:nvSpPr>
          <p:cNvPr id="16" name="Shape 14"/>
          <p:cNvSpPr/>
          <p:nvPr/>
        </p:nvSpPr>
        <p:spPr>
          <a:xfrm>
            <a:off x="786384" y="4023360"/>
            <a:ext cx="10561320" cy="685800"/>
          </a:xfrm>
          <a:prstGeom prst="roundRect">
            <a:avLst>
              <a:gd name="adj" fmla="val 10667"/>
            </a:avLst>
          </a:prstGeom>
          <a:solidFill>
            <a:srgbClr val="F0FAF8"/>
          </a:solidFill>
          <a:ln w="12700">
            <a:solidFill>
              <a:srgbClr val="D9E1EA"/>
            </a:solidFill>
            <a:prstDash val="solid"/>
          </a:ln>
        </p:spPr>
      </p:sp>
      <p:sp>
        <p:nvSpPr>
          <p:cNvPr id="17" name="Shape 15"/>
          <p:cNvSpPr/>
          <p:nvPr/>
        </p:nvSpPr>
        <p:spPr>
          <a:xfrm>
            <a:off x="1005840" y="4142232"/>
            <a:ext cx="438912" cy="438912"/>
          </a:xfrm>
          <a:prstGeom prst="ellipse">
            <a:avLst/>
          </a:prstGeom>
          <a:solidFill>
            <a:srgbClr val="15B8A6"/>
          </a:solidFill>
          <a:ln w="12700">
            <a:solidFill>
              <a:srgbClr val="15B8A6"/>
            </a:solidFill>
            <a:prstDash val="solid"/>
          </a:ln>
        </p:spPr>
      </p:sp>
      <p:sp>
        <p:nvSpPr>
          <p:cNvPr id="18" name="Text 16"/>
          <p:cNvSpPr/>
          <p:nvPr/>
        </p:nvSpPr>
        <p:spPr>
          <a:xfrm>
            <a:off x="1005840" y="4261104"/>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19" name="Text 17"/>
          <p:cNvSpPr/>
          <p:nvPr/>
        </p:nvSpPr>
        <p:spPr>
          <a:xfrm>
            <a:off x="1737360" y="4197096"/>
            <a:ext cx="9098280" cy="274320"/>
          </a:xfrm>
          <a:prstGeom prst="rect">
            <a:avLst/>
          </a:prstGeom>
          <a:noFill/>
          <a:ln/>
        </p:spPr>
        <p:txBody>
          <a:bodyPr wrap="square" lIns="0" tIns="0" rIns="0" bIns="0" rtlCol="0" anchor="ctr"/>
          <a:lstStyle/>
          <a:p>
            <a:pPr marL="0" indent="0">
              <a:buNone/>
            </a:pPr>
            <a:r>
              <a:rPr lang="en-US" sz="1600" dirty="0">
                <a:solidFill>
                  <a:srgbClr val="172033"/>
                </a:solidFill>
              </a:rPr>
              <a:t>Add date and authorisation rules.</a:t>
            </a:r>
            <a:endParaRPr lang="en-US" sz="1600" dirty="0"/>
          </a:p>
        </p:txBody>
      </p:sp>
      <p:sp>
        <p:nvSpPr>
          <p:cNvPr id="20" name="Shape 18"/>
          <p:cNvSpPr/>
          <p:nvPr/>
        </p:nvSpPr>
        <p:spPr>
          <a:xfrm>
            <a:off x="786384" y="4956048"/>
            <a:ext cx="10561320" cy="685800"/>
          </a:xfrm>
          <a:prstGeom prst="roundRect">
            <a:avLst>
              <a:gd name="adj" fmla="val 10667"/>
            </a:avLst>
          </a:prstGeom>
          <a:solidFill>
            <a:srgbClr val="FFFFFF"/>
          </a:solidFill>
          <a:ln w="12700">
            <a:solidFill>
              <a:srgbClr val="D9E1EA"/>
            </a:solidFill>
            <a:prstDash val="solid"/>
          </a:ln>
        </p:spPr>
      </p:sp>
      <p:sp>
        <p:nvSpPr>
          <p:cNvPr id="21" name="Shape 19"/>
          <p:cNvSpPr/>
          <p:nvPr/>
        </p:nvSpPr>
        <p:spPr>
          <a:xfrm>
            <a:off x="1005840" y="5074920"/>
            <a:ext cx="438912" cy="438912"/>
          </a:xfrm>
          <a:prstGeom prst="ellipse">
            <a:avLst/>
          </a:prstGeom>
          <a:solidFill>
            <a:srgbClr val="F59E0B"/>
          </a:solidFill>
          <a:ln w="12700">
            <a:solidFill>
              <a:srgbClr val="F59E0B"/>
            </a:solidFill>
            <a:prstDash val="solid"/>
          </a:ln>
        </p:spPr>
      </p:sp>
      <p:sp>
        <p:nvSpPr>
          <p:cNvPr id="22" name="Text 20"/>
          <p:cNvSpPr/>
          <p:nvPr/>
        </p:nvSpPr>
        <p:spPr>
          <a:xfrm>
            <a:off x="1005840" y="5193792"/>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23" name="Text 21"/>
          <p:cNvSpPr/>
          <p:nvPr/>
        </p:nvSpPr>
        <p:spPr>
          <a:xfrm>
            <a:off x="1737360" y="5129784"/>
            <a:ext cx="9098280" cy="274320"/>
          </a:xfrm>
          <a:prstGeom prst="rect">
            <a:avLst/>
          </a:prstGeom>
          <a:noFill/>
          <a:ln/>
        </p:spPr>
        <p:txBody>
          <a:bodyPr wrap="square" lIns="0" tIns="0" rIns="0" bIns="0" rtlCol="0" anchor="ctr"/>
          <a:lstStyle/>
          <a:p>
            <a:pPr marL="0" indent="0">
              <a:buNone/>
            </a:pPr>
            <a:r>
              <a:rPr lang="en-US" sz="1600" dirty="0">
                <a:solidFill>
                  <a:srgbClr val="172033"/>
                </a:solidFill>
              </a:rPr>
              <a:t>Request SALV, tests and activation notes.</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3: Model answer</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Use this as a reference, then replace placeholders with verified system details.</a:t>
            </a:r>
            <a:endParaRPr lang="en-US" sz="1150" dirty="0"/>
          </a:p>
        </p:txBody>
      </p:sp>
      <p:sp>
        <p:nvSpPr>
          <p:cNvPr id="4" name="Shape 2"/>
          <p:cNvSpPr/>
          <p:nvPr/>
        </p:nvSpPr>
        <p:spPr>
          <a:xfrm>
            <a:off x="713232" y="1207008"/>
            <a:ext cx="10972800" cy="5010912"/>
          </a:xfrm>
          <a:prstGeom prst="roundRect">
            <a:avLst>
              <a:gd name="adj" fmla="val 1460"/>
            </a:avLst>
          </a:prstGeom>
          <a:solidFill>
            <a:srgbClr val="10263B"/>
          </a:solidFill>
          <a:ln w="12700">
            <a:solidFill>
              <a:srgbClr val="284B66"/>
            </a:solidFill>
            <a:prstDash val="solid"/>
          </a:ln>
        </p:spPr>
      </p:sp>
      <p:sp>
        <p:nvSpPr>
          <p:cNvPr id="5" name="Text 3"/>
          <p:cNvSpPr/>
          <p:nvPr/>
        </p:nvSpPr>
        <p:spPr>
          <a:xfrm>
            <a:off x="877824" y="1344168"/>
            <a:ext cx="10643616" cy="4736592"/>
          </a:xfrm>
          <a:prstGeom prst="rect">
            <a:avLst/>
          </a:prstGeom>
          <a:noFill/>
          <a:ln/>
        </p:spPr>
        <p:txBody>
          <a:bodyPr wrap="square" lIns="254" tIns="254" rIns="254" bIns="254" rtlCol="0" anchor="ctr">
            <a:normAutofit/>
          </a:bodyPr>
          <a:lstStyle/>
          <a:p>
            <a:pPr marL="0" indent="0">
              <a:buNone/>
            </a:pPr>
            <a:r>
              <a:rPr lang="en-US" sz="1250" dirty="0">
                <a:solidFill>
                  <a:srgbClr val="EDF6FC"/>
                </a:solidFill>
                <a:latin typeface="Consolas" pitchFamily="34" charset="0"/>
                <a:ea typeface="Consolas" pitchFamily="34" charset="-122"/>
                <a:cs typeface="Consolas" pitchFamily="34" charset="-120"/>
              </a:rPr>
              <a:t>Create report ZHR_EMP_ORG for S/4HANA, ABAP 7.55. Selection: S_PERNR, P_BEGDA, P_ENDDA. Read IT0001 and IT0002 using the agreed validity-overlap logic. Output PERNR, first name, last name, personnel area, organisational unit, position, valid-from and valid-to. Apply the applicable HR authorisation design. Push filters to the database, avoid database access inside loops, and keep extraction logic testable. Display with CL_SALV_TABLE. Deliver source code, ABAP Unit tests for overlap/no-data/multiple-record cases, sample data, activation notes and assumptions.</a:t>
            </a:r>
            <a:endParaRPr lang="en-US" sz="125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4: Convert modern ABAP to ABAP 7.0</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Level: Compatibility</a:t>
            </a:r>
            <a:endParaRPr lang="en-US" sz="1150" dirty="0"/>
          </a:p>
        </p:txBody>
      </p:sp>
      <p:sp>
        <p:nvSpPr>
          <p:cNvPr id="4" name="Shape 2"/>
          <p:cNvSpPr/>
          <p:nvPr/>
        </p:nvSpPr>
        <p:spPr>
          <a:xfrm>
            <a:off x="685800" y="1234440"/>
            <a:ext cx="3703320" cy="4800600"/>
          </a:xfrm>
          <a:prstGeom prst="roundRect">
            <a:avLst>
              <a:gd name="adj" fmla="val 1975"/>
            </a:avLst>
          </a:prstGeom>
          <a:solidFill>
            <a:srgbClr val="EEF5FB"/>
          </a:solidFill>
          <a:ln w="12700">
            <a:solidFill>
              <a:srgbClr val="D9E1EA"/>
            </a:solidFill>
            <a:prstDash val="solid"/>
          </a:ln>
        </p:spPr>
      </p:sp>
      <p:sp>
        <p:nvSpPr>
          <p:cNvPr id="5" name="Shape 3"/>
          <p:cNvSpPr/>
          <p:nvPr/>
        </p:nvSpPr>
        <p:spPr>
          <a:xfrm>
            <a:off x="932688" y="1508760"/>
            <a:ext cx="1143000" cy="310896"/>
          </a:xfrm>
          <a:prstGeom prst="roundRect">
            <a:avLst>
              <a:gd name="adj" fmla="val 23529"/>
            </a:avLst>
          </a:prstGeom>
          <a:solidFill>
            <a:srgbClr val="0B5CAD"/>
          </a:solidFill>
          <a:ln w="12700">
            <a:solidFill>
              <a:srgbClr val="0B5CAD"/>
            </a:solidFill>
            <a:prstDash val="solid"/>
          </a:ln>
        </p:spPr>
      </p:sp>
      <p:sp>
        <p:nvSpPr>
          <p:cNvPr id="6" name="Text 4"/>
          <p:cNvSpPr/>
          <p:nvPr/>
        </p:nvSpPr>
        <p:spPr>
          <a:xfrm>
            <a:off x="978408" y="1577340"/>
            <a:ext cx="1051560" cy="164592"/>
          </a:xfrm>
          <a:prstGeom prst="rect">
            <a:avLst/>
          </a:prstGeom>
          <a:noFill/>
          <a:ln/>
        </p:spPr>
        <p:txBody>
          <a:bodyPr wrap="square" lIns="0" tIns="0" rIns="0" bIns="0" rtlCol="0" anchor="ctr"/>
          <a:lstStyle/>
          <a:p>
            <a:pPr marL="0" indent="0" algn="ctr">
              <a:buNone/>
            </a:pPr>
            <a:r>
              <a:rPr lang="en-US" sz="900" b="1" dirty="0">
                <a:solidFill>
                  <a:srgbClr val="FFFFFF"/>
                </a:solidFill>
              </a:rPr>
              <a:t>SCENARIO</a:t>
            </a:r>
            <a:endParaRPr lang="en-US" sz="900" dirty="0"/>
          </a:p>
        </p:txBody>
      </p:sp>
      <p:sp>
        <p:nvSpPr>
          <p:cNvPr id="7" name="Text 5"/>
          <p:cNvSpPr/>
          <p:nvPr/>
        </p:nvSpPr>
        <p:spPr>
          <a:xfrm>
            <a:off x="960120" y="2148840"/>
            <a:ext cx="3154680" cy="2057400"/>
          </a:xfrm>
          <a:prstGeom prst="rect">
            <a:avLst/>
          </a:prstGeom>
          <a:noFill/>
          <a:ln/>
        </p:spPr>
        <p:txBody>
          <a:bodyPr wrap="square" lIns="0" tIns="0" rIns="0" bIns="0" rtlCol="0" anchor="ctr"/>
          <a:lstStyle/>
          <a:p>
            <a:pPr marL="0" indent="0" algn="ctr">
              <a:buNone/>
            </a:pPr>
            <a:r>
              <a:rPr lang="en-US" sz="1700" b="1" dirty="0">
                <a:solidFill>
                  <a:srgbClr val="172033"/>
                </a:solidFill>
              </a:rPr>
              <a:t>A generated solution uses inline DATA, VALUE, FOR and table expressions, but the target is ABAP 7.0.</a:t>
            </a:r>
            <a:endParaRPr lang="en-US" sz="1700" dirty="0"/>
          </a:p>
        </p:txBody>
      </p:sp>
      <p:sp>
        <p:nvSpPr>
          <p:cNvPr id="8" name="Shape 6"/>
          <p:cNvSpPr/>
          <p:nvPr/>
        </p:nvSpPr>
        <p:spPr>
          <a:xfrm>
            <a:off x="4590288" y="1234440"/>
            <a:ext cx="6903720" cy="4800600"/>
          </a:xfrm>
          <a:prstGeom prst="roundRect">
            <a:avLst>
              <a:gd name="adj" fmla="val 1524"/>
            </a:avLst>
          </a:prstGeom>
          <a:solidFill>
            <a:srgbClr val="FFF9ED"/>
          </a:solidFill>
          <a:ln w="12700">
            <a:solidFill>
              <a:srgbClr val="F2D89C"/>
            </a:solidFill>
            <a:prstDash val="solid"/>
          </a:ln>
        </p:spPr>
      </p:sp>
      <p:sp>
        <p:nvSpPr>
          <p:cNvPr id="9" name="Shape 7"/>
          <p:cNvSpPr/>
          <p:nvPr/>
        </p:nvSpPr>
        <p:spPr>
          <a:xfrm>
            <a:off x="4873752" y="1508760"/>
            <a:ext cx="1188720" cy="310896"/>
          </a:xfrm>
          <a:prstGeom prst="roundRect">
            <a:avLst>
              <a:gd name="adj" fmla="val 23529"/>
            </a:avLst>
          </a:prstGeom>
          <a:solidFill>
            <a:srgbClr val="F59E0B"/>
          </a:solidFill>
          <a:ln w="12700">
            <a:solidFill>
              <a:srgbClr val="F59E0B"/>
            </a:solidFill>
            <a:prstDash val="solid"/>
          </a:ln>
        </p:spPr>
      </p:sp>
      <p:sp>
        <p:nvSpPr>
          <p:cNvPr id="10" name="Text 8"/>
          <p:cNvSpPr/>
          <p:nvPr/>
        </p:nvSpPr>
        <p:spPr>
          <a:xfrm>
            <a:off x="4919472" y="1577340"/>
            <a:ext cx="1097280" cy="164592"/>
          </a:xfrm>
          <a:prstGeom prst="rect">
            <a:avLst/>
          </a:prstGeom>
          <a:noFill/>
          <a:ln/>
        </p:spPr>
        <p:txBody>
          <a:bodyPr wrap="square" lIns="0" tIns="0" rIns="0" bIns="0" rtlCol="0" anchor="ctr"/>
          <a:lstStyle/>
          <a:p>
            <a:pPr marL="0" indent="0" algn="ctr">
              <a:buNone/>
            </a:pPr>
            <a:r>
              <a:rPr lang="en-US" sz="900" b="1" dirty="0">
                <a:solidFill>
                  <a:srgbClr val="FFFFFF"/>
                </a:solidFill>
              </a:rPr>
              <a:t>YOUR TASK</a:t>
            </a:r>
            <a:endParaRPr lang="en-US" sz="900" dirty="0"/>
          </a:p>
        </p:txBody>
      </p:sp>
      <p:sp>
        <p:nvSpPr>
          <p:cNvPr id="11" name="Shape 9"/>
          <p:cNvSpPr/>
          <p:nvPr/>
        </p:nvSpPr>
        <p:spPr>
          <a:xfrm>
            <a:off x="4937760" y="2313432"/>
            <a:ext cx="192024" cy="192024"/>
          </a:xfrm>
          <a:prstGeom prst="ellipse">
            <a:avLst/>
          </a:prstGeom>
          <a:solidFill>
            <a:srgbClr val="15B8A6"/>
          </a:solidFill>
          <a:ln w="12700">
            <a:solidFill>
              <a:srgbClr val="15B8A6"/>
            </a:solidFill>
            <a:prstDash val="solid"/>
          </a:ln>
        </p:spPr>
      </p:sp>
      <p:sp>
        <p:nvSpPr>
          <p:cNvPr id="12" name="Text 10"/>
          <p:cNvSpPr/>
          <p:nvPr/>
        </p:nvSpPr>
        <p:spPr>
          <a:xfrm>
            <a:off x="5266944" y="224028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List prohibited syntax.</a:t>
            </a:r>
            <a:endParaRPr lang="en-US" sz="1600" dirty="0"/>
          </a:p>
        </p:txBody>
      </p:sp>
      <p:sp>
        <p:nvSpPr>
          <p:cNvPr id="13" name="Shape 11"/>
          <p:cNvSpPr/>
          <p:nvPr/>
        </p:nvSpPr>
        <p:spPr>
          <a:xfrm>
            <a:off x="4937760" y="3136392"/>
            <a:ext cx="192024" cy="192024"/>
          </a:xfrm>
          <a:prstGeom prst="ellipse">
            <a:avLst/>
          </a:prstGeom>
          <a:solidFill>
            <a:srgbClr val="15B8A6"/>
          </a:solidFill>
          <a:ln w="12700">
            <a:solidFill>
              <a:srgbClr val="15B8A6"/>
            </a:solidFill>
            <a:prstDash val="solid"/>
          </a:ln>
        </p:spPr>
      </p:sp>
      <p:sp>
        <p:nvSpPr>
          <p:cNvPr id="14" name="Text 12"/>
          <p:cNvSpPr/>
          <p:nvPr/>
        </p:nvSpPr>
        <p:spPr>
          <a:xfrm>
            <a:off x="5266944" y="306324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Request semantic preservation.</a:t>
            </a:r>
            <a:endParaRPr lang="en-US" sz="1600" dirty="0"/>
          </a:p>
        </p:txBody>
      </p:sp>
      <p:sp>
        <p:nvSpPr>
          <p:cNvPr id="15" name="Shape 13"/>
          <p:cNvSpPr/>
          <p:nvPr/>
        </p:nvSpPr>
        <p:spPr>
          <a:xfrm>
            <a:off x="4937760" y="3959352"/>
            <a:ext cx="192024" cy="192024"/>
          </a:xfrm>
          <a:prstGeom prst="ellipse">
            <a:avLst/>
          </a:prstGeom>
          <a:solidFill>
            <a:srgbClr val="15B8A6"/>
          </a:solidFill>
          <a:ln w="12700">
            <a:solidFill>
              <a:srgbClr val="15B8A6"/>
            </a:solidFill>
            <a:prstDash val="solid"/>
          </a:ln>
        </p:spPr>
      </p:sp>
      <p:sp>
        <p:nvSpPr>
          <p:cNvPr id="16" name="Text 14"/>
          <p:cNvSpPr/>
          <p:nvPr/>
        </p:nvSpPr>
        <p:spPr>
          <a:xfrm>
            <a:off x="5266944" y="388620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Add a validation method.</a:t>
            </a:r>
            <a:endParaRPr lang="en-US" sz="1600" dirty="0"/>
          </a:p>
        </p:txBody>
      </p:sp>
      <p:sp>
        <p:nvSpPr>
          <p:cNvPr id="17" name="Text 15"/>
          <p:cNvSpPr/>
          <p:nvPr/>
        </p:nvSpPr>
        <p:spPr>
          <a:xfrm>
            <a:off x="4983480" y="5166360"/>
            <a:ext cx="5852160" cy="411480"/>
          </a:xfrm>
          <a:prstGeom prst="rect">
            <a:avLst/>
          </a:prstGeom>
          <a:noFill/>
          <a:ln/>
        </p:spPr>
        <p:txBody>
          <a:bodyPr wrap="square" lIns="0" tIns="0" rIns="0" bIns="0" rtlCol="0" anchor="ctr"/>
          <a:lstStyle/>
          <a:p>
            <a:pPr marL="0" indent="0" algn="ctr">
              <a:buNone/>
            </a:pPr>
            <a:r>
              <a:rPr lang="en-US" sz="1400" b="1" dirty="0">
                <a:solidFill>
                  <a:srgbClr val="D14343"/>
                </a:solidFill>
              </a:rPr>
              <a:t>Pause here and create your answer before moving to the next slide.</a:t>
            </a:r>
            <a:endParaRPr lang="en-US" sz="14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4: Guided steps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Build the answer one decision at a time.</a:t>
            </a:r>
            <a:endParaRPr lang="en-US" sz="1150" dirty="0"/>
          </a:p>
        </p:txBody>
      </p:sp>
      <p:sp>
        <p:nvSpPr>
          <p:cNvPr id="4" name="Shape 2"/>
          <p:cNvSpPr/>
          <p:nvPr/>
        </p:nvSpPr>
        <p:spPr>
          <a:xfrm>
            <a:off x="786384" y="1225296"/>
            <a:ext cx="10561320" cy="685800"/>
          </a:xfrm>
          <a:prstGeom prst="roundRect">
            <a:avLst>
              <a:gd name="adj" fmla="val 10667"/>
            </a:avLst>
          </a:prstGeom>
          <a:solidFill>
            <a:srgbClr val="FFFFFF"/>
          </a:solidFill>
          <a:ln w="12700">
            <a:solidFill>
              <a:srgbClr val="D9E1EA"/>
            </a:solidFill>
            <a:prstDash val="solid"/>
          </a:ln>
        </p:spPr>
      </p:sp>
      <p:sp>
        <p:nvSpPr>
          <p:cNvPr id="5" name="Shape 3"/>
          <p:cNvSpPr/>
          <p:nvPr/>
        </p:nvSpPr>
        <p:spPr>
          <a:xfrm>
            <a:off x="1005840" y="1344168"/>
            <a:ext cx="438912" cy="438912"/>
          </a:xfrm>
          <a:prstGeom prst="ellipse">
            <a:avLst/>
          </a:prstGeom>
          <a:solidFill>
            <a:srgbClr val="15B8A6"/>
          </a:solidFill>
          <a:ln w="12700">
            <a:solidFill>
              <a:srgbClr val="15B8A6"/>
            </a:solidFill>
            <a:prstDash val="solid"/>
          </a:ln>
        </p:spPr>
      </p:sp>
      <p:sp>
        <p:nvSpPr>
          <p:cNvPr id="6" name="Text 4"/>
          <p:cNvSpPr/>
          <p:nvPr/>
        </p:nvSpPr>
        <p:spPr>
          <a:xfrm>
            <a:off x="1005840" y="1463040"/>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7" name="Text 5"/>
          <p:cNvSpPr/>
          <p:nvPr/>
        </p:nvSpPr>
        <p:spPr>
          <a:xfrm>
            <a:off x="1737360" y="1399032"/>
            <a:ext cx="9098280" cy="274320"/>
          </a:xfrm>
          <a:prstGeom prst="rect">
            <a:avLst/>
          </a:prstGeom>
          <a:noFill/>
          <a:ln/>
        </p:spPr>
        <p:txBody>
          <a:bodyPr wrap="square" lIns="0" tIns="0" rIns="0" bIns="0" rtlCol="0" anchor="ctr"/>
          <a:lstStyle/>
          <a:p>
            <a:pPr marL="0" indent="0">
              <a:buNone/>
            </a:pPr>
            <a:r>
              <a:rPr lang="en-US" sz="1600" dirty="0">
                <a:solidFill>
                  <a:srgbClr val="172033"/>
                </a:solidFill>
              </a:rPr>
              <a:t>State ABAP 7.0 as the target.</a:t>
            </a:r>
            <a:endParaRPr lang="en-US" sz="1600" dirty="0"/>
          </a:p>
        </p:txBody>
      </p:sp>
      <p:sp>
        <p:nvSpPr>
          <p:cNvPr id="8" name="Shape 6"/>
          <p:cNvSpPr/>
          <p:nvPr/>
        </p:nvSpPr>
        <p:spPr>
          <a:xfrm>
            <a:off x="786384" y="2157984"/>
            <a:ext cx="10561320" cy="685800"/>
          </a:xfrm>
          <a:prstGeom prst="roundRect">
            <a:avLst>
              <a:gd name="adj" fmla="val 10667"/>
            </a:avLst>
          </a:prstGeom>
          <a:solidFill>
            <a:srgbClr val="F0FAF8"/>
          </a:solidFill>
          <a:ln w="12700">
            <a:solidFill>
              <a:srgbClr val="D9E1EA"/>
            </a:solidFill>
            <a:prstDash val="solid"/>
          </a:ln>
        </p:spPr>
      </p:sp>
      <p:sp>
        <p:nvSpPr>
          <p:cNvPr id="9" name="Shape 7"/>
          <p:cNvSpPr/>
          <p:nvPr/>
        </p:nvSpPr>
        <p:spPr>
          <a:xfrm>
            <a:off x="1005840" y="2276856"/>
            <a:ext cx="438912" cy="438912"/>
          </a:xfrm>
          <a:prstGeom prst="ellipse">
            <a:avLst/>
          </a:prstGeom>
          <a:solidFill>
            <a:srgbClr val="15B8A6"/>
          </a:solidFill>
          <a:ln w="12700">
            <a:solidFill>
              <a:srgbClr val="15B8A6"/>
            </a:solidFill>
            <a:prstDash val="solid"/>
          </a:ln>
        </p:spPr>
      </p:sp>
      <p:sp>
        <p:nvSpPr>
          <p:cNvPr id="10" name="Text 8"/>
          <p:cNvSpPr/>
          <p:nvPr/>
        </p:nvSpPr>
        <p:spPr>
          <a:xfrm>
            <a:off x="1005840" y="2395728"/>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1" name="Text 9"/>
          <p:cNvSpPr/>
          <p:nvPr/>
        </p:nvSpPr>
        <p:spPr>
          <a:xfrm>
            <a:off x="1737360" y="2331720"/>
            <a:ext cx="9098280" cy="274320"/>
          </a:xfrm>
          <a:prstGeom prst="rect">
            <a:avLst/>
          </a:prstGeom>
          <a:noFill/>
          <a:ln/>
        </p:spPr>
        <p:txBody>
          <a:bodyPr wrap="square" lIns="0" tIns="0" rIns="0" bIns="0" rtlCol="0" anchor="ctr"/>
          <a:lstStyle/>
          <a:p>
            <a:pPr marL="0" indent="0">
              <a:buNone/>
            </a:pPr>
            <a:r>
              <a:rPr lang="en-US" sz="1600" dirty="0">
                <a:solidFill>
                  <a:srgbClr val="172033"/>
                </a:solidFill>
              </a:rPr>
              <a:t>Enumerate unsupported constructs.</a:t>
            </a:r>
            <a:endParaRPr lang="en-US" sz="1600" dirty="0"/>
          </a:p>
        </p:txBody>
      </p:sp>
      <p:sp>
        <p:nvSpPr>
          <p:cNvPr id="12" name="Shape 10"/>
          <p:cNvSpPr/>
          <p:nvPr/>
        </p:nvSpPr>
        <p:spPr>
          <a:xfrm>
            <a:off x="786384" y="3090672"/>
            <a:ext cx="10561320" cy="685800"/>
          </a:xfrm>
          <a:prstGeom prst="roundRect">
            <a:avLst>
              <a:gd name="adj" fmla="val 10667"/>
            </a:avLst>
          </a:prstGeom>
          <a:solidFill>
            <a:srgbClr val="FFFFFF"/>
          </a:solidFill>
          <a:ln w="12700">
            <a:solidFill>
              <a:srgbClr val="D9E1EA"/>
            </a:solidFill>
            <a:prstDash val="solid"/>
          </a:ln>
        </p:spPr>
      </p:sp>
      <p:sp>
        <p:nvSpPr>
          <p:cNvPr id="13" name="Shape 11"/>
          <p:cNvSpPr/>
          <p:nvPr/>
        </p:nvSpPr>
        <p:spPr>
          <a:xfrm>
            <a:off x="1005840" y="3209544"/>
            <a:ext cx="438912" cy="438912"/>
          </a:xfrm>
          <a:prstGeom prst="ellipse">
            <a:avLst/>
          </a:prstGeom>
          <a:solidFill>
            <a:srgbClr val="15B8A6"/>
          </a:solidFill>
          <a:ln w="12700">
            <a:solidFill>
              <a:srgbClr val="15B8A6"/>
            </a:solidFill>
            <a:prstDash val="solid"/>
          </a:ln>
        </p:spPr>
      </p:sp>
      <p:sp>
        <p:nvSpPr>
          <p:cNvPr id="14" name="Text 12"/>
          <p:cNvSpPr/>
          <p:nvPr/>
        </p:nvSpPr>
        <p:spPr>
          <a:xfrm>
            <a:off x="1005840" y="3328416"/>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5" name="Text 13"/>
          <p:cNvSpPr/>
          <p:nvPr/>
        </p:nvSpPr>
        <p:spPr>
          <a:xfrm>
            <a:off x="1737360" y="3264408"/>
            <a:ext cx="9098280" cy="274320"/>
          </a:xfrm>
          <a:prstGeom prst="rect">
            <a:avLst/>
          </a:prstGeom>
          <a:noFill/>
          <a:ln/>
        </p:spPr>
        <p:txBody>
          <a:bodyPr wrap="square" lIns="0" tIns="0" rIns="0" bIns="0" rtlCol="0" anchor="ctr"/>
          <a:lstStyle/>
          <a:p>
            <a:pPr marL="0" indent="0">
              <a:buNone/>
            </a:pPr>
            <a:r>
              <a:rPr lang="en-US" sz="1600" dirty="0">
                <a:solidFill>
                  <a:srgbClr val="172033"/>
                </a:solidFill>
              </a:rPr>
              <a:t>Request explicit declarations.</a:t>
            </a:r>
            <a:endParaRPr lang="en-US" sz="1600" dirty="0"/>
          </a:p>
        </p:txBody>
      </p:sp>
      <p:sp>
        <p:nvSpPr>
          <p:cNvPr id="16" name="Shape 14"/>
          <p:cNvSpPr/>
          <p:nvPr/>
        </p:nvSpPr>
        <p:spPr>
          <a:xfrm>
            <a:off x="786384" y="4023360"/>
            <a:ext cx="10561320" cy="685800"/>
          </a:xfrm>
          <a:prstGeom prst="roundRect">
            <a:avLst>
              <a:gd name="adj" fmla="val 10667"/>
            </a:avLst>
          </a:prstGeom>
          <a:solidFill>
            <a:srgbClr val="F0FAF8"/>
          </a:solidFill>
          <a:ln w="12700">
            <a:solidFill>
              <a:srgbClr val="D9E1EA"/>
            </a:solidFill>
            <a:prstDash val="solid"/>
          </a:ln>
        </p:spPr>
      </p:sp>
      <p:sp>
        <p:nvSpPr>
          <p:cNvPr id="17" name="Shape 15"/>
          <p:cNvSpPr/>
          <p:nvPr/>
        </p:nvSpPr>
        <p:spPr>
          <a:xfrm>
            <a:off x="1005840" y="4142232"/>
            <a:ext cx="438912" cy="438912"/>
          </a:xfrm>
          <a:prstGeom prst="ellipse">
            <a:avLst/>
          </a:prstGeom>
          <a:solidFill>
            <a:srgbClr val="15B8A6"/>
          </a:solidFill>
          <a:ln w="12700">
            <a:solidFill>
              <a:srgbClr val="15B8A6"/>
            </a:solidFill>
            <a:prstDash val="solid"/>
          </a:ln>
        </p:spPr>
      </p:sp>
      <p:sp>
        <p:nvSpPr>
          <p:cNvPr id="18" name="Text 16"/>
          <p:cNvSpPr/>
          <p:nvPr/>
        </p:nvSpPr>
        <p:spPr>
          <a:xfrm>
            <a:off x="1005840" y="4261104"/>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19" name="Text 17"/>
          <p:cNvSpPr/>
          <p:nvPr/>
        </p:nvSpPr>
        <p:spPr>
          <a:xfrm>
            <a:off x="1737360" y="4197096"/>
            <a:ext cx="9098280" cy="274320"/>
          </a:xfrm>
          <a:prstGeom prst="rect">
            <a:avLst/>
          </a:prstGeom>
          <a:noFill/>
          <a:ln/>
        </p:spPr>
        <p:txBody>
          <a:bodyPr wrap="square" lIns="0" tIns="0" rIns="0" bIns="0" rtlCol="0" anchor="ctr"/>
          <a:lstStyle/>
          <a:p>
            <a:pPr marL="0" indent="0">
              <a:buNone/>
            </a:pPr>
            <a:r>
              <a:rPr lang="en-US" sz="1600" dirty="0">
                <a:solidFill>
                  <a:srgbClr val="172033"/>
                </a:solidFill>
              </a:rPr>
              <a:t>Preserve result and error behaviour.</a:t>
            </a:r>
            <a:endParaRPr lang="en-US" sz="1600" dirty="0"/>
          </a:p>
        </p:txBody>
      </p:sp>
      <p:sp>
        <p:nvSpPr>
          <p:cNvPr id="20" name="Shape 18"/>
          <p:cNvSpPr/>
          <p:nvPr/>
        </p:nvSpPr>
        <p:spPr>
          <a:xfrm>
            <a:off x="786384" y="4956048"/>
            <a:ext cx="10561320" cy="685800"/>
          </a:xfrm>
          <a:prstGeom prst="roundRect">
            <a:avLst>
              <a:gd name="adj" fmla="val 10667"/>
            </a:avLst>
          </a:prstGeom>
          <a:solidFill>
            <a:srgbClr val="FFFFFF"/>
          </a:solidFill>
          <a:ln w="12700">
            <a:solidFill>
              <a:srgbClr val="D9E1EA"/>
            </a:solidFill>
            <a:prstDash val="solid"/>
          </a:ln>
        </p:spPr>
      </p:sp>
      <p:sp>
        <p:nvSpPr>
          <p:cNvPr id="21" name="Shape 19"/>
          <p:cNvSpPr/>
          <p:nvPr/>
        </p:nvSpPr>
        <p:spPr>
          <a:xfrm>
            <a:off x="1005840" y="5074920"/>
            <a:ext cx="438912" cy="438912"/>
          </a:xfrm>
          <a:prstGeom prst="ellipse">
            <a:avLst/>
          </a:prstGeom>
          <a:solidFill>
            <a:srgbClr val="F59E0B"/>
          </a:solidFill>
          <a:ln w="12700">
            <a:solidFill>
              <a:srgbClr val="F59E0B"/>
            </a:solidFill>
            <a:prstDash val="solid"/>
          </a:ln>
        </p:spPr>
      </p:sp>
      <p:sp>
        <p:nvSpPr>
          <p:cNvPr id="22" name="Text 20"/>
          <p:cNvSpPr/>
          <p:nvPr/>
        </p:nvSpPr>
        <p:spPr>
          <a:xfrm>
            <a:off x="1005840" y="5193792"/>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23" name="Text 21"/>
          <p:cNvSpPr/>
          <p:nvPr/>
        </p:nvSpPr>
        <p:spPr>
          <a:xfrm>
            <a:off x="1737360" y="5129784"/>
            <a:ext cx="9098280" cy="274320"/>
          </a:xfrm>
          <a:prstGeom prst="rect">
            <a:avLst/>
          </a:prstGeom>
          <a:noFill/>
          <a:ln/>
        </p:spPr>
        <p:txBody>
          <a:bodyPr wrap="square" lIns="0" tIns="0" rIns="0" bIns="0" rtlCol="0" anchor="ctr"/>
          <a:lstStyle/>
          <a:p>
            <a:pPr marL="0" indent="0">
              <a:buNone/>
            </a:pPr>
            <a:r>
              <a:rPr lang="en-US" sz="1600" dirty="0">
                <a:solidFill>
                  <a:srgbClr val="172033"/>
                </a:solidFill>
              </a:rPr>
              <a:t>Compare outputs using the same test data.</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4: Model answer</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Use this as a reference, then replace placeholders with verified system details.</a:t>
            </a:r>
            <a:endParaRPr lang="en-US" sz="1150" dirty="0"/>
          </a:p>
        </p:txBody>
      </p:sp>
      <p:sp>
        <p:nvSpPr>
          <p:cNvPr id="4" name="Shape 2"/>
          <p:cNvSpPr/>
          <p:nvPr/>
        </p:nvSpPr>
        <p:spPr>
          <a:xfrm>
            <a:off x="713232" y="1207008"/>
            <a:ext cx="10972800" cy="5010912"/>
          </a:xfrm>
          <a:prstGeom prst="roundRect">
            <a:avLst>
              <a:gd name="adj" fmla="val 1460"/>
            </a:avLst>
          </a:prstGeom>
          <a:solidFill>
            <a:srgbClr val="10263B"/>
          </a:solidFill>
          <a:ln w="12700">
            <a:solidFill>
              <a:srgbClr val="284B66"/>
            </a:solidFill>
            <a:prstDash val="solid"/>
          </a:ln>
        </p:spPr>
      </p:sp>
      <p:sp>
        <p:nvSpPr>
          <p:cNvPr id="5" name="Text 3"/>
          <p:cNvSpPr/>
          <p:nvPr/>
        </p:nvSpPr>
        <p:spPr>
          <a:xfrm>
            <a:off x="877824" y="1344168"/>
            <a:ext cx="10643616" cy="4736592"/>
          </a:xfrm>
          <a:prstGeom prst="rect">
            <a:avLst/>
          </a:prstGeom>
          <a:noFill/>
          <a:ln/>
        </p:spPr>
        <p:txBody>
          <a:bodyPr wrap="square" lIns="254" tIns="254" rIns="254" bIns="254" rtlCol="0" anchor="ctr">
            <a:normAutofit/>
          </a:bodyPr>
          <a:lstStyle/>
          <a:p>
            <a:pPr marL="0" indent="0">
              <a:buNone/>
            </a:pPr>
            <a:r>
              <a:rPr lang="en-US" sz="1250" dirty="0">
                <a:solidFill>
                  <a:srgbClr val="EDF6FC"/>
                </a:solidFill>
                <a:latin typeface="Consolas" pitchFamily="34" charset="0"/>
                <a:ea typeface="Consolas" pitchFamily="34" charset="-122"/>
                <a:cs typeface="Consolas" pitchFamily="34" charset="-120"/>
              </a:rPr>
              <a:t>Convert the supplied code to ABAP 7.0. Do not use inline DATA, VALUE, FOR, REDUCE, FILTER, CONV, NEW, CORRESPONDING #( ) or table expressions. Use explicit work areas and internal-table operations. Preserve selection logic, duplicate handling, initial-value behaviour, messages and output. Provide a construct-by-construct conversion explanation and a test program that runs the original and converted logic against the same sample data and compares the results.</a:t>
            </a:r>
            <a:endParaRPr lang="en-US" sz="125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5: Review SELECT inside LOOP</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Level: Performance</a:t>
            </a:r>
            <a:endParaRPr lang="en-US" sz="1150" dirty="0"/>
          </a:p>
        </p:txBody>
      </p:sp>
      <p:sp>
        <p:nvSpPr>
          <p:cNvPr id="4" name="Shape 2"/>
          <p:cNvSpPr/>
          <p:nvPr/>
        </p:nvSpPr>
        <p:spPr>
          <a:xfrm>
            <a:off x="685800" y="1234440"/>
            <a:ext cx="3703320" cy="4800600"/>
          </a:xfrm>
          <a:prstGeom prst="roundRect">
            <a:avLst>
              <a:gd name="adj" fmla="val 1975"/>
            </a:avLst>
          </a:prstGeom>
          <a:solidFill>
            <a:srgbClr val="EEF5FB"/>
          </a:solidFill>
          <a:ln w="12700">
            <a:solidFill>
              <a:srgbClr val="D9E1EA"/>
            </a:solidFill>
            <a:prstDash val="solid"/>
          </a:ln>
        </p:spPr>
      </p:sp>
      <p:sp>
        <p:nvSpPr>
          <p:cNvPr id="5" name="Shape 3"/>
          <p:cNvSpPr/>
          <p:nvPr/>
        </p:nvSpPr>
        <p:spPr>
          <a:xfrm>
            <a:off x="932688" y="1508760"/>
            <a:ext cx="1143000" cy="310896"/>
          </a:xfrm>
          <a:prstGeom prst="roundRect">
            <a:avLst>
              <a:gd name="adj" fmla="val 23529"/>
            </a:avLst>
          </a:prstGeom>
          <a:solidFill>
            <a:srgbClr val="0B5CAD"/>
          </a:solidFill>
          <a:ln w="12700">
            <a:solidFill>
              <a:srgbClr val="0B5CAD"/>
            </a:solidFill>
            <a:prstDash val="solid"/>
          </a:ln>
        </p:spPr>
      </p:sp>
      <p:sp>
        <p:nvSpPr>
          <p:cNvPr id="6" name="Text 4"/>
          <p:cNvSpPr/>
          <p:nvPr/>
        </p:nvSpPr>
        <p:spPr>
          <a:xfrm>
            <a:off x="978408" y="1577340"/>
            <a:ext cx="1051560" cy="164592"/>
          </a:xfrm>
          <a:prstGeom prst="rect">
            <a:avLst/>
          </a:prstGeom>
          <a:noFill/>
          <a:ln/>
        </p:spPr>
        <p:txBody>
          <a:bodyPr wrap="square" lIns="0" tIns="0" rIns="0" bIns="0" rtlCol="0" anchor="ctr"/>
          <a:lstStyle/>
          <a:p>
            <a:pPr marL="0" indent="0" algn="ctr">
              <a:buNone/>
            </a:pPr>
            <a:r>
              <a:rPr lang="en-US" sz="900" b="1" dirty="0">
                <a:solidFill>
                  <a:srgbClr val="FFFFFF"/>
                </a:solidFill>
              </a:rPr>
              <a:t>SCENARIO</a:t>
            </a:r>
            <a:endParaRPr lang="en-US" sz="900" dirty="0"/>
          </a:p>
        </p:txBody>
      </p:sp>
      <p:sp>
        <p:nvSpPr>
          <p:cNvPr id="7" name="Text 5"/>
          <p:cNvSpPr/>
          <p:nvPr/>
        </p:nvSpPr>
        <p:spPr>
          <a:xfrm>
            <a:off x="960120" y="2148840"/>
            <a:ext cx="3154680" cy="2057400"/>
          </a:xfrm>
          <a:prstGeom prst="rect">
            <a:avLst/>
          </a:prstGeom>
          <a:noFill/>
          <a:ln/>
        </p:spPr>
        <p:txBody>
          <a:bodyPr wrap="square" lIns="0" tIns="0" rIns="0" bIns="0" rtlCol="0" anchor="ctr"/>
          <a:lstStyle/>
          <a:p>
            <a:pPr marL="0" indent="0" algn="ctr">
              <a:buNone/>
            </a:pPr>
            <a:r>
              <a:rPr lang="en-US" sz="1700" b="1" dirty="0">
                <a:solidFill>
                  <a:srgbClr val="172033"/>
                </a:solidFill>
              </a:rPr>
              <a:t>A loop over personnel numbers performs one SELECT on PA0001 for each employee.</a:t>
            </a:r>
            <a:endParaRPr lang="en-US" sz="1700" dirty="0"/>
          </a:p>
        </p:txBody>
      </p:sp>
      <p:sp>
        <p:nvSpPr>
          <p:cNvPr id="8" name="Shape 6"/>
          <p:cNvSpPr/>
          <p:nvPr/>
        </p:nvSpPr>
        <p:spPr>
          <a:xfrm>
            <a:off x="4590288" y="1234440"/>
            <a:ext cx="6903720" cy="4800600"/>
          </a:xfrm>
          <a:prstGeom prst="roundRect">
            <a:avLst>
              <a:gd name="adj" fmla="val 1524"/>
            </a:avLst>
          </a:prstGeom>
          <a:solidFill>
            <a:srgbClr val="FFF9ED"/>
          </a:solidFill>
          <a:ln w="12700">
            <a:solidFill>
              <a:srgbClr val="F2D89C"/>
            </a:solidFill>
            <a:prstDash val="solid"/>
          </a:ln>
        </p:spPr>
      </p:sp>
      <p:sp>
        <p:nvSpPr>
          <p:cNvPr id="9" name="Shape 7"/>
          <p:cNvSpPr/>
          <p:nvPr/>
        </p:nvSpPr>
        <p:spPr>
          <a:xfrm>
            <a:off x="4873752" y="1508760"/>
            <a:ext cx="1188720" cy="310896"/>
          </a:xfrm>
          <a:prstGeom prst="roundRect">
            <a:avLst>
              <a:gd name="adj" fmla="val 23529"/>
            </a:avLst>
          </a:prstGeom>
          <a:solidFill>
            <a:srgbClr val="F59E0B"/>
          </a:solidFill>
          <a:ln w="12700">
            <a:solidFill>
              <a:srgbClr val="F59E0B"/>
            </a:solidFill>
            <a:prstDash val="solid"/>
          </a:ln>
        </p:spPr>
      </p:sp>
      <p:sp>
        <p:nvSpPr>
          <p:cNvPr id="10" name="Text 8"/>
          <p:cNvSpPr/>
          <p:nvPr/>
        </p:nvSpPr>
        <p:spPr>
          <a:xfrm>
            <a:off x="4919472" y="1577340"/>
            <a:ext cx="1097280" cy="164592"/>
          </a:xfrm>
          <a:prstGeom prst="rect">
            <a:avLst/>
          </a:prstGeom>
          <a:noFill/>
          <a:ln/>
        </p:spPr>
        <p:txBody>
          <a:bodyPr wrap="square" lIns="0" tIns="0" rIns="0" bIns="0" rtlCol="0" anchor="ctr"/>
          <a:lstStyle/>
          <a:p>
            <a:pPr marL="0" indent="0" algn="ctr">
              <a:buNone/>
            </a:pPr>
            <a:r>
              <a:rPr lang="en-US" sz="900" b="1" dirty="0">
                <a:solidFill>
                  <a:srgbClr val="FFFFFF"/>
                </a:solidFill>
              </a:rPr>
              <a:t>YOUR TASK</a:t>
            </a:r>
            <a:endParaRPr lang="en-US" sz="900" dirty="0"/>
          </a:p>
        </p:txBody>
      </p:sp>
      <p:sp>
        <p:nvSpPr>
          <p:cNvPr id="11" name="Shape 9"/>
          <p:cNvSpPr/>
          <p:nvPr/>
        </p:nvSpPr>
        <p:spPr>
          <a:xfrm>
            <a:off x="4937760" y="2313432"/>
            <a:ext cx="192024" cy="192024"/>
          </a:xfrm>
          <a:prstGeom prst="ellipse">
            <a:avLst/>
          </a:prstGeom>
          <a:solidFill>
            <a:srgbClr val="15B8A6"/>
          </a:solidFill>
          <a:ln w="12700">
            <a:solidFill>
              <a:srgbClr val="15B8A6"/>
            </a:solidFill>
            <a:prstDash val="solid"/>
          </a:ln>
        </p:spPr>
      </p:sp>
      <p:sp>
        <p:nvSpPr>
          <p:cNvPr id="12" name="Text 10"/>
          <p:cNvSpPr/>
          <p:nvPr/>
        </p:nvSpPr>
        <p:spPr>
          <a:xfrm>
            <a:off x="5266944" y="224028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Identify the performance risk.</a:t>
            </a:r>
            <a:endParaRPr lang="en-US" sz="1600" dirty="0"/>
          </a:p>
        </p:txBody>
      </p:sp>
      <p:sp>
        <p:nvSpPr>
          <p:cNvPr id="13" name="Shape 11"/>
          <p:cNvSpPr/>
          <p:nvPr/>
        </p:nvSpPr>
        <p:spPr>
          <a:xfrm>
            <a:off x="4937760" y="3136392"/>
            <a:ext cx="192024" cy="192024"/>
          </a:xfrm>
          <a:prstGeom prst="ellipse">
            <a:avLst/>
          </a:prstGeom>
          <a:solidFill>
            <a:srgbClr val="15B8A6"/>
          </a:solidFill>
          <a:ln w="12700">
            <a:solidFill>
              <a:srgbClr val="15B8A6"/>
            </a:solidFill>
            <a:prstDash val="solid"/>
          </a:ln>
        </p:spPr>
      </p:sp>
      <p:sp>
        <p:nvSpPr>
          <p:cNvPr id="14" name="Text 12"/>
          <p:cNvSpPr/>
          <p:nvPr/>
        </p:nvSpPr>
        <p:spPr>
          <a:xfrm>
            <a:off x="5266944" y="306324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Propose a safe retrieval strategy.</a:t>
            </a:r>
            <a:endParaRPr lang="en-US" sz="1600" dirty="0"/>
          </a:p>
        </p:txBody>
      </p:sp>
      <p:sp>
        <p:nvSpPr>
          <p:cNvPr id="15" name="Shape 13"/>
          <p:cNvSpPr/>
          <p:nvPr/>
        </p:nvSpPr>
        <p:spPr>
          <a:xfrm>
            <a:off x="4937760" y="3959352"/>
            <a:ext cx="192024" cy="192024"/>
          </a:xfrm>
          <a:prstGeom prst="ellipse">
            <a:avLst/>
          </a:prstGeom>
          <a:solidFill>
            <a:srgbClr val="15B8A6"/>
          </a:solidFill>
          <a:ln w="12700">
            <a:solidFill>
              <a:srgbClr val="15B8A6"/>
            </a:solidFill>
            <a:prstDash val="solid"/>
          </a:ln>
        </p:spPr>
      </p:sp>
      <p:sp>
        <p:nvSpPr>
          <p:cNvPr id="16" name="Text 14"/>
          <p:cNvSpPr/>
          <p:nvPr/>
        </p:nvSpPr>
        <p:spPr>
          <a:xfrm>
            <a:off x="5266944" y="388620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Protect validity semantics.</a:t>
            </a:r>
            <a:endParaRPr lang="en-US" sz="1600" dirty="0"/>
          </a:p>
        </p:txBody>
      </p:sp>
      <p:sp>
        <p:nvSpPr>
          <p:cNvPr id="17" name="Text 15"/>
          <p:cNvSpPr/>
          <p:nvPr/>
        </p:nvSpPr>
        <p:spPr>
          <a:xfrm>
            <a:off x="4983480" y="5166360"/>
            <a:ext cx="5852160" cy="411480"/>
          </a:xfrm>
          <a:prstGeom prst="rect">
            <a:avLst/>
          </a:prstGeom>
          <a:noFill/>
          <a:ln/>
        </p:spPr>
        <p:txBody>
          <a:bodyPr wrap="square" lIns="0" tIns="0" rIns="0" bIns="0" rtlCol="0" anchor="ctr"/>
          <a:lstStyle/>
          <a:p>
            <a:pPr marL="0" indent="0" algn="ctr">
              <a:buNone/>
            </a:pPr>
            <a:r>
              <a:rPr lang="en-US" sz="1400" b="1" dirty="0">
                <a:solidFill>
                  <a:srgbClr val="D14343"/>
                </a:solidFill>
              </a:rPr>
              <a:t>Pause here and create your answer before moving to the next slide.</a:t>
            </a:r>
            <a:endParaRPr lang="en-US" sz="14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5: Guided steps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Build the answer one decision at a time.</a:t>
            </a:r>
            <a:endParaRPr lang="en-US" sz="1150" dirty="0"/>
          </a:p>
        </p:txBody>
      </p:sp>
      <p:sp>
        <p:nvSpPr>
          <p:cNvPr id="4" name="Shape 2"/>
          <p:cNvSpPr/>
          <p:nvPr/>
        </p:nvSpPr>
        <p:spPr>
          <a:xfrm>
            <a:off x="786384" y="1225296"/>
            <a:ext cx="10561320" cy="685800"/>
          </a:xfrm>
          <a:prstGeom prst="roundRect">
            <a:avLst>
              <a:gd name="adj" fmla="val 10667"/>
            </a:avLst>
          </a:prstGeom>
          <a:solidFill>
            <a:srgbClr val="FFFFFF"/>
          </a:solidFill>
          <a:ln w="12700">
            <a:solidFill>
              <a:srgbClr val="D9E1EA"/>
            </a:solidFill>
            <a:prstDash val="solid"/>
          </a:ln>
        </p:spPr>
      </p:sp>
      <p:sp>
        <p:nvSpPr>
          <p:cNvPr id="5" name="Shape 3"/>
          <p:cNvSpPr/>
          <p:nvPr/>
        </p:nvSpPr>
        <p:spPr>
          <a:xfrm>
            <a:off x="1005840" y="1344168"/>
            <a:ext cx="438912" cy="438912"/>
          </a:xfrm>
          <a:prstGeom prst="ellipse">
            <a:avLst/>
          </a:prstGeom>
          <a:solidFill>
            <a:srgbClr val="15B8A6"/>
          </a:solidFill>
          <a:ln w="12700">
            <a:solidFill>
              <a:srgbClr val="15B8A6"/>
            </a:solidFill>
            <a:prstDash val="solid"/>
          </a:ln>
        </p:spPr>
      </p:sp>
      <p:sp>
        <p:nvSpPr>
          <p:cNvPr id="6" name="Text 4"/>
          <p:cNvSpPr/>
          <p:nvPr/>
        </p:nvSpPr>
        <p:spPr>
          <a:xfrm>
            <a:off x="1005840" y="1463040"/>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7" name="Text 5"/>
          <p:cNvSpPr/>
          <p:nvPr/>
        </p:nvSpPr>
        <p:spPr>
          <a:xfrm>
            <a:off x="1737360" y="1399032"/>
            <a:ext cx="9098280" cy="274320"/>
          </a:xfrm>
          <a:prstGeom prst="rect">
            <a:avLst/>
          </a:prstGeom>
          <a:noFill/>
          <a:ln/>
        </p:spPr>
        <p:txBody>
          <a:bodyPr wrap="square" lIns="0" tIns="0" rIns="0" bIns="0" rtlCol="0" anchor="ctr"/>
          <a:lstStyle/>
          <a:p>
            <a:pPr marL="0" indent="0">
              <a:buNone/>
            </a:pPr>
            <a:r>
              <a:rPr lang="en-US" sz="1600" dirty="0">
                <a:solidFill>
                  <a:srgbClr val="172033"/>
                </a:solidFill>
              </a:rPr>
              <a:t>Count the database-access pattern conceptually.</a:t>
            </a:r>
            <a:endParaRPr lang="en-US" sz="1600" dirty="0"/>
          </a:p>
        </p:txBody>
      </p:sp>
      <p:sp>
        <p:nvSpPr>
          <p:cNvPr id="8" name="Shape 6"/>
          <p:cNvSpPr/>
          <p:nvPr/>
        </p:nvSpPr>
        <p:spPr>
          <a:xfrm>
            <a:off x="786384" y="2157984"/>
            <a:ext cx="10561320" cy="685800"/>
          </a:xfrm>
          <a:prstGeom prst="roundRect">
            <a:avLst>
              <a:gd name="adj" fmla="val 10667"/>
            </a:avLst>
          </a:prstGeom>
          <a:solidFill>
            <a:srgbClr val="F0FAF8"/>
          </a:solidFill>
          <a:ln w="12700">
            <a:solidFill>
              <a:srgbClr val="D9E1EA"/>
            </a:solidFill>
            <a:prstDash val="solid"/>
          </a:ln>
        </p:spPr>
      </p:sp>
      <p:sp>
        <p:nvSpPr>
          <p:cNvPr id="9" name="Shape 7"/>
          <p:cNvSpPr/>
          <p:nvPr/>
        </p:nvSpPr>
        <p:spPr>
          <a:xfrm>
            <a:off x="1005840" y="2276856"/>
            <a:ext cx="438912" cy="438912"/>
          </a:xfrm>
          <a:prstGeom prst="ellipse">
            <a:avLst/>
          </a:prstGeom>
          <a:solidFill>
            <a:srgbClr val="15B8A6"/>
          </a:solidFill>
          <a:ln w="12700">
            <a:solidFill>
              <a:srgbClr val="15B8A6"/>
            </a:solidFill>
            <a:prstDash val="solid"/>
          </a:ln>
        </p:spPr>
      </p:sp>
      <p:sp>
        <p:nvSpPr>
          <p:cNvPr id="10" name="Text 8"/>
          <p:cNvSpPr/>
          <p:nvPr/>
        </p:nvSpPr>
        <p:spPr>
          <a:xfrm>
            <a:off x="1005840" y="2395728"/>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1" name="Text 9"/>
          <p:cNvSpPr/>
          <p:nvPr/>
        </p:nvSpPr>
        <p:spPr>
          <a:xfrm>
            <a:off x="1737360" y="2331720"/>
            <a:ext cx="9098280" cy="274320"/>
          </a:xfrm>
          <a:prstGeom prst="rect">
            <a:avLst/>
          </a:prstGeom>
          <a:noFill/>
          <a:ln/>
        </p:spPr>
        <p:txBody>
          <a:bodyPr wrap="square" lIns="0" tIns="0" rIns="0" bIns="0" rtlCol="0" anchor="ctr"/>
          <a:lstStyle/>
          <a:p>
            <a:pPr marL="0" indent="0">
              <a:buNone/>
            </a:pPr>
            <a:r>
              <a:rPr lang="en-US" sz="1600" dirty="0">
                <a:solidFill>
                  <a:srgbClr val="172033"/>
                </a:solidFill>
              </a:rPr>
              <a:t>Collect and de-duplicate keys.</a:t>
            </a:r>
            <a:endParaRPr lang="en-US" sz="1600" dirty="0"/>
          </a:p>
        </p:txBody>
      </p:sp>
      <p:sp>
        <p:nvSpPr>
          <p:cNvPr id="12" name="Shape 10"/>
          <p:cNvSpPr/>
          <p:nvPr/>
        </p:nvSpPr>
        <p:spPr>
          <a:xfrm>
            <a:off x="786384" y="3090672"/>
            <a:ext cx="10561320" cy="685800"/>
          </a:xfrm>
          <a:prstGeom prst="roundRect">
            <a:avLst>
              <a:gd name="adj" fmla="val 10667"/>
            </a:avLst>
          </a:prstGeom>
          <a:solidFill>
            <a:srgbClr val="FFFFFF"/>
          </a:solidFill>
          <a:ln w="12700">
            <a:solidFill>
              <a:srgbClr val="D9E1EA"/>
            </a:solidFill>
            <a:prstDash val="solid"/>
          </a:ln>
        </p:spPr>
      </p:sp>
      <p:sp>
        <p:nvSpPr>
          <p:cNvPr id="13" name="Shape 11"/>
          <p:cNvSpPr/>
          <p:nvPr/>
        </p:nvSpPr>
        <p:spPr>
          <a:xfrm>
            <a:off x="1005840" y="3209544"/>
            <a:ext cx="438912" cy="438912"/>
          </a:xfrm>
          <a:prstGeom prst="ellipse">
            <a:avLst/>
          </a:prstGeom>
          <a:solidFill>
            <a:srgbClr val="15B8A6"/>
          </a:solidFill>
          <a:ln w="12700">
            <a:solidFill>
              <a:srgbClr val="15B8A6"/>
            </a:solidFill>
            <a:prstDash val="solid"/>
          </a:ln>
        </p:spPr>
      </p:sp>
      <p:sp>
        <p:nvSpPr>
          <p:cNvPr id="14" name="Text 12"/>
          <p:cNvSpPr/>
          <p:nvPr/>
        </p:nvSpPr>
        <p:spPr>
          <a:xfrm>
            <a:off x="1005840" y="3328416"/>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5" name="Text 13"/>
          <p:cNvSpPr/>
          <p:nvPr/>
        </p:nvSpPr>
        <p:spPr>
          <a:xfrm>
            <a:off x="1737360" y="3264408"/>
            <a:ext cx="9098280" cy="274320"/>
          </a:xfrm>
          <a:prstGeom prst="rect">
            <a:avLst/>
          </a:prstGeom>
          <a:noFill/>
          <a:ln/>
        </p:spPr>
        <p:txBody>
          <a:bodyPr wrap="square" lIns="0" tIns="0" rIns="0" bIns="0" rtlCol="0" anchor="ctr"/>
          <a:lstStyle/>
          <a:p>
            <a:pPr marL="0" indent="0">
              <a:buNone/>
            </a:pPr>
            <a:r>
              <a:rPr lang="en-US" sz="1600" dirty="0">
                <a:solidFill>
                  <a:srgbClr val="172033"/>
                </a:solidFill>
              </a:rPr>
              <a:t>Choose a join or staged read suitable for the release.</a:t>
            </a:r>
            <a:endParaRPr lang="en-US" sz="1600" dirty="0"/>
          </a:p>
        </p:txBody>
      </p:sp>
      <p:sp>
        <p:nvSpPr>
          <p:cNvPr id="16" name="Shape 14"/>
          <p:cNvSpPr/>
          <p:nvPr/>
        </p:nvSpPr>
        <p:spPr>
          <a:xfrm>
            <a:off x="786384" y="4023360"/>
            <a:ext cx="10561320" cy="685800"/>
          </a:xfrm>
          <a:prstGeom prst="roundRect">
            <a:avLst>
              <a:gd name="adj" fmla="val 10667"/>
            </a:avLst>
          </a:prstGeom>
          <a:solidFill>
            <a:srgbClr val="F0FAF8"/>
          </a:solidFill>
          <a:ln w="12700">
            <a:solidFill>
              <a:srgbClr val="D9E1EA"/>
            </a:solidFill>
            <a:prstDash val="solid"/>
          </a:ln>
        </p:spPr>
      </p:sp>
      <p:sp>
        <p:nvSpPr>
          <p:cNvPr id="17" name="Shape 15"/>
          <p:cNvSpPr/>
          <p:nvPr/>
        </p:nvSpPr>
        <p:spPr>
          <a:xfrm>
            <a:off x="1005840" y="4142232"/>
            <a:ext cx="438912" cy="438912"/>
          </a:xfrm>
          <a:prstGeom prst="ellipse">
            <a:avLst/>
          </a:prstGeom>
          <a:solidFill>
            <a:srgbClr val="15B8A6"/>
          </a:solidFill>
          <a:ln w="12700">
            <a:solidFill>
              <a:srgbClr val="15B8A6"/>
            </a:solidFill>
            <a:prstDash val="solid"/>
          </a:ln>
        </p:spPr>
      </p:sp>
      <p:sp>
        <p:nvSpPr>
          <p:cNvPr id="18" name="Text 16"/>
          <p:cNvSpPr/>
          <p:nvPr/>
        </p:nvSpPr>
        <p:spPr>
          <a:xfrm>
            <a:off x="1005840" y="4261104"/>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19" name="Text 17"/>
          <p:cNvSpPr/>
          <p:nvPr/>
        </p:nvSpPr>
        <p:spPr>
          <a:xfrm>
            <a:off x="1737360" y="4197096"/>
            <a:ext cx="9098280" cy="274320"/>
          </a:xfrm>
          <a:prstGeom prst="rect">
            <a:avLst/>
          </a:prstGeom>
          <a:noFill/>
          <a:ln/>
        </p:spPr>
        <p:txBody>
          <a:bodyPr wrap="square" lIns="0" tIns="0" rIns="0" bIns="0" rtlCol="0" anchor="ctr"/>
          <a:lstStyle/>
          <a:p>
            <a:pPr marL="0" indent="0">
              <a:buNone/>
            </a:pPr>
            <a:r>
              <a:rPr lang="en-US" sz="1600" dirty="0">
                <a:solidFill>
                  <a:srgbClr val="172033"/>
                </a:solidFill>
              </a:rPr>
              <a:t>Apply date filters at the database.</a:t>
            </a:r>
            <a:endParaRPr lang="en-US" sz="1600" dirty="0"/>
          </a:p>
        </p:txBody>
      </p:sp>
      <p:sp>
        <p:nvSpPr>
          <p:cNvPr id="20" name="Shape 18"/>
          <p:cNvSpPr/>
          <p:nvPr/>
        </p:nvSpPr>
        <p:spPr>
          <a:xfrm>
            <a:off x="786384" y="4956048"/>
            <a:ext cx="10561320" cy="685800"/>
          </a:xfrm>
          <a:prstGeom prst="roundRect">
            <a:avLst>
              <a:gd name="adj" fmla="val 10667"/>
            </a:avLst>
          </a:prstGeom>
          <a:solidFill>
            <a:srgbClr val="FFFFFF"/>
          </a:solidFill>
          <a:ln w="12700">
            <a:solidFill>
              <a:srgbClr val="D9E1EA"/>
            </a:solidFill>
            <a:prstDash val="solid"/>
          </a:ln>
        </p:spPr>
      </p:sp>
      <p:sp>
        <p:nvSpPr>
          <p:cNvPr id="21" name="Shape 19"/>
          <p:cNvSpPr/>
          <p:nvPr/>
        </p:nvSpPr>
        <p:spPr>
          <a:xfrm>
            <a:off x="1005840" y="5074920"/>
            <a:ext cx="438912" cy="438912"/>
          </a:xfrm>
          <a:prstGeom prst="ellipse">
            <a:avLst/>
          </a:prstGeom>
          <a:solidFill>
            <a:srgbClr val="F59E0B"/>
          </a:solidFill>
          <a:ln w="12700">
            <a:solidFill>
              <a:srgbClr val="F59E0B"/>
            </a:solidFill>
            <a:prstDash val="solid"/>
          </a:ln>
        </p:spPr>
      </p:sp>
      <p:sp>
        <p:nvSpPr>
          <p:cNvPr id="22" name="Text 20"/>
          <p:cNvSpPr/>
          <p:nvPr/>
        </p:nvSpPr>
        <p:spPr>
          <a:xfrm>
            <a:off x="1005840" y="5193792"/>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23" name="Text 21"/>
          <p:cNvSpPr/>
          <p:nvPr/>
        </p:nvSpPr>
        <p:spPr>
          <a:xfrm>
            <a:off x="1737360" y="5129784"/>
            <a:ext cx="9098280" cy="274320"/>
          </a:xfrm>
          <a:prstGeom prst="rect">
            <a:avLst/>
          </a:prstGeom>
          <a:noFill/>
          <a:ln/>
        </p:spPr>
        <p:txBody>
          <a:bodyPr wrap="square" lIns="0" tIns="0" rIns="0" bIns="0" rtlCol="0" anchor="ctr"/>
          <a:lstStyle/>
          <a:p>
            <a:pPr marL="0" indent="0">
              <a:buNone/>
            </a:pPr>
            <a:r>
              <a:rPr lang="en-US" sz="1600" dirty="0">
                <a:solidFill>
                  <a:srgbClr val="172033"/>
                </a:solidFill>
              </a:rPr>
              <a:t>Compare old and new outputs.</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5: Model answer</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Use this as a reference, then replace placeholders with verified system details.</a:t>
            </a:r>
            <a:endParaRPr lang="en-US" sz="1150" dirty="0"/>
          </a:p>
        </p:txBody>
      </p:sp>
      <p:sp>
        <p:nvSpPr>
          <p:cNvPr id="4" name="Shape 2"/>
          <p:cNvSpPr/>
          <p:nvPr/>
        </p:nvSpPr>
        <p:spPr>
          <a:xfrm>
            <a:off x="713232" y="1207008"/>
            <a:ext cx="10972800" cy="5010912"/>
          </a:xfrm>
          <a:prstGeom prst="roundRect">
            <a:avLst>
              <a:gd name="adj" fmla="val 1460"/>
            </a:avLst>
          </a:prstGeom>
          <a:solidFill>
            <a:srgbClr val="10263B"/>
          </a:solidFill>
          <a:ln w="12700">
            <a:solidFill>
              <a:srgbClr val="284B66"/>
            </a:solidFill>
            <a:prstDash val="solid"/>
          </a:ln>
        </p:spPr>
      </p:sp>
      <p:sp>
        <p:nvSpPr>
          <p:cNvPr id="5" name="Text 3"/>
          <p:cNvSpPr/>
          <p:nvPr/>
        </p:nvSpPr>
        <p:spPr>
          <a:xfrm>
            <a:off x="877824" y="1344168"/>
            <a:ext cx="10643616" cy="4736592"/>
          </a:xfrm>
          <a:prstGeom prst="rect">
            <a:avLst/>
          </a:prstGeom>
          <a:noFill/>
          <a:ln/>
        </p:spPr>
        <p:txBody>
          <a:bodyPr wrap="square" lIns="254" tIns="254" rIns="254" bIns="254" rtlCol="0" anchor="ctr">
            <a:normAutofit/>
          </a:bodyPr>
          <a:lstStyle/>
          <a:p>
            <a:pPr marL="0" indent="0">
              <a:buNone/>
            </a:pPr>
            <a:r>
              <a:rPr lang="en-US" sz="1250" dirty="0">
                <a:solidFill>
                  <a:srgbClr val="EDF6FC"/>
                </a:solidFill>
                <a:latin typeface="Consolas" pitchFamily="34" charset="0"/>
                <a:ea typeface="Consolas" pitchFamily="34" charset="-122"/>
                <a:cs typeface="Consolas" pitchFamily="34" charset="-120"/>
              </a:rPr>
              <a:t>Review the code for repeated database calls. Preserve its employee and validity selection semantics. Replace the per-employee SELECT with a release-compatible set-oriented or staged retrieval using de-duplicated personnel numbers and database-side date filters. Select only required columns. Explain why the chosen approach is safer than the original, identify any buffer or standard-API considerations, and provide tests proving identical records for empty input, one employee, duplicates, multiple validity splits and no data.</a:t>
            </a:r>
            <a:endParaRPr lang="en-US" sz="125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6: Make FOR ALL ENTRIES safe</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Level: Performance</a:t>
            </a:r>
            <a:endParaRPr lang="en-US" sz="1150" dirty="0"/>
          </a:p>
        </p:txBody>
      </p:sp>
      <p:sp>
        <p:nvSpPr>
          <p:cNvPr id="4" name="Shape 2"/>
          <p:cNvSpPr/>
          <p:nvPr/>
        </p:nvSpPr>
        <p:spPr>
          <a:xfrm>
            <a:off x="685800" y="1234440"/>
            <a:ext cx="3703320" cy="4800600"/>
          </a:xfrm>
          <a:prstGeom prst="roundRect">
            <a:avLst>
              <a:gd name="adj" fmla="val 1975"/>
            </a:avLst>
          </a:prstGeom>
          <a:solidFill>
            <a:srgbClr val="EEF5FB"/>
          </a:solidFill>
          <a:ln w="12700">
            <a:solidFill>
              <a:srgbClr val="D9E1EA"/>
            </a:solidFill>
            <a:prstDash val="solid"/>
          </a:ln>
        </p:spPr>
      </p:sp>
      <p:sp>
        <p:nvSpPr>
          <p:cNvPr id="5" name="Shape 3"/>
          <p:cNvSpPr/>
          <p:nvPr/>
        </p:nvSpPr>
        <p:spPr>
          <a:xfrm>
            <a:off x="932688" y="1508760"/>
            <a:ext cx="1143000" cy="310896"/>
          </a:xfrm>
          <a:prstGeom prst="roundRect">
            <a:avLst>
              <a:gd name="adj" fmla="val 23529"/>
            </a:avLst>
          </a:prstGeom>
          <a:solidFill>
            <a:srgbClr val="0B5CAD"/>
          </a:solidFill>
          <a:ln w="12700">
            <a:solidFill>
              <a:srgbClr val="0B5CAD"/>
            </a:solidFill>
            <a:prstDash val="solid"/>
          </a:ln>
        </p:spPr>
      </p:sp>
      <p:sp>
        <p:nvSpPr>
          <p:cNvPr id="6" name="Text 4"/>
          <p:cNvSpPr/>
          <p:nvPr/>
        </p:nvSpPr>
        <p:spPr>
          <a:xfrm>
            <a:off x="978408" y="1577340"/>
            <a:ext cx="1051560" cy="164592"/>
          </a:xfrm>
          <a:prstGeom prst="rect">
            <a:avLst/>
          </a:prstGeom>
          <a:noFill/>
          <a:ln/>
        </p:spPr>
        <p:txBody>
          <a:bodyPr wrap="square" lIns="0" tIns="0" rIns="0" bIns="0" rtlCol="0" anchor="ctr"/>
          <a:lstStyle/>
          <a:p>
            <a:pPr marL="0" indent="0" algn="ctr">
              <a:buNone/>
            </a:pPr>
            <a:r>
              <a:rPr lang="en-US" sz="900" b="1" dirty="0">
                <a:solidFill>
                  <a:srgbClr val="FFFFFF"/>
                </a:solidFill>
              </a:rPr>
              <a:t>SCENARIO</a:t>
            </a:r>
            <a:endParaRPr lang="en-US" sz="900" dirty="0"/>
          </a:p>
        </p:txBody>
      </p:sp>
      <p:sp>
        <p:nvSpPr>
          <p:cNvPr id="7" name="Text 5"/>
          <p:cNvSpPr/>
          <p:nvPr/>
        </p:nvSpPr>
        <p:spPr>
          <a:xfrm>
            <a:off x="960120" y="2148840"/>
            <a:ext cx="3154680" cy="2057400"/>
          </a:xfrm>
          <a:prstGeom prst="rect">
            <a:avLst/>
          </a:prstGeom>
          <a:noFill/>
          <a:ln/>
        </p:spPr>
        <p:txBody>
          <a:bodyPr wrap="square" lIns="0" tIns="0" rIns="0" bIns="0" rtlCol="0" anchor="ctr"/>
          <a:lstStyle/>
          <a:p>
            <a:pPr marL="0" indent="0" algn="ctr">
              <a:buNone/>
            </a:pPr>
            <a:r>
              <a:rPr lang="en-US" sz="1700" b="1" dirty="0">
                <a:solidFill>
                  <a:srgbClr val="172033"/>
                </a:solidFill>
              </a:rPr>
              <a:t>A solution uses FOR ALL ENTRIES without checking the driver table.</a:t>
            </a:r>
            <a:endParaRPr lang="en-US" sz="1700" dirty="0"/>
          </a:p>
        </p:txBody>
      </p:sp>
      <p:sp>
        <p:nvSpPr>
          <p:cNvPr id="8" name="Shape 6"/>
          <p:cNvSpPr/>
          <p:nvPr/>
        </p:nvSpPr>
        <p:spPr>
          <a:xfrm>
            <a:off x="4590288" y="1234440"/>
            <a:ext cx="6903720" cy="4800600"/>
          </a:xfrm>
          <a:prstGeom prst="roundRect">
            <a:avLst>
              <a:gd name="adj" fmla="val 1524"/>
            </a:avLst>
          </a:prstGeom>
          <a:solidFill>
            <a:srgbClr val="FFF9ED"/>
          </a:solidFill>
          <a:ln w="12700">
            <a:solidFill>
              <a:srgbClr val="F2D89C"/>
            </a:solidFill>
            <a:prstDash val="solid"/>
          </a:ln>
        </p:spPr>
      </p:sp>
      <p:sp>
        <p:nvSpPr>
          <p:cNvPr id="9" name="Shape 7"/>
          <p:cNvSpPr/>
          <p:nvPr/>
        </p:nvSpPr>
        <p:spPr>
          <a:xfrm>
            <a:off x="4873752" y="1508760"/>
            <a:ext cx="1188720" cy="310896"/>
          </a:xfrm>
          <a:prstGeom prst="roundRect">
            <a:avLst>
              <a:gd name="adj" fmla="val 23529"/>
            </a:avLst>
          </a:prstGeom>
          <a:solidFill>
            <a:srgbClr val="F59E0B"/>
          </a:solidFill>
          <a:ln w="12700">
            <a:solidFill>
              <a:srgbClr val="F59E0B"/>
            </a:solidFill>
            <a:prstDash val="solid"/>
          </a:ln>
        </p:spPr>
      </p:sp>
      <p:sp>
        <p:nvSpPr>
          <p:cNvPr id="10" name="Text 8"/>
          <p:cNvSpPr/>
          <p:nvPr/>
        </p:nvSpPr>
        <p:spPr>
          <a:xfrm>
            <a:off x="4919472" y="1577340"/>
            <a:ext cx="1097280" cy="164592"/>
          </a:xfrm>
          <a:prstGeom prst="rect">
            <a:avLst/>
          </a:prstGeom>
          <a:noFill/>
          <a:ln/>
        </p:spPr>
        <p:txBody>
          <a:bodyPr wrap="square" lIns="0" tIns="0" rIns="0" bIns="0" rtlCol="0" anchor="ctr"/>
          <a:lstStyle/>
          <a:p>
            <a:pPr marL="0" indent="0" algn="ctr">
              <a:buNone/>
            </a:pPr>
            <a:r>
              <a:rPr lang="en-US" sz="900" b="1" dirty="0">
                <a:solidFill>
                  <a:srgbClr val="FFFFFF"/>
                </a:solidFill>
              </a:rPr>
              <a:t>YOUR TASK</a:t>
            </a:r>
            <a:endParaRPr lang="en-US" sz="900" dirty="0"/>
          </a:p>
        </p:txBody>
      </p:sp>
      <p:sp>
        <p:nvSpPr>
          <p:cNvPr id="11" name="Shape 9"/>
          <p:cNvSpPr/>
          <p:nvPr/>
        </p:nvSpPr>
        <p:spPr>
          <a:xfrm>
            <a:off x="4937760" y="2313432"/>
            <a:ext cx="192024" cy="192024"/>
          </a:xfrm>
          <a:prstGeom prst="ellipse">
            <a:avLst/>
          </a:prstGeom>
          <a:solidFill>
            <a:srgbClr val="15B8A6"/>
          </a:solidFill>
          <a:ln w="12700">
            <a:solidFill>
              <a:srgbClr val="15B8A6"/>
            </a:solidFill>
            <a:prstDash val="solid"/>
          </a:ln>
        </p:spPr>
      </p:sp>
      <p:sp>
        <p:nvSpPr>
          <p:cNvPr id="12" name="Text 10"/>
          <p:cNvSpPr/>
          <p:nvPr/>
        </p:nvSpPr>
        <p:spPr>
          <a:xfrm>
            <a:off x="5266944" y="224028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Add mandatory safeguards.</a:t>
            </a:r>
            <a:endParaRPr lang="en-US" sz="1600" dirty="0"/>
          </a:p>
        </p:txBody>
      </p:sp>
      <p:sp>
        <p:nvSpPr>
          <p:cNvPr id="13" name="Shape 11"/>
          <p:cNvSpPr/>
          <p:nvPr/>
        </p:nvSpPr>
        <p:spPr>
          <a:xfrm>
            <a:off x="4937760" y="3136392"/>
            <a:ext cx="192024" cy="192024"/>
          </a:xfrm>
          <a:prstGeom prst="ellipse">
            <a:avLst/>
          </a:prstGeom>
          <a:solidFill>
            <a:srgbClr val="15B8A6"/>
          </a:solidFill>
          <a:ln w="12700">
            <a:solidFill>
              <a:srgbClr val="15B8A6"/>
            </a:solidFill>
            <a:prstDash val="solid"/>
          </a:ln>
        </p:spPr>
      </p:sp>
      <p:sp>
        <p:nvSpPr>
          <p:cNvPr id="14" name="Text 12"/>
          <p:cNvSpPr/>
          <p:nvPr/>
        </p:nvSpPr>
        <p:spPr>
          <a:xfrm>
            <a:off x="5266944" y="306324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Define duplicate handling.</a:t>
            </a:r>
            <a:endParaRPr lang="en-US" sz="1600" dirty="0"/>
          </a:p>
        </p:txBody>
      </p:sp>
      <p:sp>
        <p:nvSpPr>
          <p:cNvPr id="15" name="Shape 13"/>
          <p:cNvSpPr/>
          <p:nvPr/>
        </p:nvSpPr>
        <p:spPr>
          <a:xfrm>
            <a:off x="4937760" y="3959352"/>
            <a:ext cx="192024" cy="192024"/>
          </a:xfrm>
          <a:prstGeom prst="ellipse">
            <a:avLst/>
          </a:prstGeom>
          <a:solidFill>
            <a:srgbClr val="15B8A6"/>
          </a:solidFill>
          <a:ln w="12700">
            <a:solidFill>
              <a:srgbClr val="15B8A6"/>
            </a:solidFill>
            <a:prstDash val="solid"/>
          </a:ln>
        </p:spPr>
      </p:sp>
      <p:sp>
        <p:nvSpPr>
          <p:cNvPr id="16" name="Text 14"/>
          <p:cNvSpPr/>
          <p:nvPr/>
        </p:nvSpPr>
        <p:spPr>
          <a:xfrm>
            <a:off x="5266944" y="388620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Request an alternative comparison.</a:t>
            </a:r>
            <a:endParaRPr lang="en-US" sz="1600" dirty="0"/>
          </a:p>
        </p:txBody>
      </p:sp>
      <p:sp>
        <p:nvSpPr>
          <p:cNvPr id="17" name="Text 15"/>
          <p:cNvSpPr/>
          <p:nvPr/>
        </p:nvSpPr>
        <p:spPr>
          <a:xfrm>
            <a:off x="4983480" y="5166360"/>
            <a:ext cx="5852160" cy="411480"/>
          </a:xfrm>
          <a:prstGeom prst="rect">
            <a:avLst/>
          </a:prstGeom>
          <a:noFill/>
          <a:ln/>
        </p:spPr>
        <p:txBody>
          <a:bodyPr wrap="square" lIns="0" tIns="0" rIns="0" bIns="0" rtlCol="0" anchor="ctr"/>
          <a:lstStyle/>
          <a:p>
            <a:pPr marL="0" indent="0" algn="ctr">
              <a:buNone/>
            </a:pPr>
            <a:r>
              <a:rPr lang="en-US" sz="1400" b="1" dirty="0">
                <a:solidFill>
                  <a:srgbClr val="D14343"/>
                </a:solidFill>
              </a:rPr>
              <a:t>Pause here and create your answer before moving to the next slide.</a:t>
            </a:r>
            <a:endParaRPr lang="en-US" sz="14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6: Guided steps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Build the answer one decision at a time.</a:t>
            </a:r>
            <a:endParaRPr lang="en-US" sz="1150" dirty="0"/>
          </a:p>
        </p:txBody>
      </p:sp>
      <p:sp>
        <p:nvSpPr>
          <p:cNvPr id="4" name="Shape 2"/>
          <p:cNvSpPr/>
          <p:nvPr/>
        </p:nvSpPr>
        <p:spPr>
          <a:xfrm>
            <a:off x="786384" y="1225296"/>
            <a:ext cx="10561320" cy="685800"/>
          </a:xfrm>
          <a:prstGeom prst="roundRect">
            <a:avLst>
              <a:gd name="adj" fmla="val 10667"/>
            </a:avLst>
          </a:prstGeom>
          <a:solidFill>
            <a:srgbClr val="FFFFFF"/>
          </a:solidFill>
          <a:ln w="12700">
            <a:solidFill>
              <a:srgbClr val="D9E1EA"/>
            </a:solidFill>
            <a:prstDash val="solid"/>
          </a:ln>
        </p:spPr>
      </p:sp>
      <p:sp>
        <p:nvSpPr>
          <p:cNvPr id="5" name="Shape 3"/>
          <p:cNvSpPr/>
          <p:nvPr/>
        </p:nvSpPr>
        <p:spPr>
          <a:xfrm>
            <a:off x="1005840" y="1344168"/>
            <a:ext cx="438912" cy="438912"/>
          </a:xfrm>
          <a:prstGeom prst="ellipse">
            <a:avLst/>
          </a:prstGeom>
          <a:solidFill>
            <a:srgbClr val="15B8A6"/>
          </a:solidFill>
          <a:ln w="12700">
            <a:solidFill>
              <a:srgbClr val="15B8A6"/>
            </a:solidFill>
            <a:prstDash val="solid"/>
          </a:ln>
        </p:spPr>
      </p:sp>
      <p:sp>
        <p:nvSpPr>
          <p:cNvPr id="6" name="Text 4"/>
          <p:cNvSpPr/>
          <p:nvPr/>
        </p:nvSpPr>
        <p:spPr>
          <a:xfrm>
            <a:off x="1005840" y="1463040"/>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7" name="Text 5"/>
          <p:cNvSpPr/>
          <p:nvPr/>
        </p:nvSpPr>
        <p:spPr>
          <a:xfrm>
            <a:off x="1737360" y="1399032"/>
            <a:ext cx="9098280" cy="274320"/>
          </a:xfrm>
          <a:prstGeom prst="rect">
            <a:avLst/>
          </a:prstGeom>
          <a:noFill/>
          <a:ln/>
        </p:spPr>
        <p:txBody>
          <a:bodyPr wrap="square" lIns="0" tIns="0" rIns="0" bIns="0" rtlCol="0" anchor="ctr"/>
          <a:lstStyle/>
          <a:p>
            <a:pPr marL="0" indent="0">
              <a:buNone/>
            </a:pPr>
            <a:r>
              <a:rPr lang="en-US" sz="1600" dirty="0">
                <a:solidFill>
                  <a:srgbClr val="172033"/>
                </a:solidFill>
              </a:rPr>
              <a:t>Check the driver table is not initial.</a:t>
            </a:r>
            <a:endParaRPr lang="en-US" sz="1600" dirty="0"/>
          </a:p>
        </p:txBody>
      </p:sp>
      <p:sp>
        <p:nvSpPr>
          <p:cNvPr id="8" name="Shape 6"/>
          <p:cNvSpPr/>
          <p:nvPr/>
        </p:nvSpPr>
        <p:spPr>
          <a:xfrm>
            <a:off x="786384" y="2157984"/>
            <a:ext cx="10561320" cy="685800"/>
          </a:xfrm>
          <a:prstGeom prst="roundRect">
            <a:avLst>
              <a:gd name="adj" fmla="val 10667"/>
            </a:avLst>
          </a:prstGeom>
          <a:solidFill>
            <a:srgbClr val="F0FAF8"/>
          </a:solidFill>
          <a:ln w="12700">
            <a:solidFill>
              <a:srgbClr val="D9E1EA"/>
            </a:solidFill>
            <a:prstDash val="solid"/>
          </a:ln>
        </p:spPr>
      </p:sp>
      <p:sp>
        <p:nvSpPr>
          <p:cNvPr id="9" name="Shape 7"/>
          <p:cNvSpPr/>
          <p:nvPr/>
        </p:nvSpPr>
        <p:spPr>
          <a:xfrm>
            <a:off x="1005840" y="2276856"/>
            <a:ext cx="438912" cy="438912"/>
          </a:xfrm>
          <a:prstGeom prst="ellipse">
            <a:avLst/>
          </a:prstGeom>
          <a:solidFill>
            <a:srgbClr val="15B8A6"/>
          </a:solidFill>
          <a:ln w="12700">
            <a:solidFill>
              <a:srgbClr val="15B8A6"/>
            </a:solidFill>
            <a:prstDash val="solid"/>
          </a:ln>
        </p:spPr>
      </p:sp>
      <p:sp>
        <p:nvSpPr>
          <p:cNvPr id="10" name="Text 8"/>
          <p:cNvSpPr/>
          <p:nvPr/>
        </p:nvSpPr>
        <p:spPr>
          <a:xfrm>
            <a:off x="1005840" y="2395728"/>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1" name="Text 9"/>
          <p:cNvSpPr/>
          <p:nvPr/>
        </p:nvSpPr>
        <p:spPr>
          <a:xfrm>
            <a:off x="1737360" y="2331720"/>
            <a:ext cx="9098280" cy="274320"/>
          </a:xfrm>
          <a:prstGeom prst="rect">
            <a:avLst/>
          </a:prstGeom>
          <a:noFill/>
          <a:ln/>
        </p:spPr>
        <p:txBody>
          <a:bodyPr wrap="square" lIns="0" tIns="0" rIns="0" bIns="0" rtlCol="0" anchor="ctr"/>
          <a:lstStyle/>
          <a:p>
            <a:pPr marL="0" indent="0">
              <a:buNone/>
            </a:pPr>
            <a:r>
              <a:rPr lang="en-US" sz="1600" dirty="0">
                <a:solidFill>
                  <a:srgbClr val="172033"/>
                </a:solidFill>
              </a:rPr>
              <a:t>Keep only required key fields.</a:t>
            </a:r>
            <a:endParaRPr lang="en-US" sz="1600" dirty="0"/>
          </a:p>
        </p:txBody>
      </p:sp>
      <p:sp>
        <p:nvSpPr>
          <p:cNvPr id="12" name="Shape 10"/>
          <p:cNvSpPr/>
          <p:nvPr/>
        </p:nvSpPr>
        <p:spPr>
          <a:xfrm>
            <a:off x="786384" y="3090672"/>
            <a:ext cx="10561320" cy="685800"/>
          </a:xfrm>
          <a:prstGeom prst="roundRect">
            <a:avLst>
              <a:gd name="adj" fmla="val 10667"/>
            </a:avLst>
          </a:prstGeom>
          <a:solidFill>
            <a:srgbClr val="FFFFFF"/>
          </a:solidFill>
          <a:ln w="12700">
            <a:solidFill>
              <a:srgbClr val="D9E1EA"/>
            </a:solidFill>
            <a:prstDash val="solid"/>
          </a:ln>
        </p:spPr>
      </p:sp>
      <p:sp>
        <p:nvSpPr>
          <p:cNvPr id="13" name="Shape 11"/>
          <p:cNvSpPr/>
          <p:nvPr/>
        </p:nvSpPr>
        <p:spPr>
          <a:xfrm>
            <a:off x="1005840" y="3209544"/>
            <a:ext cx="438912" cy="438912"/>
          </a:xfrm>
          <a:prstGeom prst="ellipse">
            <a:avLst/>
          </a:prstGeom>
          <a:solidFill>
            <a:srgbClr val="15B8A6"/>
          </a:solidFill>
          <a:ln w="12700">
            <a:solidFill>
              <a:srgbClr val="15B8A6"/>
            </a:solidFill>
            <a:prstDash val="solid"/>
          </a:ln>
        </p:spPr>
      </p:sp>
      <p:sp>
        <p:nvSpPr>
          <p:cNvPr id="14" name="Text 12"/>
          <p:cNvSpPr/>
          <p:nvPr/>
        </p:nvSpPr>
        <p:spPr>
          <a:xfrm>
            <a:off x="1005840" y="3328416"/>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5" name="Text 13"/>
          <p:cNvSpPr/>
          <p:nvPr/>
        </p:nvSpPr>
        <p:spPr>
          <a:xfrm>
            <a:off x="1737360" y="3264408"/>
            <a:ext cx="9098280" cy="274320"/>
          </a:xfrm>
          <a:prstGeom prst="rect">
            <a:avLst/>
          </a:prstGeom>
          <a:noFill/>
          <a:ln/>
        </p:spPr>
        <p:txBody>
          <a:bodyPr wrap="square" lIns="0" tIns="0" rIns="0" bIns="0" rtlCol="0" anchor="ctr"/>
          <a:lstStyle/>
          <a:p>
            <a:pPr marL="0" indent="0">
              <a:buNone/>
            </a:pPr>
            <a:r>
              <a:rPr lang="en-US" sz="1600" dirty="0">
                <a:solidFill>
                  <a:srgbClr val="172033"/>
                </a:solidFill>
              </a:rPr>
              <a:t>Sort and remove duplicates when appropriate.</a:t>
            </a:r>
            <a:endParaRPr lang="en-US" sz="1600" dirty="0"/>
          </a:p>
        </p:txBody>
      </p:sp>
      <p:sp>
        <p:nvSpPr>
          <p:cNvPr id="16" name="Shape 14"/>
          <p:cNvSpPr/>
          <p:nvPr/>
        </p:nvSpPr>
        <p:spPr>
          <a:xfrm>
            <a:off x="786384" y="4023360"/>
            <a:ext cx="10561320" cy="685800"/>
          </a:xfrm>
          <a:prstGeom prst="roundRect">
            <a:avLst>
              <a:gd name="adj" fmla="val 10667"/>
            </a:avLst>
          </a:prstGeom>
          <a:solidFill>
            <a:srgbClr val="F0FAF8"/>
          </a:solidFill>
          <a:ln w="12700">
            <a:solidFill>
              <a:srgbClr val="D9E1EA"/>
            </a:solidFill>
            <a:prstDash val="solid"/>
          </a:ln>
        </p:spPr>
      </p:sp>
      <p:sp>
        <p:nvSpPr>
          <p:cNvPr id="17" name="Shape 15"/>
          <p:cNvSpPr/>
          <p:nvPr/>
        </p:nvSpPr>
        <p:spPr>
          <a:xfrm>
            <a:off x="1005840" y="4142232"/>
            <a:ext cx="438912" cy="438912"/>
          </a:xfrm>
          <a:prstGeom prst="ellipse">
            <a:avLst/>
          </a:prstGeom>
          <a:solidFill>
            <a:srgbClr val="15B8A6"/>
          </a:solidFill>
          <a:ln w="12700">
            <a:solidFill>
              <a:srgbClr val="15B8A6"/>
            </a:solidFill>
            <a:prstDash val="solid"/>
          </a:ln>
        </p:spPr>
      </p:sp>
      <p:sp>
        <p:nvSpPr>
          <p:cNvPr id="18" name="Text 16"/>
          <p:cNvSpPr/>
          <p:nvPr/>
        </p:nvSpPr>
        <p:spPr>
          <a:xfrm>
            <a:off x="1005840" y="4261104"/>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19" name="Text 17"/>
          <p:cNvSpPr/>
          <p:nvPr/>
        </p:nvSpPr>
        <p:spPr>
          <a:xfrm>
            <a:off x="1737360" y="4197096"/>
            <a:ext cx="9098280" cy="274320"/>
          </a:xfrm>
          <a:prstGeom prst="rect">
            <a:avLst/>
          </a:prstGeom>
          <a:noFill/>
          <a:ln/>
        </p:spPr>
        <p:txBody>
          <a:bodyPr wrap="square" lIns="0" tIns="0" rIns="0" bIns="0" rtlCol="0" anchor="ctr"/>
          <a:lstStyle/>
          <a:p>
            <a:pPr marL="0" indent="0">
              <a:buNone/>
            </a:pPr>
            <a:r>
              <a:rPr lang="en-US" sz="1600" dirty="0">
                <a:solidFill>
                  <a:srgbClr val="172033"/>
                </a:solidFill>
              </a:rPr>
              <a:t>Apply all database filters.</a:t>
            </a:r>
            <a:endParaRPr lang="en-US" sz="1600" dirty="0"/>
          </a:p>
        </p:txBody>
      </p:sp>
      <p:sp>
        <p:nvSpPr>
          <p:cNvPr id="20" name="Shape 18"/>
          <p:cNvSpPr/>
          <p:nvPr/>
        </p:nvSpPr>
        <p:spPr>
          <a:xfrm>
            <a:off x="786384" y="4956048"/>
            <a:ext cx="10561320" cy="685800"/>
          </a:xfrm>
          <a:prstGeom prst="roundRect">
            <a:avLst>
              <a:gd name="adj" fmla="val 10667"/>
            </a:avLst>
          </a:prstGeom>
          <a:solidFill>
            <a:srgbClr val="FFFFFF"/>
          </a:solidFill>
          <a:ln w="12700">
            <a:solidFill>
              <a:srgbClr val="D9E1EA"/>
            </a:solidFill>
            <a:prstDash val="solid"/>
          </a:ln>
        </p:spPr>
      </p:sp>
      <p:sp>
        <p:nvSpPr>
          <p:cNvPr id="21" name="Shape 19"/>
          <p:cNvSpPr/>
          <p:nvPr/>
        </p:nvSpPr>
        <p:spPr>
          <a:xfrm>
            <a:off x="1005840" y="5074920"/>
            <a:ext cx="438912" cy="438912"/>
          </a:xfrm>
          <a:prstGeom prst="ellipse">
            <a:avLst/>
          </a:prstGeom>
          <a:solidFill>
            <a:srgbClr val="F59E0B"/>
          </a:solidFill>
          <a:ln w="12700">
            <a:solidFill>
              <a:srgbClr val="F59E0B"/>
            </a:solidFill>
            <a:prstDash val="solid"/>
          </a:ln>
        </p:spPr>
      </p:sp>
      <p:sp>
        <p:nvSpPr>
          <p:cNvPr id="22" name="Text 20"/>
          <p:cNvSpPr/>
          <p:nvPr/>
        </p:nvSpPr>
        <p:spPr>
          <a:xfrm>
            <a:off x="1005840" y="5193792"/>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23" name="Text 21"/>
          <p:cNvSpPr/>
          <p:nvPr/>
        </p:nvSpPr>
        <p:spPr>
          <a:xfrm>
            <a:off x="1737360" y="5129784"/>
            <a:ext cx="9098280" cy="274320"/>
          </a:xfrm>
          <a:prstGeom prst="rect">
            <a:avLst/>
          </a:prstGeom>
          <a:noFill/>
          <a:ln/>
        </p:spPr>
        <p:txBody>
          <a:bodyPr wrap="square" lIns="0" tIns="0" rIns="0" bIns="0" rtlCol="0" anchor="ctr"/>
          <a:lstStyle/>
          <a:p>
            <a:pPr marL="0" indent="0">
              <a:buNone/>
            </a:pPr>
            <a:r>
              <a:rPr lang="en-US" sz="1600" dirty="0">
                <a:solidFill>
                  <a:srgbClr val="172033"/>
                </a:solidFill>
              </a:rPr>
              <a:t>Compare with a join or ranged retrieval.</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6: Model answer</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Use this as a reference, then replace placeholders with verified system details.</a:t>
            </a:r>
            <a:endParaRPr lang="en-US" sz="1150" dirty="0"/>
          </a:p>
        </p:txBody>
      </p:sp>
      <p:sp>
        <p:nvSpPr>
          <p:cNvPr id="4" name="Shape 2"/>
          <p:cNvSpPr/>
          <p:nvPr/>
        </p:nvSpPr>
        <p:spPr>
          <a:xfrm>
            <a:off x="713232" y="1207008"/>
            <a:ext cx="10972800" cy="5010912"/>
          </a:xfrm>
          <a:prstGeom prst="roundRect">
            <a:avLst>
              <a:gd name="adj" fmla="val 1460"/>
            </a:avLst>
          </a:prstGeom>
          <a:solidFill>
            <a:srgbClr val="10263B"/>
          </a:solidFill>
          <a:ln w="12700">
            <a:solidFill>
              <a:srgbClr val="284B66"/>
            </a:solidFill>
            <a:prstDash val="solid"/>
          </a:ln>
        </p:spPr>
      </p:sp>
      <p:sp>
        <p:nvSpPr>
          <p:cNvPr id="5" name="Text 3"/>
          <p:cNvSpPr/>
          <p:nvPr/>
        </p:nvSpPr>
        <p:spPr>
          <a:xfrm>
            <a:off x="877824" y="1344168"/>
            <a:ext cx="10643616" cy="4736592"/>
          </a:xfrm>
          <a:prstGeom prst="rect">
            <a:avLst/>
          </a:prstGeom>
          <a:noFill/>
          <a:ln/>
        </p:spPr>
        <p:txBody>
          <a:bodyPr wrap="square" lIns="254" tIns="254" rIns="254" bIns="254" rtlCol="0" anchor="ctr">
            <a:normAutofit/>
          </a:bodyPr>
          <a:lstStyle/>
          <a:p>
            <a:pPr marL="0" indent="0">
              <a:buNone/>
            </a:pPr>
            <a:r>
              <a:rPr lang="en-US" sz="1250" dirty="0">
                <a:solidFill>
                  <a:srgbClr val="EDF6FC"/>
                </a:solidFill>
                <a:latin typeface="Consolas" pitchFamily="34" charset="0"/>
                <a:ea typeface="Consolas" pitchFamily="34" charset="-122"/>
                <a:cs typeface="Consolas" pitchFamily="34" charset="-120"/>
              </a:rPr>
              <a:t>If FOR ALL ENTRIES is retained, first verify the driver table is not initial. Build a dedicated key table containing only the required fields, sort it and remove duplicates when duplicates do not carry business meaning. Apply personnel-number and validity filters in the database statement and select only needed columns. Explain whether a join, range table or staged read is preferable for the target release and data volume. Include an empty-driver-table test to prove that an unrestricted selection cannot occur.</a:t>
            </a:r>
            <a:endParaRPr lang="en-US" sz="125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7: Choose an internal table type</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Level: ABAP Design</a:t>
            </a:r>
            <a:endParaRPr lang="en-US" sz="1150" dirty="0"/>
          </a:p>
        </p:txBody>
      </p:sp>
      <p:sp>
        <p:nvSpPr>
          <p:cNvPr id="4" name="Shape 2"/>
          <p:cNvSpPr/>
          <p:nvPr/>
        </p:nvSpPr>
        <p:spPr>
          <a:xfrm>
            <a:off x="685800" y="1234440"/>
            <a:ext cx="3703320" cy="4800600"/>
          </a:xfrm>
          <a:prstGeom prst="roundRect">
            <a:avLst>
              <a:gd name="adj" fmla="val 1975"/>
            </a:avLst>
          </a:prstGeom>
          <a:solidFill>
            <a:srgbClr val="EEF5FB"/>
          </a:solidFill>
          <a:ln w="12700">
            <a:solidFill>
              <a:srgbClr val="D9E1EA"/>
            </a:solidFill>
            <a:prstDash val="solid"/>
          </a:ln>
        </p:spPr>
      </p:sp>
      <p:sp>
        <p:nvSpPr>
          <p:cNvPr id="5" name="Shape 3"/>
          <p:cNvSpPr/>
          <p:nvPr/>
        </p:nvSpPr>
        <p:spPr>
          <a:xfrm>
            <a:off x="932688" y="1508760"/>
            <a:ext cx="1143000" cy="310896"/>
          </a:xfrm>
          <a:prstGeom prst="roundRect">
            <a:avLst>
              <a:gd name="adj" fmla="val 23529"/>
            </a:avLst>
          </a:prstGeom>
          <a:solidFill>
            <a:srgbClr val="0B5CAD"/>
          </a:solidFill>
          <a:ln w="12700">
            <a:solidFill>
              <a:srgbClr val="0B5CAD"/>
            </a:solidFill>
            <a:prstDash val="solid"/>
          </a:ln>
        </p:spPr>
      </p:sp>
      <p:sp>
        <p:nvSpPr>
          <p:cNvPr id="6" name="Text 4"/>
          <p:cNvSpPr/>
          <p:nvPr/>
        </p:nvSpPr>
        <p:spPr>
          <a:xfrm>
            <a:off x="978408" y="1577340"/>
            <a:ext cx="1051560" cy="164592"/>
          </a:xfrm>
          <a:prstGeom prst="rect">
            <a:avLst/>
          </a:prstGeom>
          <a:noFill/>
          <a:ln/>
        </p:spPr>
        <p:txBody>
          <a:bodyPr wrap="square" lIns="0" tIns="0" rIns="0" bIns="0" rtlCol="0" anchor="ctr"/>
          <a:lstStyle/>
          <a:p>
            <a:pPr marL="0" indent="0" algn="ctr">
              <a:buNone/>
            </a:pPr>
            <a:r>
              <a:rPr lang="en-US" sz="900" b="1" dirty="0">
                <a:solidFill>
                  <a:srgbClr val="FFFFFF"/>
                </a:solidFill>
              </a:rPr>
              <a:t>SCENARIO</a:t>
            </a:r>
            <a:endParaRPr lang="en-US" sz="900" dirty="0"/>
          </a:p>
        </p:txBody>
      </p:sp>
      <p:sp>
        <p:nvSpPr>
          <p:cNvPr id="7" name="Text 5"/>
          <p:cNvSpPr/>
          <p:nvPr/>
        </p:nvSpPr>
        <p:spPr>
          <a:xfrm>
            <a:off x="960120" y="2148840"/>
            <a:ext cx="3154680" cy="2057400"/>
          </a:xfrm>
          <a:prstGeom prst="rect">
            <a:avLst/>
          </a:prstGeom>
          <a:noFill/>
          <a:ln/>
        </p:spPr>
        <p:txBody>
          <a:bodyPr wrap="square" lIns="0" tIns="0" rIns="0" bIns="0" rtlCol="0" anchor="ctr"/>
          <a:lstStyle/>
          <a:p>
            <a:pPr marL="0" indent="0" algn="ctr">
              <a:buNone/>
            </a:pPr>
            <a:r>
              <a:rPr lang="en-US" sz="1700" b="1" dirty="0">
                <a:solidFill>
                  <a:srgbClr val="172033"/>
                </a:solidFill>
              </a:rPr>
              <a:t>A lookup table is read thousands of times by a unique personnel number and date key.</a:t>
            </a:r>
            <a:endParaRPr lang="en-US" sz="1700" dirty="0"/>
          </a:p>
        </p:txBody>
      </p:sp>
      <p:sp>
        <p:nvSpPr>
          <p:cNvPr id="8" name="Shape 6"/>
          <p:cNvSpPr/>
          <p:nvPr/>
        </p:nvSpPr>
        <p:spPr>
          <a:xfrm>
            <a:off x="4590288" y="1234440"/>
            <a:ext cx="6903720" cy="4800600"/>
          </a:xfrm>
          <a:prstGeom prst="roundRect">
            <a:avLst>
              <a:gd name="adj" fmla="val 1524"/>
            </a:avLst>
          </a:prstGeom>
          <a:solidFill>
            <a:srgbClr val="FFF9ED"/>
          </a:solidFill>
          <a:ln w="12700">
            <a:solidFill>
              <a:srgbClr val="F2D89C"/>
            </a:solidFill>
            <a:prstDash val="solid"/>
          </a:ln>
        </p:spPr>
      </p:sp>
      <p:sp>
        <p:nvSpPr>
          <p:cNvPr id="9" name="Shape 7"/>
          <p:cNvSpPr/>
          <p:nvPr/>
        </p:nvSpPr>
        <p:spPr>
          <a:xfrm>
            <a:off x="4873752" y="1508760"/>
            <a:ext cx="1188720" cy="310896"/>
          </a:xfrm>
          <a:prstGeom prst="roundRect">
            <a:avLst>
              <a:gd name="adj" fmla="val 23529"/>
            </a:avLst>
          </a:prstGeom>
          <a:solidFill>
            <a:srgbClr val="F59E0B"/>
          </a:solidFill>
          <a:ln w="12700">
            <a:solidFill>
              <a:srgbClr val="F59E0B"/>
            </a:solidFill>
            <a:prstDash val="solid"/>
          </a:ln>
        </p:spPr>
      </p:sp>
      <p:sp>
        <p:nvSpPr>
          <p:cNvPr id="10" name="Text 8"/>
          <p:cNvSpPr/>
          <p:nvPr/>
        </p:nvSpPr>
        <p:spPr>
          <a:xfrm>
            <a:off x="4919472" y="1577340"/>
            <a:ext cx="1097280" cy="164592"/>
          </a:xfrm>
          <a:prstGeom prst="rect">
            <a:avLst/>
          </a:prstGeom>
          <a:noFill/>
          <a:ln/>
        </p:spPr>
        <p:txBody>
          <a:bodyPr wrap="square" lIns="0" tIns="0" rIns="0" bIns="0" rtlCol="0" anchor="ctr"/>
          <a:lstStyle/>
          <a:p>
            <a:pPr marL="0" indent="0" algn="ctr">
              <a:buNone/>
            </a:pPr>
            <a:r>
              <a:rPr lang="en-US" sz="900" b="1" dirty="0">
                <a:solidFill>
                  <a:srgbClr val="FFFFFF"/>
                </a:solidFill>
              </a:rPr>
              <a:t>YOUR TASK</a:t>
            </a:r>
            <a:endParaRPr lang="en-US" sz="900" dirty="0"/>
          </a:p>
        </p:txBody>
      </p:sp>
      <p:sp>
        <p:nvSpPr>
          <p:cNvPr id="11" name="Shape 9"/>
          <p:cNvSpPr/>
          <p:nvPr/>
        </p:nvSpPr>
        <p:spPr>
          <a:xfrm>
            <a:off x="4937760" y="2313432"/>
            <a:ext cx="192024" cy="192024"/>
          </a:xfrm>
          <a:prstGeom prst="ellipse">
            <a:avLst/>
          </a:prstGeom>
          <a:solidFill>
            <a:srgbClr val="15B8A6"/>
          </a:solidFill>
          <a:ln w="12700">
            <a:solidFill>
              <a:srgbClr val="15B8A6"/>
            </a:solidFill>
            <a:prstDash val="solid"/>
          </a:ln>
        </p:spPr>
      </p:sp>
      <p:sp>
        <p:nvSpPr>
          <p:cNvPr id="12" name="Text 10"/>
          <p:cNvSpPr/>
          <p:nvPr/>
        </p:nvSpPr>
        <p:spPr>
          <a:xfrm>
            <a:off x="5266944" y="224028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Select a table type.</a:t>
            </a:r>
            <a:endParaRPr lang="en-US" sz="1600" dirty="0"/>
          </a:p>
        </p:txBody>
      </p:sp>
      <p:sp>
        <p:nvSpPr>
          <p:cNvPr id="13" name="Shape 11"/>
          <p:cNvSpPr/>
          <p:nvPr/>
        </p:nvSpPr>
        <p:spPr>
          <a:xfrm>
            <a:off x="4937760" y="3136392"/>
            <a:ext cx="192024" cy="192024"/>
          </a:xfrm>
          <a:prstGeom prst="ellipse">
            <a:avLst/>
          </a:prstGeom>
          <a:solidFill>
            <a:srgbClr val="15B8A6"/>
          </a:solidFill>
          <a:ln w="12700">
            <a:solidFill>
              <a:srgbClr val="15B8A6"/>
            </a:solidFill>
            <a:prstDash val="solid"/>
          </a:ln>
        </p:spPr>
      </p:sp>
      <p:sp>
        <p:nvSpPr>
          <p:cNvPr id="14" name="Text 12"/>
          <p:cNvSpPr/>
          <p:nvPr/>
        </p:nvSpPr>
        <p:spPr>
          <a:xfrm>
            <a:off x="5266944" y="306324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Define the key.</a:t>
            </a:r>
            <a:endParaRPr lang="en-US" sz="1600" dirty="0"/>
          </a:p>
        </p:txBody>
      </p:sp>
      <p:sp>
        <p:nvSpPr>
          <p:cNvPr id="15" name="Shape 13"/>
          <p:cNvSpPr/>
          <p:nvPr/>
        </p:nvSpPr>
        <p:spPr>
          <a:xfrm>
            <a:off x="4937760" y="3959352"/>
            <a:ext cx="192024" cy="192024"/>
          </a:xfrm>
          <a:prstGeom prst="ellipse">
            <a:avLst/>
          </a:prstGeom>
          <a:solidFill>
            <a:srgbClr val="15B8A6"/>
          </a:solidFill>
          <a:ln w="12700">
            <a:solidFill>
              <a:srgbClr val="15B8A6"/>
            </a:solidFill>
            <a:prstDash val="solid"/>
          </a:ln>
        </p:spPr>
      </p:sp>
      <p:sp>
        <p:nvSpPr>
          <p:cNvPr id="16" name="Text 14"/>
          <p:cNvSpPr/>
          <p:nvPr/>
        </p:nvSpPr>
        <p:spPr>
          <a:xfrm>
            <a:off x="5266944" y="388620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Explain the trade-off.</a:t>
            </a:r>
            <a:endParaRPr lang="en-US" sz="1600" dirty="0"/>
          </a:p>
        </p:txBody>
      </p:sp>
      <p:sp>
        <p:nvSpPr>
          <p:cNvPr id="17" name="Text 15"/>
          <p:cNvSpPr/>
          <p:nvPr/>
        </p:nvSpPr>
        <p:spPr>
          <a:xfrm>
            <a:off x="4983480" y="5166360"/>
            <a:ext cx="5852160" cy="411480"/>
          </a:xfrm>
          <a:prstGeom prst="rect">
            <a:avLst/>
          </a:prstGeom>
          <a:noFill/>
          <a:ln/>
        </p:spPr>
        <p:txBody>
          <a:bodyPr wrap="square" lIns="0" tIns="0" rIns="0" bIns="0" rtlCol="0" anchor="ctr"/>
          <a:lstStyle/>
          <a:p>
            <a:pPr marL="0" indent="0" algn="ctr">
              <a:buNone/>
            </a:pPr>
            <a:r>
              <a:rPr lang="en-US" sz="1400" b="1" dirty="0">
                <a:solidFill>
                  <a:srgbClr val="D14343"/>
                </a:solidFill>
              </a:rPr>
              <a:t>Pause here and create your answer before moving to the next slide.</a:t>
            </a:r>
            <a:endParaRPr lang="en-US" sz="14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7: Guided steps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Build the answer one decision at a time.</a:t>
            </a:r>
            <a:endParaRPr lang="en-US" sz="1150" dirty="0"/>
          </a:p>
        </p:txBody>
      </p:sp>
      <p:sp>
        <p:nvSpPr>
          <p:cNvPr id="4" name="Shape 2"/>
          <p:cNvSpPr/>
          <p:nvPr/>
        </p:nvSpPr>
        <p:spPr>
          <a:xfrm>
            <a:off x="786384" y="1225296"/>
            <a:ext cx="10561320" cy="685800"/>
          </a:xfrm>
          <a:prstGeom prst="roundRect">
            <a:avLst>
              <a:gd name="adj" fmla="val 10667"/>
            </a:avLst>
          </a:prstGeom>
          <a:solidFill>
            <a:srgbClr val="FFFFFF"/>
          </a:solidFill>
          <a:ln w="12700">
            <a:solidFill>
              <a:srgbClr val="D9E1EA"/>
            </a:solidFill>
            <a:prstDash val="solid"/>
          </a:ln>
        </p:spPr>
      </p:sp>
      <p:sp>
        <p:nvSpPr>
          <p:cNvPr id="5" name="Shape 3"/>
          <p:cNvSpPr/>
          <p:nvPr/>
        </p:nvSpPr>
        <p:spPr>
          <a:xfrm>
            <a:off x="1005840" y="1344168"/>
            <a:ext cx="438912" cy="438912"/>
          </a:xfrm>
          <a:prstGeom prst="ellipse">
            <a:avLst/>
          </a:prstGeom>
          <a:solidFill>
            <a:srgbClr val="15B8A6"/>
          </a:solidFill>
          <a:ln w="12700">
            <a:solidFill>
              <a:srgbClr val="15B8A6"/>
            </a:solidFill>
            <a:prstDash val="solid"/>
          </a:ln>
        </p:spPr>
      </p:sp>
      <p:sp>
        <p:nvSpPr>
          <p:cNvPr id="6" name="Text 4"/>
          <p:cNvSpPr/>
          <p:nvPr/>
        </p:nvSpPr>
        <p:spPr>
          <a:xfrm>
            <a:off x="1005840" y="1463040"/>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7" name="Text 5"/>
          <p:cNvSpPr/>
          <p:nvPr/>
        </p:nvSpPr>
        <p:spPr>
          <a:xfrm>
            <a:off x="1737360" y="1399032"/>
            <a:ext cx="9098280" cy="274320"/>
          </a:xfrm>
          <a:prstGeom prst="rect">
            <a:avLst/>
          </a:prstGeom>
          <a:noFill/>
          <a:ln/>
        </p:spPr>
        <p:txBody>
          <a:bodyPr wrap="square" lIns="0" tIns="0" rIns="0" bIns="0" rtlCol="0" anchor="ctr"/>
          <a:lstStyle/>
          <a:p>
            <a:pPr marL="0" indent="0">
              <a:buNone/>
            </a:pPr>
            <a:r>
              <a:rPr lang="en-US" sz="1600" dirty="0">
                <a:solidFill>
                  <a:srgbClr val="172033"/>
                </a:solidFill>
              </a:rPr>
              <a:t>Describe the access pattern.</a:t>
            </a:r>
            <a:endParaRPr lang="en-US" sz="1600" dirty="0"/>
          </a:p>
        </p:txBody>
      </p:sp>
      <p:sp>
        <p:nvSpPr>
          <p:cNvPr id="8" name="Shape 6"/>
          <p:cNvSpPr/>
          <p:nvPr/>
        </p:nvSpPr>
        <p:spPr>
          <a:xfrm>
            <a:off x="786384" y="2157984"/>
            <a:ext cx="10561320" cy="685800"/>
          </a:xfrm>
          <a:prstGeom prst="roundRect">
            <a:avLst>
              <a:gd name="adj" fmla="val 10667"/>
            </a:avLst>
          </a:prstGeom>
          <a:solidFill>
            <a:srgbClr val="F0FAF8"/>
          </a:solidFill>
          <a:ln w="12700">
            <a:solidFill>
              <a:srgbClr val="D9E1EA"/>
            </a:solidFill>
            <a:prstDash val="solid"/>
          </a:ln>
        </p:spPr>
      </p:sp>
      <p:sp>
        <p:nvSpPr>
          <p:cNvPr id="9" name="Shape 7"/>
          <p:cNvSpPr/>
          <p:nvPr/>
        </p:nvSpPr>
        <p:spPr>
          <a:xfrm>
            <a:off x="1005840" y="2276856"/>
            <a:ext cx="438912" cy="438912"/>
          </a:xfrm>
          <a:prstGeom prst="ellipse">
            <a:avLst/>
          </a:prstGeom>
          <a:solidFill>
            <a:srgbClr val="15B8A6"/>
          </a:solidFill>
          <a:ln w="12700">
            <a:solidFill>
              <a:srgbClr val="15B8A6"/>
            </a:solidFill>
            <a:prstDash val="solid"/>
          </a:ln>
        </p:spPr>
      </p:sp>
      <p:sp>
        <p:nvSpPr>
          <p:cNvPr id="10" name="Text 8"/>
          <p:cNvSpPr/>
          <p:nvPr/>
        </p:nvSpPr>
        <p:spPr>
          <a:xfrm>
            <a:off x="1005840" y="2395728"/>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1" name="Text 9"/>
          <p:cNvSpPr/>
          <p:nvPr/>
        </p:nvSpPr>
        <p:spPr>
          <a:xfrm>
            <a:off x="1737360" y="2331720"/>
            <a:ext cx="9098280" cy="274320"/>
          </a:xfrm>
          <a:prstGeom prst="rect">
            <a:avLst/>
          </a:prstGeom>
          <a:noFill/>
          <a:ln/>
        </p:spPr>
        <p:txBody>
          <a:bodyPr wrap="square" lIns="0" tIns="0" rIns="0" bIns="0" rtlCol="0" anchor="ctr"/>
          <a:lstStyle/>
          <a:p>
            <a:pPr marL="0" indent="0">
              <a:buNone/>
            </a:pPr>
            <a:r>
              <a:rPr lang="en-US" sz="1600" dirty="0">
                <a:solidFill>
                  <a:srgbClr val="172033"/>
                </a:solidFill>
              </a:rPr>
              <a:t>Confirm whether the key is unique.</a:t>
            </a:r>
            <a:endParaRPr lang="en-US" sz="1600" dirty="0"/>
          </a:p>
        </p:txBody>
      </p:sp>
      <p:sp>
        <p:nvSpPr>
          <p:cNvPr id="12" name="Shape 10"/>
          <p:cNvSpPr/>
          <p:nvPr/>
        </p:nvSpPr>
        <p:spPr>
          <a:xfrm>
            <a:off x="786384" y="3090672"/>
            <a:ext cx="10561320" cy="685800"/>
          </a:xfrm>
          <a:prstGeom prst="roundRect">
            <a:avLst>
              <a:gd name="adj" fmla="val 10667"/>
            </a:avLst>
          </a:prstGeom>
          <a:solidFill>
            <a:srgbClr val="FFFFFF"/>
          </a:solidFill>
          <a:ln w="12700">
            <a:solidFill>
              <a:srgbClr val="D9E1EA"/>
            </a:solidFill>
            <a:prstDash val="solid"/>
          </a:ln>
        </p:spPr>
      </p:sp>
      <p:sp>
        <p:nvSpPr>
          <p:cNvPr id="13" name="Shape 11"/>
          <p:cNvSpPr/>
          <p:nvPr/>
        </p:nvSpPr>
        <p:spPr>
          <a:xfrm>
            <a:off x="1005840" y="3209544"/>
            <a:ext cx="438912" cy="438912"/>
          </a:xfrm>
          <a:prstGeom prst="ellipse">
            <a:avLst/>
          </a:prstGeom>
          <a:solidFill>
            <a:srgbClr val="15B8A6"/>
          </a:solidFill>
          <a:ln w="12700">
            <a:solidFill>
              <a:srgbClr val="15B8A6"/>
            </a:solidFill>
            <a:prstDash val="solid"/>
          </a:ln>
        </p:spPr>
      </p:sp>
      <p:sp>
        <p:nvSpPr>
          <p:cNvPr id="14" name="Text 12"/>
          <p:cNvSpPr/>
          <p:nvPr/>
        </p:nvSpPr>
        <p:spPr>
          <a:xfrm>
            <a:off x="1005840" y="3328416"/>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5" name="Text 13"/>
          <p:cNvSpPr/>
          <p:nvPr/>
        </p:nvSpPr>
        <p:spPr>
          <a:xfrm>
            <a:off x="1737360" y="3264408"/>
            <a:ext cx="9098280" cy="274320"/>
          </a:xfrm>
          <a:prstGeom prst="rect">
            <a:avLst/>
          </a:prstGeom>
          <a:noFill/>
          <a:ln/>
        </p:spPr>
        <p:txBody>
          <a:bodyPr wrap="square" lIns="0" tIns="0" rIns="0" bIns="0" rtlCol="0" anchor="ctr"/>
          <a:lstStyle/>
          <a:p>
            <a:pPr marL="0" indent="0">
              <a:buNone/>
            </a:pPr>
            <a:r>
              <a:rPr lang="en-US" sz="1600" dirty="0">
                <a:solidFill>
                  <a:srgbClr val="172033"/>
                </a:solidFill>
              </a:rPr>
              <a:t>Choose HASHED or SORTED accordingly.</a:t>
            </a:r>
            <a:endParaRPr lang="en-US" sz="1600" dirty="0"/>
          </a:p>
        </p:txBody>
      </p:sp>
      <p:sp>
        <p:nvSpPr>
          <p:cNvPr id="16" name="Shape 14"/>
          <p:cNvSpPr/>
          <p:nvPr/>
        </p:nvSpPr>
        <p:spPr>
          <a:xfrm>
            <a:off x="786384" y="4023360"/>
            <a:ext cx="10561320" cy="685800"/>
          </a:xfrm>
          <a:prstGeom prst="roundRect">
            <a:avLst>
              <a:gd name="adj" fmla="val 10667"/>
            </a:avLst>
          </a:prstGeom>
          <a:solidFill>
            <a:srgbClr val="F0FAF8"/>
          </a:solidFill>
          <a:ln w="12700">
            <a:solidFill>
              <a:srgbClr val="D9E1EA"/>
            </a:solidFill>
            <a:prstDash val="solid"/>
          </a:ln>
        </p:spPr>
      </p:sp>
      <p:sp>
        <p:nvSpPr>
          <p:cNvPr id="17" name="Shape 15"/>
          <p:cNvSpPr/>
          <p:nvPr/>
        </p:nvSpPr>
        <p:spPr>
          <a:xfrm>
            <a:off x="1005840" y="4142232"/>
            <a:ext cx="438912" cy="438912"/>
          </a:xfrm>
          <a:prstGeom prst="ellipse">
            <a:avLst/>
          </a:prstGeom>
          <a:solidFill>
            <a:srgbClr val="15B8A6"/>
          </a:solidFill>
          <a:ln w="12700">
            <a:solidFill>
              <a:srgbClr val="15B8A6"/>
            </a:solidFill>
            <a:prstDash val="solid"/>
          </a:ln>
        </p:spPr>
      </p:sp>
      <p:sp>
        <p:nvSpPr>
          <p:cNvPr id="18" name="Text 16"/>
          <p:cNvSpPr/>
          <p:nvPr/>
        </p:nvSpPr>
        <p:spPr>
          <a:xfrm>
            <a:off x="1005840" y="4261104"/>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19" name="Text 17"/>
          <p:cNvSpPr/>
          <p:nvPr/>
        </p:nvSpPr>
        <p:spPr>
          <a:xfrm>
            <a:off x="1737360" y="4197096"/>
            <a:ext cx="9098280" cy="274320"/>
          </a:xfrm>
          <a:prstGeom prst="rect">
            <a:avLst/>
          </a:prstGeom>
          <a:noFill/>
          <a:ln/>
        </p:spPr>
        <p:txBody>
          <a:bodyPr wrap="square" lIns="0" tIns="0" rIns="0" bIns="0" rtlCol="0" anchor="ctr"/>
          <a:lstStyle/>
          <a:p>
            <a:pPr marL="0" indent="0">
              <a:buNone/>
            </a:pPr>
            <a:r>
              <a:rPr lang="en-US" sz="1600" dirty="0">
                <a:solidFill>
                  <a:srgbClr val="172033"/>
                </a:solidFill>
              </a:rPr>
              <a:t>Avoid unnecessary SORT/BINARY SEARCH.</a:t>
            </a:r>
            <a:endParaRPr lang="en-US" sz="1600" dirty="0"/>
          </a:p>
        </p:txBody>
      </p:sp>
      <p:sp>
        <p:nvSpPr>
          <p:cNvPr id="20" name="Shape 18"/>
          <p:cNvSpPr/>
          <p:nvPr/>
        </p:nvSpPr>
        <p:spPr>
          <a:xfrm>
            <a:off x="786384" y="4956048"/>
            <a:ext cx="10561320" cy="685800"/>
          </a:xfrm>
          <a:prstGeom prst="roundRect">
            <a:avLst>
              <a:gd name="adj" fmla="val 10667"/>
            </a:avLst>
          </a:prstGeom>
          <a:solidFill>
            <a:srgbClr val="FFFFFF"/>
          </a:solidFill>
          <a:ln w="12700">
            <a:solidFill>
              <a:srgbClr val="D9E1EA"/>
            </a:solidFill>
            <a:prstDash val="solid"/>
          </a:ln>
        </p:spPr>
      </p:sp>
      <p:sp>
        <p:nvSpPr>
          <p:cNvPr id="21" name="Shape 19"/>
          <p:cNvSpPr/>
          <p:nvPr/>
        </p:nvSpPr>
        <p:spPr>
          <a:xfrm>
            <a:off x="1005840" y="5074920"/>
            <a:ext cx="438912" cy="438912"/>
          </a:xfrm>
          <a:prstGeom prst="ellipse">
            <a:avLst/>
          </a:prstGeom>
          <a:solidFill>
            <a:srgbClr val="F59E0B"/>
          </a:solidFill>
          <a:ln w="12700">
            <a:solidFill>
              <a:srgbClr val="F59E0B"/>
            </a:solidFill>
            <a:prstDash val="solid"/>
          </a:ln>
        </p:spPr>
      </p:sp>
      <p:sp>
        <p:nvSpPr>
          <p:cNvPr id="22" name="Text 20"/>
          <p:cNvSpPr/>
          <p:nvPr/>
        </p:nvSpPr>
        <p:spPr>
          <a:xfrm>
            <a:off x="1005840" y="5193792"/>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23" name="Text 21"/>
          <p:cNvSpPr/>
          <p:nvPr/>
        </p:nvSpPr>
        <p:spPr>
          <a:xfrm>
            <a:off x="1737360" y="5129784"/>
            <a:ext cx="9098280" cy="274320"/>
          </a:xfrm>
          <a:prstGeom prst="rect">
            <a:avLst/>
          </a:prstGeom>
          <a:noFill/>
          <a:ln/>
        </p:spPr>
        <p:txBody>
          <a:bodyPr wrap="square" lIns="0" tIns="0" rIns="0" bIns="0" rtlCol="0" anchor="ctr"/>
          <a:lstStyle/>
          <a:p>
            <a:pPr marL="0" indent="0">
              <a:buNone/>
            </a:pPr>
            <a:r>
              <a:rPr lang="en-US" sz="1600" dirty="0">
                <a:solidFill>
                  <a:srgbClr val="172033"/>
                </a:solidFill>
              </a:rPr>
              <a:t>Test missing and duplicate keys.</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7: Model answer</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Use this as a reference, then replace placeholders with verified system details.</a:t>
            </a:r>
            <a:endParaRPr lang="en-US" sz="1150" dirty="0"/>
          </a:p>
        </p:txBody>
      </p:sp>
      <p:sp>
        <p:nvSpPr>
          <p:cNvPr id="4" name="Shape 2"/>
          <p:cNvSpPr/>
          <p:nvPr/>
        </p:nvSpPr>
        <p:spPr>
          <a:xfrm>
            <a:off x="713232" y="1207008"/>
            <a:ext cx="10972800" cy="5010912"/>
          </a:xfrm>
          <a:prstGeom prst="roundRect">
            <a:avLst>
              <a:gd name="adj" fmla="val 1460"/>
            </a:avLst>
          </a:prstGeom>
          <a:solidFill>
            <a:srgbClr val="10263B"/>
          </a:solidFill>
          <a:ln w="12700">
            <a:solidFill>
              <a:srgbClr val="284B66"/>
            </a:solidFill>
            <a:prstDash val="solid"/>
          </a:ln>
        </p:spPr>
      </p:sp>
      <p:sp>
        <p:nvSpPr>
          <p:cNvPr id="5" name="Text 3"/>
          <p:cNvSpPr/>
          <p:nvPr/>
        </p:nvSpPr>
        <p:spPr>
          <a:xfrm>
            <a:off x="877824" y="1344168"/>
            <a:ext cx="10643616" cy="4736592"/>
          </a:xfrm>
          <a:prstGeom prst="rect">
            <a:avLst/>
          </a:prstGeom>
          <a:noFill/>
          <a:ln/>
        </p:spPr>
        <p:txBody>
          <a:bodyPr wrap="square" lIns="254" tIns="254" rIns="254" bIns="254" rtlCol="0" anchor="ctr">
            <a:normAutofit/>
          </a:bodyPr>
          <a:lstStyle/>
          <a:p>
            <a:pPr marL="0" indent="0">
              <a:buNone/>
            </a:pPr>
            <a:r>
              <a:rPr lang="en-US" sz="1250" dirty="0">
                <a:solidFill>
                  <a:srgbClr val="EDF6FC"/>
                </a:solidFill>
                <a:latin typeface="Consolas" pitchFamily="34" charset="0"/>
                <a:ea typeface="Consolas" pitchFamily="34" charset="-122"/>
                <a:cs typeface="Consolas" pitchFamily="34" charset="-120"/>
              </a:rPr>
              <a:t>Use a HASHED TABLE when every lookup is an exact access by the complete unique key and ordered traversal is not required. Define the unique key using the fields that truly identify one row, such as PERNR plus the relevant validity or sequence fields. If range access or ordered iteration is required, use a SORTED TABLE instead. Request evidence for the key design, and test exact hit, missing key, attempted duplicate and validity-split cases.</a:t>
            </a:r>
            <a:endParaRPr lang="en-US" sz="125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8: Create an RFC read-service prompt</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Level: Integration</a:t>
            </a:r>
            <a:endParaRPr lang="en-US" sz="1150" dirty="0"/>
          </a:p>
        </p:txBody>
      </p:sp>
      <p:sp>
        <p:nvSpPr>
          <p:cNvPr id="4" name="Shape 2"/>
          <p:cNvSpPr/>
          <p:nvPr/>
        </p:nvSpPr>
        <p:spPr>
          <a:xfrm>
            <a:off x="685800" y="1234440"/>
            <a:ext cx="3703320" cy="4800600"/>
          </a:xfrm>
          <a:prstGeom prst="roundRect">
            <a:avLst>
              <a:gd name="adj" fmla="val 1975"/>
            </a:avLst>
          </a:prstGeom>
          <a:solidFill>
            <a:srgbClr val="EEF5FB"/>
          </a:solidFill>
          <a:ln w="12700">
            <a:solidFill>
              <a:srgbClr val="D9E1EA"/>
            </a:solidFill>
            <a:prstDash val="solid"/>
          </a:ln>
        </p:spPr>
      </p:sp>
      <p:sp>
        <p:nvSpPr>
          <p:cNvPr id="5" name="Shape 3"/>
          <p:cNvSpPr/>
          <p:nvPr/>
        </p:nvSpPr>
        <p:spPr>
          <a:xfrm>
            <a:off x="932688" y="1508760"/>
            <a:ext cx="1143000" cy="310896"/>
          </a:xfrm>
          <a:prstGeom prst="roundRect">
            <a:avLst>
              <a:gd name="adj" fmla="val 23529"/>
            </a:avLst>
          </a:prstGeom>
          <a:solidFill>
            <a:srgbClr val="0B5CAD"/>
          </a:solidFill>
          <a:ln w="12700">
            <a:solidFill>
              <a:srgbClr val="0B5CAD"/>
            </a:solidFill>
            <a:prstDash val="solid"/>
          </a:ln>
        </p:spPr>
      </p:sp>
      <p:sp>
        <p:nvSpPr>
          <p:cNvPr id="6" name="Text 4"/>
          <p:cNvSpPr/>
          <p:nvPr/>
        </p:nvSpPr>
        <p:spPr>
          <a:xfrm>
            <a:off x="978408" y="1577340"/>
            <a:ext cx="1051560" cy="164592"/>
          </a:xfrm>
          <a:prstGeom prst="rect">
            <a:avLst/>
          </a:prstGeom>
          <a:noFill/>
          <a:ln/>
        </p:spPr>
        <p:txBody>
          <a:bodyPr wrap="square" lIns="0" tIns="0" rIns="0" bIns="0" rtlCol="0" anchor="ctr"/>
          <a:lstStyle/>
          <a:p>
            <a:pPr marL="0" indent="0" algn="ctr">
              <a:buNone/>
            </a:pPr>
            <a:r>
              <a:rPr lang="en-US" sz="900" b="1" dirty="0">
                <a:solidFill>
                  <a:srgbClr val="FFFFFF"/>
                </a:solidFill>
              </a:rPr>
              <a:t>SCENARIO</a:t>
            </a:r>
            <a:endParaRPr lang="en-US" sz="900" dirty="0"/>
          </a:p>
        </p:txBody>
      </p:sp>
      <p:sp>
        <p:nvSpPr>
          <p:cNvPr id="7" name="Text 5"/>
          <p:cNvSpPr/>
          <p:nvPr/>
        </p:nvSpPr>
        <p:spPr>
          <a:xfrm>
            <a:off x="960120" y="2148840"/>
            <a:ext cx="3154680" cy="2057400"/>
          </a:xfrm>
          <a:prstGeom prst="rect">
            <a:avLst/>
          </a:prstGeom>
          <a:noFill/>
          <a:ln/>
        </p:spPr>
        <p:txBody>
          <a:bodyPr wrap="square" lIns="0" tIns="0" rIns="0" bIns="0" rtlCol="0" anchor="ctr"/>
          <a:lstStyle/>
          <a:p>
            <a:pPr marL="0" indent="0" algn="ctr">
              <a:buNone/>
            </a:pPr>
            <a:r>
              <a:rPr lang="en-US" sz="1700" b="1" dirty="0">
                <a:solidFill>
                  <a:srgbClr val="172033"/>
                </a:solidFill>
              </a:rPr>
              <a:t>An external system needs employee organisational data for a personnel number and date range.</a:t>
            </a:r>
            <a:endParaRPr lang="en-US" sz="1700" dirty="0"/>
          </a:p>
        </p:txBody>
      </p:sp>
      <p:sp>
        <p:nvSpPr>
          <p:cNvPr id="8" name="Shape 6"/>
          <p:cNvSpPr/>
          <p:nvPr/>
        </p:nvSpPr>
        <p:spPr>
          <a:xfrm>
            <a:off x="4590288" y="1234440"/>
            <a:ext cx="6903720" cy="4800600"/>
          </a:xfrm>
          <a:prstGeom prst="roundRect">
            <a:avLst>
              <a:gd name="adj" fmla="val 1524"/>
            </a:avLst>
          </a:prstGeom>
          <a:solidFill>
            <a:srgbClr val="FFF9ED"/>
          </a:solidFill>
          <a:ln w="12700">
            <a:solidFill>
              <a:srgbClr val="F2D89C"/>
            </a:solidFill>
            <a:prstDash val="solid"/>
          </a:ln>
        </p:spPr>
      </p:sp>
      <p:sp>
        <p:nvSpPr>
          <p:cNvPr id="9" name="Shape 7"/>
          <p:cNvSpPr/>
          <p:nvPr/>
        </p:nvSpPr>
        <p:spPr>
          <a:xfrm>
            <a:off x="4873752" y="1508760"/>
            <a:ext cx="1188720" cy="310896"/>
          </a:xfrm>
          <a:prstGeom prst="roundRect">
            <a:avLst>
              <a:gd name="adj" fmla="val 23529"/>
            </a:avLst>
          </a:prstGeom>
          <a:solidFill>
            <a:srgbClr val="F59E0B"/>
          </a:solidFill>
          <a:ln w="12700">
            <a:solidFill>
              <a:srgbClr val="F59E0B"/>
            </a:solidFill>
            <a:prstDash val="solid"/>
          </a:ln>
        </p:spPr>
      </p:sp>
      <p:sp>
        <p:nvSpPr>
          <p:cNvPr id="10" name="Text 8"/>
          <p:cNvSpPr/>
          <p:nvPr/>
        </p:nvSpPr>
        <p:spPr>
          <a:xfrm>
            <a:off x="4919472" y="1577340"/>
            <a:ext cx="1097280" cy="164592"/>
          </a:xfrm>
          <a:prstGeom prst="rect">
            <a:avLst/>
          </a:prstGeom>
          <a:noFill/>
          <a:ln/>
        </p:spPr>
        <p:txBody>
          <a:bodyPr wrap="square" lIns="0" tIns="0" rIns="0" bIns="0" rtlCol="0" anchor="ctr"/>
          <a:lstStyle/>
          <a:p>
            <a:pPr marL="0" indent="0" algn="ctr">
              <a:buNone/>
            </a:pPr>
            <a:r>
              <a:rPr lang="en-US" sz="900" b="1" dirty="0">
                <a:solidFill>
                  <a:srgbClr val="FFFFFF"/>
                </a:solidFill>
              </a:rPr>
              <a:t>YOUR TASK</a:t>
            </a:r>
            <a:endParaRPr lang="en-US" sz="900" dirty="0"/>
          </a:p>
        </p:txBody>
      </p:sp>
      <p:sp>
        <p:nvSpPr>
          <p:cNvPr id="11" name="Shape 9"/>
          <p:cNvSpPr/>
          <p:nvPr/>
        </p:nvSpPr>
        <p:spPr>
          <a:xfrm>
            <a:off x="4937760" y="2313432"/>
            <a:ext cx="192024" cy="192024"/>
          </a:xfrm>
          <a:prstGeom prst="ellipse">
            <a:avLst/>
          </a:prstGeom>
          <a:solidFill>
            <a:srgbClr val="15B8A6"/>
          </a:solidFill>
          <a:ln w="12700">
            <a:solidFill>
              <a:srgbClr val="15B8A6"/>
            </a:solidFill>
            <a:prstDash val="solid"/>
          </a:ln>
        </p:spPr>
      </p:sp>
      <p:sp>
        <p:nvSpPr>
          <p:cNvPr id="12" name="Text 10"/>
          <p:cNvSpPr/>
          <p:nvPr/>
        </p:nvSpPr>
        <p:spPr>
          <a:xfrm>
            <a:off x="5266944" y="224028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Define the interface.</a:t>
            </a:r>
            <a:endParaRPr lang="en-US" sz="1600" dirty="0"/>
          </a:p>
        </p:txBody>
      </p:sp>
      <p:sp>
        <p:nvSpPr>
          <p:cNvPr id="13" name="Shape 11"/>
          <p:cNvSpPr/>
          <p:nvPr/>
        </p:nvSpPr>
        <p:spPr>
          <a:xfrm>
            <a:off x="4937760" y="3136392"/>
            <a:ext cx="192024" cy="192024"/>
          </a:xfrm>
          <a:prstGeom prst="ellipse">
            <a:avLst/>
          </a:prstGeom>
          <a:solidFill>
            <a:srgbClr val="15B8A6"/>
          </a:solidFill>
          <a:ln w="12700">
            <a:solidFill>
              <a:srgbClr val="15B8A6"/>
            </a:solidFill>
            <a:prstDash val="solid"/>
          </a:ln>
        </p:spPr>
      </p:sp>
      <p:sp>
        <p:nvSpPr>
          <p:cNvPr id="14" name="Text 12"/>
          <p:cNvSpPr/>
          <p:nvPr/>
        </p:nvSpPr>
        <p:spPr>
          <a:xfrm>
            <a:off x="5266944" y="306324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Add input, security and error handling.</a:t>
            </a:r>
            <a:endParaRPr lang="en-US" sz="1600" dirty="0"/>
          </a:p>
        </p:txBody>
      </p:sp>
      <p:sp>
        <p:nvSpPr>
          <p:cNvPr id="15" name="Shape 13"/>
          <p:cNvSpPr/>
          <p:nvPr/>
        </p:nvSpPr>
        <p:spPr>
          <a:xfrm>
            <a:off x="4937760" y="3959352"/>
            <a:ext cx="192024" cy="192024"/>
          </a:xfrm>
          <a:prstGeom prst="ellipse">
            <a:avLst/>
          </a:prstGeom>
          <a:solidFill>
            <a:srgbClr val="15B8A6"/>
          </a:solidFill>
          <a:ln w="12700">
            <a:solidFill>
              <a:srgbClr val="15B8A6"/>
            </a:solidFill>
            <a:prstDash val="solid"/>
          </a:ln>
        </p:spPr>
      </p:sp>
      <p:sp>
        <p:nvSpPr>
          <p:cNvPr id="16" name="Text 14"/>
          <p:cNvSpPr/>
          <p:nvPr/>
        </p:nvSpPr>
        <p:spPr>
          <a:xfrm>
            <a:off x="5266944" y="388620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Add test deliverables.</a:t>
            </a:r>
            <a:endParaRPr lang="en-US" sz="1600" dirty="0"/>
          </a:p>
        </p:txBody>
      </p:sp>
      <p:sp>
        <p:nvSpPr>
          <p:cNvPr id="17" name="Text 15"/>
          <p:cNvSpPr/>
          <p:nvPr/>
        </p:nvSpPr>
        <p:spPr>
          <a:xfrm>
            <a:off x="4983480" y="5166360"/>
            <a:ext cx="5852160" cy="411480"/>
          </a:xfrm>
          <a:prstGeom prst="rect">
            <a:avLst/>
          </a:prstGeom>
          <a:noFill/>
          <a:ln/>
        </p:spPr>
        <p:txBody>
          <a:bodyPr wrap="square" lIns="0" tIns="0" rIns="0" bIns="0" rtlCol="0" anchor="ctr"/>
          <a:lstStyle/>
          <a:p>
            <a:pPr marL="0" indent="0" algn="ctr">
              <a:buNone/>
            </a:pPr>
            <a:r>
              <a:rPr lang="en-US" sz="1400" b="1" dirty="0">
                <a:solidFill>
                  <a:srgbClr val="D14343"/>
                </a:solidFill>
              </a:rPr>
              <a:t>Pause here and create your answer before moving to the next slide.</a:t>
            </a:r>
            <a:endParaRPr lang="en-US" sz="14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8: Guided steps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Build the answer one decision at a time.</a:t>
            </a:r>
            <a:endParaRPr lang="en-US" sz="1150" dirty="0"/>
          </a:p>
        </p:txBody>
      </p:sp>
      <p:sp>
        <p:nvSpPr>
          <p:cNvPr id="4" name="Shape 2"/>
          <p:cNvSpPr/>
          <p:nvPr/>
        </p:nvSpPr>
        <p:spPr>
          <a:xfrm>
            <a:off x="786384" y="1225296"/>
            <a:ext cx="10561320" cy="685800"/>
          </a:xfrm>
          <a:prstGeom prst="roundRect">
            <a:avLst>
              <a:gd name="adj" fmla="val 10667"/>
            </a:avLst>
          </a:prstGeom>
          <a:solidFill>
            <a:srgbClr val="FFFFFF"/>
          </a:solidFill>
          <a:ln w="12700">
            <a:solidFill>
              <a:srgbClr val="D9E1EA"/>
            </a:solidFill>
            <a:prstDash val="solid"/>
          </a:ln>
        </p:spPr>
      </p:sp>
      <p:sp>
        <p:nvSpPr>
          <p:cNvPr id="5" name="Shape 3"/>
          <p:cNvSpPr/>
          <p:nvPr/>
        </p:nvSpPr>
        <p:spPr>
          <a:xfrm>
            <a:off x="1005840" y="1344168"/>
            <a:ext cx="438912" cy="438912"/>
          </a:xfrm>
          <a:prstGeom prst="ellipse">
            <a:avLst/>
          </a:prstGeom>
          <a:solidFill>
            <a:srgbClr val="15B8A6"/>
          </a:solidFill>
          <a:ln w="12700">
            <a:solidFill>
              <a:srgbClr val="15B8A6"/>
            </a:solidFill>
            <a:prstDash val="solid"/>
          </a:ln>
        </p:spPr>
      </p:sp>
      <p:sp>
        <p:nvSpPr>
          <p:cNvPr id="6" name="Text 4"/>
          <p:cNvSpPr/>
          <p:nvPr/>
        </p:nvSpPr>
        <p:spPr>
          <a:xfrm>
            <a:off x="1005840" y="1463040"/>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7" name="Text 5"/>
          <p:cNvSpPr/>
          <p:nvPr/>
        </p:nvSpPr>
        <p:spPr>
          <a:xfrm>
            <a:off x="1737360" y="1399032"/>
            <a:ext cx="9098280" cy="274320"/>
          </a:xfrm>
          <a:prstGeom prst="rect">
            <a:avLst/>
          </a:prstGeom>
          <a:noFill/>
          <a:ln/>
        </p:spPr>
        <p:txBody>
          <a:bodyPr wrap="square" lIns="0" tIns="0" rIns="0" bIns="0" rtlCol="0" anchor="ctr"/>
          <a:lstStyle/>
          <a:p>
            <a:pPr marL="0" indent="0">
              <a:buNone/>
            </a:pPr>
            <a:r>
              <a:rPr lang="en-US" sz="1600" dirty="0">
                <a:solidFill>
                  <a:srgbClr val="172033"/>
                </a:solidFill>
              </a:rPr>
              <a:t>Name importing parameters.</a:t>
            </a:r>
            <a:endParaRPr lang="en-US" sz="1600" dirty="0"/>
          </a:p>
        </p:txBody>
      </p:sp>
      <p:sp>
        <p:nvSpPr>
          <p:cNvPr id="8" name="Shape 6"/>
          <p:cNvSpPr/>
          <p:nvPr/>
        </p:nvSpPr>
        <p:spPr>
          <a:xfrm>
            <a:off x="786384" y="2157984"/>
            <a:ext cx="10561320" cy="685800"/>
          </a:xfrm>
          <a:prstGeom prst="roundRect">
            <a:avLst>
              <a:gd name="adj" fmla="val 10667"/>
            </a:avLst>
          </a:prstGeom>
          <a:solidFill>
            <a:srgbClr val="F0FAF8"/>
          </a:solidFill>
          <a:ln w="12700">
            <a:solidFill>
              <a:srgbClr val="D9E1EA"/>
            </a:solidFill>
            <a:prstDash val="solid"/>
          </a:ln>
        </p:spPr>
      </p:sp>
      <p:sp>
        <p:nvSpPr>
          <p:cNvPr id="9" name="Shape 7"/>
          <p:cNvSpPr/>
          <p:nvPr/>
        </p:nvSpPr>
        <p:spPr>
          <a:xfrm>
            <a:off x="1005840" y="2276856"/>
            <a:ext cx="438912" cy="438912"/>
          </a:xfrm>
          <a:prstGeom prst="ellipse">
            <a:avLst/>
          </a:prstGeom>
          <a:solidFill>
            <a:srgbClr val="15B8A6"/>
          </a:solidFill>
          <a:ln w="12700">
            <a:solidFill>
              <a:srgbClr val="15B8A6"/>
            </a:solidFill>
            <a:prstDash val="solid"/>
          </a:ln>
        </p:spPr>
      </p:sp>
      <p:sp>
        <p:nvSpPr>
          <p:cNvPr id="10" name="Text 8"/>
          <p:cNvSpPr/>
          <p:nvPr/>
        </p:nvSpPr>
        <p:spPr>
          <a:xfrm>
            <a:off x="1005840" y="2395728"/>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1" name="Text 9"/>
          <p:cNvSpPr/>
          <p:nvPr/>
        </p:nvSpPr>
        <p:spPr>
          <a:xfrm>
            <a:off x="1737360" y="2331720"/>
            <a:ext cx="9098280" cy="274320"/>
          </a:xfrm>
          <a:prstGeom prst="rect">
            <a:avLst/>
          </a:prstGeom>
          <a:noFill/>
          <a:ln/>
        </p:spPr>
        <p:txBody>
          <a:bodyPr wrap="square" lIns="0" tIns="0" rIns="0" bIns="0" rtlCol="0" anchor="ctr"/>
          <a:lstStyle/>
          <a:p>
            <a:pPr marL="0" indent="0">
              <a:buNone/>
            </a:pPr>
            <a:r>
              <a:rPr lang="en-US" sz="1600" dirty="0">
                <a:solidFill>
                  <a:srgbClr val="172033"/>
                </a:solidFill>
              </a:rPr>
              <a:t>Define the typed output table.</a:t>
            </a:r>
            <a:endParaRPr lang="en-US" sz="1600" dirty="0"/>
          </a:p>
        </p:txBody>
      </p:sp>
      <p:sp>
        <p:nvSpPr>
          <p:cNvPr id="12" name="Shape 10"/>
          <p:cNvSpPr/>
          <p:nvPr/>
        </p:nvSpPr>
        <p:spPr>
          <a:xfrm>
            <a:off x="786384" y="3090672"/>
            <a:ext cx="10561320" cy="685800"/>
          </a:xfrm>
          <a:prstGeom prst="roundRect">
            <a:avLst>
              <a:gd name="adj" fmla="val 10667"/>
            </a:avLst>
          </a:prstGeom>
          <a:solidFill>
            <a:srgbClr val="FFFFFF"/>
          </a:solidFill>
          <a:ln w="12700">
            <a:solidFill>
              <a:srgbClr val="D9E1EA"/>
            </a:solidFill>
            <a:prstDash val="solid"/>
          </a:ln>
        </p:spPr>
      </p:sp>
      <p:sp>
        <p:nvSpPr>
          <p:cNvPr id="13" name="Shape 11"/>
          <p:cNvSpPr/>
          <p:nvPr/>
        </p:nvSpPr>
        <p:spPr>
          <a:xfrm>
            <a:off x="1005840" y="3209544"/>
            <a:ext cx="438912" cy="438912"/>
          </a:xfrm>
          <a:prstGeom prst="ellipse">
            <a:avLst/>
          </a:prstGeom>
          <a:solidFill>
            <a:srgbClr val="15B8A6"/>
          </a:solidFill>
          <a:ln w="12700">
            <a:solidFill>
              <a:srgbClr val="15B8A6"/>
            </a:solidFill>
            <a:prstDash val="solid"/>
          </a:ln>
        </p:spPr>
      </p:sp>
      <p:sp>
        <p:nvSpPr>
          <p:cNvPr id="14" name="Text 12"/>
          <p:cNvSpPr/>
          <p:nvPr/>
        </p:nvSpPr>
        <p:spPr>
          <a:xfrm>
            <a:off x="1005840" y="3328416"/>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5" name="Text 13"/>
          <p:cNvSpPr/>
          <p:nvPr/>
        </p:nvSpPr>
        <p:spPr>
          <a:xfrm>
            <a:off x="1737360" y="3264408"/>
            <a:ext cx="9098280" cy="274320"/>
          </a:xfrm>
          <a:prstGeom prst="rect">
            <a:avLst/>
          </a:prstGeom>
          <a:noFill/>
          <a:ln/>
        </p:spPr>
        <p:txBody>
          <a:bodyPr wrap="square" lIns="0" tIns="0" rIns="0" bIns="0" rtlCol="0" anchor="ctr"/>
          <a:lstStyle/>
          <a:p>
            <a:pPr marL="0" indent="0">
              <a:buNone/>
            </a:pPr>
            <a:r>
              <a:rPr lang="en-US" sz="1600" dirty="0">
                <a:solidFill>
                  <a:srgbClr val="172033"/>
                </a:solidFill>
              </a:rPr>
              <a:t>Validate dates and personnel number.</a:t>
            </a:r>
            <a:endParaRPr lang="en-US" sz="1600" dirty="0"/>
          </a:p>
        </p:txBody>
      </p:sp>
      <p:sp>
        <p:nvSpPr>
          <p:cNvPr id="16" name="Shape 14"/>
          <p:cNvSpPr/>
          <p:nvPr/>
        </p:nvSpPr>
        <p:spPr>
          <a:xfrm>
            <a:off x="786384" y="4023360"/>
            <a:ext cx="10561320" cy="685800"/>
          </a:xfrm>
          <a:prstGeom prst="roundRect">
            <a:avLst>
              <a:gd name="adj" fmla="val 10667"/>
            </a:avLst>
          </a:prstGeom>
          <a:solidFill>
            <a:srgbClr val="F0FAF8"/>
          </a:solidFill>
          <a:ln w="12700">
            <a:solidFill>
              <a:srgbClr val="D9E1EA"/>
            </a:solidFill>
            <a:prstDash val="solid"/>
          </a:ln>
        </p:spPr>
      </p:sp>
      <p:sp>
        <p:nvSpPr>
          <p:cNvPr id="17" name="Shape 15"/>
          <p:cNvSpPr/>
          <p:nvPr/>
        </p:nvSpPr>
        <p:spPr>
          <a:xfrm>
            <a:off x="1005840" y="4142232"/>
            <a:ext cx="438912" cy="438912"/>
          </a:xfrm>
          <a:prstGeom prst="ellipse">
            <a:avLst/>
          </a:prstGeom>
          <a:solidFill>
            <a:srgbClr val="15B8A6"/>
          </a:solidFill>
          <a:ln w="12700">
            <a:solidFill>
              <a:srgbClr val="15B8A6"/>
            </a:solidFill>
            <a:prstDash val="solid"/>
          </a:ln>
        </p:spPr>
      </p:sp>
      <p:sp>
        <p:nvSpPr>
          <p:cNvPr id="18" name="Text 16"/>
          <p:cNvSpPr/>
          <p:nvPr/>
        </p:nvSpPr>
        <p:spPr>
          <a:xfrm>
            <a:off x="1005840" y="4261104"/>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19" name="Text 17"/>
          <p:cNvSpPr/>
          <p:nvPr/>
        </p:nvSpPr>
        <p:spPr>
          <a:xfrm>
            <a:off x="1737360" y="4197096"/>
            <a:ext cx="9098280" cy="274320"/>
          </a:xfrm>
          <a:prstGeom prst="rect">
            <a:avLst/>
          </a:prstGeom>
          <a:noFill/>
          <a:ln/>
        </p:spPr>
        <p:txBody>
          <a:bodyPr wrap="square" lIns="0" tIns="0" rIns="0" bIns="0" rtlCol="0" anchor="ctr"/>
          <a:lstStyle/>
          <a:p>
            <a:pPr marL="0" indent="0">
              <a:buNone/>
            </a:pPr>
            <a:r>
              <a:rPr lang="en-US" sz="1600" dirty="0">
                <a:solidFill>
                  <a:srgbClr val="172033"/>
                </a:solidFill>
              </a:rPr>
              <a:t>Apply HR authorisation and data minimisation.</a:t>
            </a:r>
            <a:endParaRPr lang="en-US" sz="1600" dirty="0"/>
          </a:p>
        </p:txBody>
      </p:sp>
      <p:sp>
        <p:nvSpPr>
          <p:cNvPr id="20" name="Shape 18"/>
          <p:cNvSpPr/>
          <p:nvPr/>
        </p:nvSpPr>
        <p:spPr>
          <a:xfrm>
            <a:off x="786384" y="4956048"/>
            <a:ext cx="10561320" cy="685800"/>
          </a:xfrm>
          <a:prstGeom prst="roundRect">
            <a:avLst>
              <a:gd name="adj" fmla="val 10667"/>
            </a:avLst>
          </a:prstGeom>
          <a:solidFill>
            <a:srgbClr val="FFFFFF"/>
          </a:solidFill>
          <a:ln w="12700">
            <a:solidFill>
              <a:srgbClr val="D9E1EA"/>
            </a:solidFill>
            <a:prstDash val="solid"/>
          </a:ln>
        </p:spPr>
      </p:sp>
      <p:sp>
        <p:nvSpPr>
          <p:cNvPr id="21" name="Shape 19"/>
          <p:cNvSpPr/>
          <p:nvPr/>
        </p:nvSpPr>
        <p:spPr>
          <a:xfrm>
            <a:off x="1005840" y="5074920"/>
            <a:ext cx="438912" cy="438912"/>
          </a:xfrm>
          <a:prstGeom prst="ellipse">
            <a:avLst/>
          </a:prstGeom>
          <a:solidFill>
            <a:srgbClr val="F59E0B"/>
          </a:solidFill>
          <a:ln w="12700">
            <a:solidFill>
              <a:srgbClr val="F59E0B"/>
            </a:solidFill>
            <a:prstDash val="solid"/>
          </a:ln>
        </p:spPr>
      </p:sp>
      <p:sp>
        <p:nvSpPr>
          <p:cNvPr id="22" name="Text 20"/>
          <p:cNvSpPr/>
          <p:nvPr/>
        </p:nvSpPr>
        <p:spPr>
          <a:xfrm>
            <a:off x="1005840" y="5193792"/>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23" name="Text 21"/>
          <p:cNvSpPr/>
          <p:nvPr/>
        </p:nvSpPr>
        <p:spPr>
          <a:xfrm>
            <a:off x="1737360" y="5129784"/>
            <a:ext cx="9098280" cy="274320"/>
          </a:xfrm>
          <a:prstGeom prst="rect">
            <a:avLst/>
          </a:prstGeom>
          <a:noFill/>
          <a:ln/>
        </p:spPr>
        <p:txBody>
          <a:bodyPr wrap="square" lIns="0" tIns="0" rIns="0" bIns="0" rtlCol="0" anchor="ctr"/>
          <a:lstStyle/>
          <a:p>
            <a:pPr marL="0" indent="0">
              <a:buNone/>
            </a:pPr>
            <a:r>
              <a:rPr lang="en-US" sz="1600" dirty="0">
                <a:solidFill>
                  <a:srgbClr val="172033"/>
                </a:solidFill>
              </a:rPr>
              <a:t>Return structured errors and a test programme.</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8: Model answer</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Use this as a reference, then replace placeholders with verified system details.</a:t>
            </a:r>
            <a:endParaRPr lang="en-US" sz="1150" dirty="0"/>
          </a:p>
        </p:txBody>
      </p:sp>
      <p:sp>
        <p:nvSpPr>
          <p:cNvPr id="4" name="Shape 2"/>
          <p:cNvSpPr/>
          <p:nvPr/>
        </p:nvSpPr>
        <p:spPr>
          <a:xfrm>
            <a:off x="713232" y="1207008"/>
            <a:ext cx="10972800" cy="5010912"/>
          </a:xfrm>
          <a:prstGeom prst="roundRect">
            <a:avLst>
              <a:gd name="adj" fmla="val 1460"/>
            </a:avLst>
          </a:prstGeom>
          <a:solidFill>
            <a:srgbClr val="10263B"/>
          </a:solidFill>
          <a:ln w="12700">
            <a:solidFill>
              <a:srgbClr val="284B66"/>
            </a:solidFill>
            <a:prstDash val="solid"/>
          </a:ln>
        </p:spPr>
      </p:sp>
      <p:sp>
        <p:nvSpPr>
          <p:cNvPr id="5" name="Text 3"/>
          <p:cNvSpPr/>
          <p:nvPr/>
        </p:nvSpPr>
        <p:spPr>
          <a:xfrm>
            <a:off x="877824" y="1344168"/>
            <a:ext cx="10643616" cy="4736592"/>
          </a:xfrm>
          <a:prstGeom prst="rect">
            <a:avLst/>
          </a:prstGeom>
          <a:noFill/>
          <a:ln/>
        </p:spPr>
        <p:txBody>
          <a:bodyPr wrap="square" lIns="254" tIns="254" rIns="254" bIns="254" rtlCol="0" anchor="ctr">
            <a:normAutofit/>
          </a:bodyPr>
          <a:lstStyle/>
          <a:p>
            <a:pPr marL="0" indent="0">
              <a:buNone/>
            </a:pPr>
            <a:r>
              <a:rPr lang="en-US" sz="1250" dirty="0">
                <a:solidFill>
                  <a:srgbClr val="EDF6FC"/>
                </a:solidFill>
                <a:latin typeface="Consolas" pitchFamily="34" charset="0"/>
                <a:ea typeface="Consolas" pitchFamily="34" charset="-122"/>
                <a:cs typeface="Consolas" pitchFamily="34" charset="-120"/>
              </a:rPr>
              <a:t>Implement remote-enabled FM Z_HR_GET_ORG_DATA for [system/release]. IMPORTING: IV_PERNR, IV_BEGDA, IV_ENDDA. EXPORTING or TABLE output: typed rows containing only the approved organisational fields. Validate the personnel number and date range, apply the applicable HR authorisation, and return structured messages for invalid input, no data, authorisation failure and technical failure. Do not expose unnecessary personal data. Provide DDIC dependencies, source code, RFC metadata notes, sample call, expected response and a test programme.</a:t>
            </a:r>
            <a:endParaRPr lang="en-US" sz="125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9: Add transaction control to an update wrapper</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Level: Integration</a:t>
            </a:r>
            <a:endParaRPr lang="en-US" sz="1150" dirty="0"/>
          </a:p>
        </p:txBody>
      </p:sp>
      <p:sp>
        <p:nvSpPr>
          <p:cNvPr id="4" name="Shape 2"/>
          <p:cNvSpPr/>
          <p:nvPr/>
        </p:nvSpPr>
        <p:spPr>
          <a:xfrm>
            <a:off x="685800" y="1234440"/>
            <a:ext cx="3703320" cy="4800600"/>
          </a:xfrm>
          <a:prstGeom prst="roundRect">
            <a:avLst>
              <a:gd name="adj" fmla="val 1975"/>
            </a:avLst>
          </a:prstGeom>
          <a:solidFill>
            <a:srgbClr val="EEF5FB"/>
          </a:solidFill>
          <a:ln w="12700">
            <a:solidFill>
              <a:srgbClr val="D9E1EA"/>
            </a:solidFill>
            <a:prstDash val="solid"/>
          </a:ln>
        </p:spPr>
      </p:sp>
      <p:sp>
        <p:nvSpPr>
          <p:cNvPr id="5" name="Shape 3"/>
          <p:cNvSpPr/>
          <p:nvPr/>
        </p:nvSpPr>
        <p:spPr>
          <a:xfrm>
            <a:off x="932688" y="1508760"/>
            <a:ext cx="1143000" cy="310896"/>
          </a:xfrm>
          <a:prstGeom prst="roundRect">
            <a:avLst>
              <a:gd name="adj" fmla="val 23529"/>
            </a:avLst>
          </a:prstGeom>
          <a:solidFill>
            <a:srgbClr val="0B5CAD"/>
          </a:solidFill>
          <a:ln w="12700">
            <a:solidFill>
              <a:srgbClr val="0B5CAD"/>
            </a:solidFill>
            <a:prstDash val="solid"/>
          </a:ln>
        </p:spPr>
      </p:sp>
      <p:sp>
        <p:nvSpPr>
          <p:cNvPr id="6" name="Text 4"/>
          <p:cNvSpPr/>
          <p:nvPr/>
        </p:nvSpPr>
        <p:spPr>
          <a:xfrm>
            <a:off x="978408" y="1577340"/>
            <a:ext cx="1051560" cy="164592"/>
          </a:xfrm>
          <a:prstGeom prst="rect">
            <a:avLst/>
          </a:prstGeom>
          <a:noFill/>
          <a:ln/>
        </p:spPr>
        <p:txBody>
          <a:bodyPr wrap="square" lIns="0" tIns="0" rIns="0" bIns="0" rtlCol="0" anchor="ctr"/>
          <a:lstStyle/>
          <a:p>
            <a:pPr marL="0" indent="0" algn="ctr">
              <a:buNone/>
            </a:pPr>
            <a:r>
              <a:rPr lang="en-US" sz="900" b="1" dirty="0">
                <a:solidFill>
                  <a:srgbClr val="FFFFFF"/>
                </a:solidFill>
              </a:rPr>
              <a:t>SCENARIO</a:t>
            </a:r>
            <a:endParaRPr lang="en-US" sz="900" dirty="0"/>
          </a:p>
        </p:txBody>
      </p:sp>
      <p:sp>
        <p:nvSpPr>
          <p:cNvPr id="7" name="Text 5"/>
          <p:cNvSpPr/>
          <p:nvPr/>
        </p:nvSpPr>
        <p:spPr>
          <a:xfrm>
            <a:off x="960120" y="2148840"/>
            <a:ext cx="3154680" cy="2057400"/>
          </a:xfrm>
          <a:prstGeom prst="rect">
            <a:avLst/>
          </a:prstGeom>
          <a:noFill/>
          <a:ln/>
        </p:spPr>
        <p:txBody>
          <a:bodyPr wrap="square" lIns="0" tIns="0" rIns="0" bIns="0" rtlCol="0" anchor="ctr"/>
          <a:lstStyle/>
          <a:p>
            <a:pPr marL="0" indent="0" algn="ctr">
              <a:buNone/>
            </a:pPr>
            <a:r>
              <a:rPr lang="en-US" sz="1700" b="1" dirty="0">
                <a:solidFill>
                  <a:srgbClr val="172033"/>
                </a:solidFill>
              </a:rPr>
              <a:t>A proposed RFC updates HR data but does not define COMMIT or rollback ownership.</a:t>
            </a:r>
            <a:endParaRPr lang="en-US" sz="1700" dirty="0"/>
          </a:p>
        </p:txBody>
      </p:sp>
      <p:sp>
        <p:nvSpPr>
          <p:cNvPr id="8" name="Shape 6"/>
          <p:cNvSpPr/>
          <p:nvPr/>
        </p:nvSpPr>
        <p:spPr>
          <a:xfrm>
            <a:off x="4590288" y="1234440"/>
            <a:ext cx="6903720" cy="4800600"/>
          </a:xfrm>
          <a:prstGeom prst="roundRect">
            <a:avLst>
              <a:gd name="adj" fmla="val 1524"/>
            </a:avLst>
          </a:prstGeom>
          <a:solidFill>
            <a:srgbClr val="FFF9ED"/>
          </a:solidFill>
          <a:ln w="12700">
            <a:solidFill>
              <a:srgbClr val="F2D89C"/>
            </a:solidFill>
            <a:prstDash val="solid"/>
          </a:ln>
        </p:spPr>
      </p:sp>
      <p:sp>
        <p:nvSpPr>
          <p:cNvPr id="9" name="Shape 7"/>
          <p:cNvSpPr/>
          <p:nvPr/>
        </p:nvSpPr>
        <p:spPr>
          <a:xfrm>
            <a:off x="4873752" y="1508760"/>
            <a:ext cx="1188720" cy="310896"/>
          </a:xfrm>
          <a:prstGeom prst="roundRect">
            <a:avLst>
              <a:gd name="adj" fmla="val 23529"/>
            </a:avLst>
          </a:prstGeom>
          <a:solidFill>
            <a:srgbClr val="F59E0B"/>
          </a:solidFill>
          <a:ln w="12700">
            <a:solidFill>
              <a:srgbClr val="F59E0B"/>
            </a:solidFill>
            <a:prstDash val="solid"/>
          </a:ln>
        </p:spPr>
      </p:sp>
      <p:sp>
        <p:nvSpPr>
          <p:cNvPr id="10" name="Text 8"/>
          <p:cNvSpPr/>
          <p:nvPr/>
        </p:nvSpPr>
        <p:spPr>
          <a:xfrm>
            <a:off x="4919472" y="1577340"/>
            <a:ext cx="1097280" cy="164592"/>
          </a:xfrm>
          <a:prstGeom prst="rect">
            <a:avLst/>
          </a:prstGeom>
          <a:noFill/>
          <a:ln/>
        </p:spPr>
        <p:txBody>
          <a:bodyPr wrap="square" lIns="0" tIns="0" rIns="0" bIns="0" rtlCol="0" anchor="ctr"/>
          <a:lstStyle/>
          <a:p>
            <a:pPr marL="0" indent="0" algn="ctr">
              <a:buNone/>
            </a:pPr>
            <a:r>
              <a:rPr lang="en-US" sz="900" b="1" dirty="0">
                <a:solidFill>
                  <a:srgbClr val="FFFFFF"/>
                </a:solidFill>
              </a:rPr>
              <a:t>YOUR TASK</a:t>
            </a:r>
            <a:endParaRPr lang="en-US" sz="900" dirty="0"/>
          </a:p>
        </p:txBody>
      </p:sp>
      <p:sp>
        <p:nvSpPr>
          <p:cNvPr id="11" name="Shape 9"/>
          <p:cNvSpPr/>
          <p:nvPr/>
        </p:nvSpPr>
        <p:spPr>
          <a:xfrm>
            <a:off x="4937760" y="2313432"/>
            <a:ext cx="192024" cy="192024"/>
          </a:xfrm>
          <a:prstGeom prst="ellipse">
            <a:avLst/>
          </a:prstGeom>
          <a:solidFill>
            <a:srgbClr val="15B8A6"/>
          </a:solidFill>
          <a:ln w="12700">
            <a:solidFill>
              <a:srgbClr val="15B8A6"/>
            </a:solidFill>
            <a:prstDash val="solid"/>
          </a:ln>
        </p:spPr>
      </p:sp>
      <p:sp>
        <p:nvSpPr>
          <p:cNvPr id="12" name="Text 10"/>
          <p:cNvSpPr/>
          <p:nvPr/>
        </p:nvSpPr>
        <p:spPr>
          <a:xfrm>
            <a:off x="5266944" y="224028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Define the LUW owner.</a:t>
            </a:r>
            <a:endParaRPr lang="en-US" sz="1600" dirty="0"/>
          </a:p>
        </p:txBody>
      </p:sp>
      <p:sp>
        <p:nvSpPr>
          <p:cNvPr id="13" name="Shape 11"/>
          <p:cNvSpPr/>
          <p:nvPr/>
        </p:nvSpPr>
        <p:spPr>
          <a:xfrm>
            <a:off x="4937760" y="3136392"/>
            <a:ext cx="192024" cy="192024"/>
          </a:xfrm>
          <a:prstGeom prst="ellipse">
            <a:avLst/>
          </a:prstGeom>
          <a:solidFill>
            <a:srgbClr val="15B8A6"/>
          </a:solidFill>
          <a:ln w="12700">
            <a:solidFill>
              <a:srgbClr val="15B8A6"/>
            </a:solidFill>
            <a:prstDash val="solid"/>
          </a:ln>
        </p:spPr>
      </p:sp>
      <p:sp>
        <p:nvSpPr>
          <p:cNvPr id="14" name="Text 12"/>
          <p:cNvSpPr/>
          <p:nvPr/>
        </p:nvSpPr>
        <p:spPr>
          <a:xfrm>
            <a:off x="5266944" y="306324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Define partial-success behaviour.</a:t>
            </a:r>
            <a:endParaRPr lang="en-US" sz="1600" dirty="0"/>
          </a:p>
        </p:txBody>
      </p:sp>
      <p:sp>
        <p:nvSpPr>
          <p:cNvPr id="15" name="Shape 13"/>
          <p:cNvSpPr/>
          <p:nvPr/>
        </p:nvSpPr>
        <p:spPr>
          <a:xfrm>
            <a:off x="4937760" y="3959352"/>
            <a:ext cx="192024" cy="192024"/>
          </a:xfrm>
          <a:prstGeom prst="ellipse">
            <a:avLst/>
          </a:prstGeom>
          <a:solidFill>
            <a:srgbClr val="15B8A6"/>
          </a:solidFill>
          <a:ln w="12700">
            <a:solidFill>
              <a:srgbClr val="15B8A6"/>
            </a:solidFill>
            <a:prstDash val="solid"/>
          </a:ln>
        </p:spPr>
      </p:sp>
      <p:sp>
        <p:nvSpPr>
          <p:cNvPr id="16" name="Text 14"/>
          <p:cNvSpPr/>
          <p:nvPr/>
        </p:nvSpPr>
        <p:spPr>
          <a:xfrm>
            <a:off x="5266944" y="388620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Define returned messages.</a:t>
            </a:r>
            <a:endParaRPr lang="en-US" sz="1600" dirty="0"/>
          </a:p>
        </p:txBody>
      </p:sp>
      <p:sp>
        <p:nvSpPr>
          <p:cNvPr id="17" name="Text 15"/>
          <p:cNvSpPr/>
          <p:nvPr/>
        </p:nvSpPr>
        <p:spPr>
          <a:xfrm>
            <a:off x="4983480" y="5166360"/>
            <a:ext cx="5852160" cy="411480"/>
          </a:xfrm>
          <a:prstGeom prst="rect">
            <a:avLst/>
          </a:prstGeom>
          <a:noFill/>
          <a:ln/>
        </p:spPr>
        <p:txBody>
          <a:bodyPr wrap="square" lIns="0" tIns="0" rIns="0" bIns="0" rtlCol="0" anchor="ctr"/>
          <a:lstStyle/>
          <a:p>
            <a:pPr marL="0" indent="0" algn="ctr">
              <a:buNone/>
            </a:pPr>
            <a:r>
              <a:rPr lang="en-US" sz="1400" b="1" dirty="0">
                <a:solidFill>
                  <a:srgbClr val="D14343"/>
                </a:solidFill>
              </a:rPr>
              <a:t>Pause here and create your answer before moving to the next slide.</a:t>
            </a:r>
            <a:endParaRPr lang="en-US" sz="14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9: Guided steps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Build the answer one decision at a time.</a:t>
            </a:r>
            <a:endParaRPr lang="en-US" sz="1150" dirty="0"/>
          </a:p>
        </p:txBody>
      </p:sp>
      <p:sp>
        <p:nvSpPr>
          <p:cNvPr id="4" name="Shape 2"/>
          <p:cNvSpPr/>
          <p:nvPr/>
        </p:nvSpPr>
        <p:spPr>
          <a:xfrm>
            <a:off x="786384" y="1225296"/>
            <a:ext cx="10561320" cy="685800"/>
          </a:xfrm>
          <a:prstGeom prst="roundRect">
            <a:avLst>
              <a:gd name="adj" fmla="val 10667"/>
            </a:avLst>
          </a:prstGeom>
          <a:solidFill>
            <a:srgbClr val="FFFFFF"/>
          </a:solidFill>
          <a:ln w="12700">
            <a:solidFill>
              <a:srgbClr val="D9E1EA"/>
            </a:solidFill>
            <a:prstDash val="solid"/>
          </a:ln>
        </p:spPr>
      </p:sp>
      <p:sp>
        <p:nvSpPr>
          <p:cNvPr id="5" name="Shape 3"/>
          <p:cNvSpPr/>
          <p:nvPr/>
        </p:nvSpPr>
        <p:spPr>
          <a:xfrm>
            <a:off x="1005840" y="1344168"/>
            <a:ext cx="438912" cy="438912"/>
          </a:xfrm>
          <a:prstGeom prst="ellipse">
            <a:avLst/>
          </a:prstGeom>
          <a:solidFill>
            <a:srgbClr val="15B8A6"/>
          </a:solidFill>
          <a:ln w="12700">
            <a:solidFill>
              <a:srgbClr val="15B8A6"/>
            </a:solidFill>
            <a:prstDash val="solid"/>
          </a:ln>
        </p:spPr>
      </p:sp>
      <p:sp>
        <p:nvSpPr>
          <p:cNvPr id="6" name="Text 4"/>
          <p:cNvSpPr/>
          <p:nvPr/>
        </p:nvSpPr>
        <p:spPr>
          <a:xfrm>
            <a:off x="1005840" y="1463040"/>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7" name="Text 5"/>
          <p:cNvSpPr/>
          <p:nvPr/>
        </p:nvSpPr>
        <p:spPr>
          <a:xfrm>
            <a:off x="1737360" y="1399032"/>
            <a:ext cx="9098280" cy="274320"/>
          </a:xfrm>
          <a:prstGeom prst="rect">
            <a:avLst/>
          </a:prstGeom>
          <a:noFill/>
          <a:ln/>
        </p:spPr>
        <p:txBody>
          <a:bodyPr wrap="square" lIns="0" tIns="0" rIns="0" bIns="0" rtlCol="0" anchor="ctr"/>
          <a:lstStyle/>
          <a:p>
            <a:pPr marL="0" indent="0">
              <a:buNone/>
            </a:pPr>
            <a:r>
              <a:rPr lang="en-US" sz="1600" dirty="0">
                <a:solidFill>
                  <a:srgbClr val="172033"/>
                </a:solidFill>
              </a:rPr>
              <a:t>Choose caller-owned or wrapper-owned LUW.</a:t>
            </a:r>
            <a:endParaRPr lang="en-US" sz="1600" dirty="0"/>
          </a:p>
        </p:txBody>
      </p:sp>
      <p:sp>
        <p:nvSpPr>
          <p:cNvPr id="8" name="Shape 6"/>
          <p:cNvSpPr/>
          <p:nvPr/>
        </p:nvSpPr>
        <p:spPr>
          <a:xfrm>
            <a:off x="786384" y="2157984"/>
            <a:ext cx="10561320" cy="685800"/>
          </a:xfrm>
          <a:prstGeom prst="roundRect">
            <a:avLst>
              <a:gd name="adj" fmla="val 10667"/>
            </a:avLst>
          </a:prstGeom>
          <a:solidFill>
            <a:srgbClr val="F0FAF8"/>
          </a:solidFill>
          <a:ln w="12700">
            <a:solidFill>
              <a:srgbClr val="D9E1EA"/>
            </a:solidFill>
            <a:prstDash val="solid"/>
          </a:ln>
        </p:spPr>
      </p:sp>
      <p:sp>
        <p:nvSpPr>
          <p:cNvPr id="9" name="Shape 7"/>
          <p:cNvSpPr/>
          <p:nvPr/>
        </p:nvSpPr>
        <p:spPr>
          <a:xfrm>
            <a:off x="1005840" y="2276856"/>
            <a:ext cx="438912" cy="438912"/>
          </a:xfrm>
          <a:prstGeom prst="ellipse">
            <a:avLst/>
          </a:prstGeom>
          <a:solidFill>
            <a:srgbClr val="15B8A6"/>
          </a:solidFill>
          <a:ln w="12700">
            <a:solidFill>
              <a:srgbClr val="15B8A6"/>
            </a:solidFill>
            <a:prstDash val="solid"/>
          </a:ln>
        </p:spPr>
      </p:sp>
      <p:sp>
        <p:nvSpPr>
          <p:cNvPr id="10" name="Text 8"/>
          <p:cNvSpPr/>
          <p:nvPr/>
        </p:nvSpPr>
        <p:spPr>
          <a:xfrm>
            <a:off x="1005840" y="2395728"/>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1" name="Text 9"/>
          <p:cNvSpPr/>
          <p:nvPr/>
        </p:nvSpPr>
        <p:spPr>
          <a:xfrm>
            <a:off x="1737360" y="2331720"/>
            <a:ext cx="9098280" cy="274320"/>
          </a:xfrm>
          <a:prstGeom prst="rect">
            <a:avLst/>
          </a:prstGeom>
          <a:noFill/>
          <a:ln/>
        </p:spPr>
        <p:txBody>
          <a:bodyPr wrap="square" lIns="0" tIns="0" rIns="0" bIns="0" rtlCol="0" anchor="ctr"/>
          <a:lstStyle/>
          <a:p>
            <a:pPr marL="0" indent="0">
              <a:buNone/>
            </a:pPr>
            <a:r>
              <a:rPr lang="en-US" sz="1600" dirty="0">
                <a:solidFill>
                  <a:srgbClr val="172033"/>
                </a:solidFill>
              </a:rPr>
              <a:t>State when validation occurs.</a:t>
            </a:r>
            <a:endParaRPr lang="en-US" sz="1600" dirty="0"/>
          </a:p>
        </p:txBody>
      </p:sp>
      <p:sp>
        <p:nvSpPr>
          <p:cNvPr id="12" name="Shape 10"/>
          <p:cNvSpPr/>
          <p:nvPr/>
        </p:nvSpPr>
        <p:spPr>
          <a:xfrm>
            <a:off x="786384" y="3090672"/>
            <a:ext cx="10561320" cy="685800"/>
          </a:xfrm>
          <a:prstGeom prst="roundRect">
            <a:avLst>
              <a:gd name="adj" fmla="val 10667"/>
            </a:avLst>
          </a:prstGeom>
          <a:solidFill>
            <a:srgbClr val="FFFFFF"/>
          </a:solidFill>
          <a:ln w="12700">
            <a:solidFill>
              <a:srgbClr val="D9E1EA"/>
            </a:solidFill>
            <a:prstDash val="solid"/>
          </a:ln>
        </p:spPr>
      </p:sp>
      <p:sp>
        <p:nvSpPr>
          <p:cNvPr id="13" name="Shape 11"/>
          <p:cNvSpPr/>
          <p:nvPr/>
        </p:nvSpPr>
        <p:spPr>
          <a:xfrm>
            <a:off x="1005840" y="3209544"/>
            <a:ext cx="438912" cy="438912"/>
          </a:xfrm>
          <a:prstGeom prst="ellipse">
            <a:avLst/>
          </a:prstGeom>
          <a:solidFill>
            <a:srgbClr val="15B8A6"/>
          </a:solidFill>
          <a:ln w="12700">
            <a:solidFill>
              <a:srgbClr val="15B8A6"/>
            </a:solidFill>
            <a:prstDash val="solid"/>
          </a:ln>
        </p:spPr>
      </p:sp>
      <p:sp>
        <p:nvSpPr>
          <p:cNvPr id="14" name="Text 12"/>
          <p:cNvSpPr/>
          <p:nvPr/>
        </p:nvSpPr>
        <p:spPr>
          <a:xfrm>
            <a:off x="1005840" y="3328416"/>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5" name="Text 13"/>
          <p:cNvSpPr/>
          <p:nvPr/>
        </p:nvSpPr>
        <p:spPr>
          <a:xfrm>
            <a:off x="1737360" y="3264408"/>
            <a:ext cx="9098280" cy="274320"/>
          </a:xfrm>
          <a:prstGeom prst="rect">
            <a:avLst/>
          </a:prstGeom>
          <a:noFill/>
          <a:ln/>
        </p:spPr>
        <p:txBody>
          <a:bodyPr wrap="square" lIns="0" tIns="0" rIns="0" bIns="0" rtlCol="0" anchor="ctr"/>
          <a:lstStyle/>
          <a:p>
            <a:pPr marL="0" indent="0">
              <a:buNone/>
            </a:pPr>
            <a:r>
              <a:rPr lang="en-US" sz="1600" dirty="0">
                <a:solidFill>
                  <a:srgbClr val="172033"/>
                </a:solidFill>
              </a:rPr>
              <a:t>Define update order.</a:t>
            </a:r>
            <a:endParaRPr lang="en-US" sz="1600" dirty="0"/>
          </a:p>
        </p:txBody>
      </p:sp>
      <p:sp>
        <p:nvSpPr>
          <p:cNvPr id="16" name="Shape 14"/>
          <p:cNvSpPr/>
          <p:nvPr/>
        </p:nvSpPr>
        <p:spPr>
          <a:xfrm>
            <a:off x="786384" y="4023360"/>
            <a:ext cx="10561320" cy="685800"/>
          </a:xfrm>
          <a:prstGeom prst="roundRect">
            <a:avLst>
              <a:gd name="adj" fmla="val 10667"/>
            </a:avLst>
          </a:prstGeom>
          <a:solidFill>
            <a:srgbClr val="F0FAF8"/>
          </a:solidFill>
          <a:ln w="12700">
            <a:solidFill>
              <a:srgbClr val="D9E1EA"/>
            </a:solidFill>
            <a:prstDash val="solid"/>
          </a:ln>
        </p:spPr>
      </p:sp>
      <p:sp>
        <p:nvSpPr>
          <p:cNvPr id="17" name="Shape 15"/>
          <p:cNvSpPr/>
          <p:nvPr/>
        </p:nvSpPr>
        <p:spPr>
          <a:xfrm>
            <a:off x="1005840" y="4142232"/>
            <a:ext cx="438912" cy="438912"/>
          </a:xfrm>
          <a:prstGeom prst="ellipse">
            <a:avLst/>
          </a:prstGeom>
          <a:solidFill>
            <a:srgbClr val="15B8A6"/>
          </a:solidFill>
          <a:ln w="12700">
            <a:solidFill>
              <a:srgbClr val="15B8A6"/>
            </a:solidFill>
            <a:prstDash val="solid"/>
          </a:ln>
        </p:spPr>
      </p:sp>
      <p:sp>
        <p:nvSpPr>
          <p:cNvPr id="18" name="Text 16"/>
          <p:cNvSpPr/>
          <p:nvPr/>
        </p:nvSpPr>
        <p:spPr>
          <a:xfrm>
            <a:off x="1005840" y="4261104"/>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19" name="Text 17"/>
          <p:cNvSpPr/>
          <p:nvPr/>
        </p:nvSpPr>
        <p:spPr>
          <a:xfrm>
            <a:off x="1737360" y="4197096"/>
            <a:ext cx="9098280" cy="274320"/>
          </a:xfrm>
          <a:prstGeom prst="rect">
            <a:avLst/>
          </a:prstGeom>
          <a:noFill/>
          <a:ln/>
        </p:spPr>
        <p:txBody>
          <a:bodyPr wrap="square" lIns="0" tIns="0" rIns="0" bIns="0" rtlCol="0" anchor="ctr"/>
          <a:lstStyle/>
          <a:p>
            <a:pPr marL="0" indent="0">
              <a:buNone/>
            </a:pPr>
            <a:r>
              <a:rPr lang="en-US" sz="1600" dirty="0">
                <a:solidFill>
                  <a:srgbClr val="172033"/>
                </a:solidFill>
              </a:rPr>
              <a:t>Define rollback on failure.</a:t>
            </a:r>
            <a:endParaRPr lang="en-US" sz="1600" dirty="0"/>
          </a:p>
        </p:txBody>
      </p:sp>
      <p:sp>
        <p:nvSpPr>
          <p:cNvPr id="20" name="Shape 18"/>
          <p:cNvSpPr/>
          <p:nvPr/>
        </p:nvSpPr>
        <p:spPr>
          <a:xfrm>
            <a:off x="786384" y="4956048"/>
            <a:ext cx="10561320" cy="685800"/>
          </a:xfrm>
          <a:prstGeom prst="roundRect">
            <a:avLst>
              <a:gd name="adj" fmla="val 10667"/>
            </a:avLst>
          </a:prstGeom>
          <a:solidFill>
            <a:srgbClr val="FFFFFF"/>
          </a:solidFill>
          <a:ln w="12700">
            <a:solidFill>
              <a:srgbClr val="D9E1EA"/>
            </a:solidFill>
            <a:prstDash val="solid"/>
          </a:ln>
        </p:spPr>
      </p:sp>
      <p:sp>
        <p:nvSpPr>
          <p:cNvPr id="21" name="Shape 19"/>
          <p:cNvSpPr/>
          <p:nvPr/>
        </p:nvSpPr>
        <p:spPr>
          <a:xfrm>
            <a:off x="1005840" y="5074920"/>
            <a:ext cx="438912" cy="438912"/>
          </a:xfrm>
          <a:prstGeom prst="ellipse">
            <a:avLst/>
          </a:prstGeom>
          <a:solidFill>
            <a:srgbClr val="F59E0B"/>
          </a:solidFill>
          <a:ln w="12700">
            <a:solidFill>
              <a:srgbClr val="F59E0B"/>
            </a:solidFill>
            <a:prstDash val="solid"/>
          </a:ln>
        </p:spPr>
      </p:sp>
      <p:sp>
        <p:nvSpPr>
          <p:cNvPr id="22" name="Text 20"/>
          <p:cNvSpPr/>
          <p:nvPr/>
        </p:nvSpPr>
        <p:spPr>
          <a:xfrm>
            <a:off x="1005840" y="5193792"/>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23" name="Text 21"/>
          <p:cNvSpPr/>
          <p:nvPr/>
        </p:nvSpPr>
        <p:spPr>
          <a:xfrm>
            <a:off x="1737360" y="5129784"/>
            <a:ext cx="9098280" cy="274320"/>
          </a:xfrm>
          <a:prstGeom prst="rect">
            <a:avLst/>
          </a:prstGeom>
          <a:noFill/>
          <a:ln/>
        </p:spPr>
        <p:txBody>
          <a:bodyPr wrap="square" lIns="0" tIns="0" rIns="0" bIns="0" rtlCol="0" anchor="ctr"/>
          <a:lstStyle/>
          <a:p>
            <a:pPr marL="0" indent="0">
              <a:buNone/>
            </a:pPr>
            <a:r>
              <a:rPr lang="en-US" sz="1600" dirty="0">
                <a:solidFill>
                  <a:srgbClr val="172033"/>
                </a:solidFill>
              </a:rPr>
              <a:t>Return one result per input item.</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9: Model answer</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Use this as a reference, then replace placeholders with verified system details.</a:t>
            </a:r>
            <a:endParaRPr lang="en-US" sz="1150" dirty="0"/>
          </a:p>
        </p:txBody>
      </p:sp>
      <p:sp>
        <p:nvSpPr>
          <p:cNvPr id="4" name="Shape 2"/>
          <p:cNvSpPr/>
          <p:nvPr/>
        </p:nvSpPr>
        <p:spPr>
          <a:xfrm>
            <a:off x="713232" y="1207008"/>
            <a:ext cx="10972800" cy="5010912"/>
          </a:xfrm>
          <a:prstGeom prst="roundRect">
            <a:avLst>
              <a:gd name="adj" fmla="val 1460"/>
            </a:avLst>
          </a:prstGeom>
          <a:solidFill>
            <a:srgbClr val="10263B"/>
          </a:solidFill>
          <a:ln w="12700">
            <a:solidFill>
              <a:srgbClr val="284B66"/>
            </a:solidFill>
            <a:prstDash val="solid"/>
          </a:ln>
        </p:spPr>
      </p:sp>
      <p:sp>
        <p:nvSpPr>
          <p:cNvPr id="5" name="Text 3"/>
          <p:cNvSpPr/>
          <p:nvPr/>
        </p:nvSpPr>
        <p:spPr>
          <a:xfrm>
            <a:off x="877824" y="1344168"/>
            <a:ext cx="10643616" cy="4736592"/>
          </a:xfrm>
          <a:prstGeom prst="rect">
            <a:avLst/>
          </a:prstGeom>
          <a:noFill/>
          <a:ln/>
        </p:spPr>
        <p:txBody>
          <a:bodyPr wrap="square" lIns="254" tIns="254" rIns="254" bIns="254" rtlCol="0" anchor="ctr">
            <a:normAutofit/>
          </a:bodyPr>
          <a:lstStyle/>
          <a:p>
            <a:pPr marL="0" indent="0">
              <a:buNone/>
            </a:pPr>
            <a:r>
              <a:rPr lang="en-US" sz="1250" dirty="0">
                <a:solidFill>
                  <a:srgbClr val="EDF6FC"/>
                </a:solidFill>
                <a:latin typeface="Consolas" pitchFamily="34" charset="0"/>
                <a:ea typeface="Consolas" pitchFamily="34" charset="-122"/>
                <a:cs typeface="Consolas" pitchFamily="34" charset="-120"/>
              </a:rPr>
              <a:t>State explicitly that [caller/wrapper] owns the LUW. Validate the full request before updates where possible. If partial success is not allowed, roll back all changes when any item fails and return a result for every item. Execute COMMIT WORK only after all approved updates succeed and only when the wrapper owns the LUW. If the caller owns the LUW, do not commit internally. Return code, type, message, field, item identifier and correlation ID. Include success, validation failure, update failure and rollback tests.</a:t>
            </a:r>
            <a:endParaRPr lang="en-US" sz="125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10: Design JSON mapping instructions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Level: Integration</a:t>
            </a:r>
            <a:endParaRPr lang="en-US" sz="1150" dirty="0"/>
          </a:p>
        </p:txBody>
      </p:sp>
      <p:sp>
        <p:nvSpPr>
          <p:cNvPr id="4" name="Shape 2"/>
          <p:cNvSpPr/>
          <p:nvPr/>
        </p:nvSpPr>
        <p:spPr>
          <a:xfrm>
            <a:off x="685800" y="1234440"/>
            <a:ext cx="3703320" cy="4800600"/>
          </a:xfrm>
          <a:prstGeom prst="roundRect">
            <a:avLst>
              <a:gd name="adj" fmla="val 1975"/>
            </a:avLst>
          </a:prstGeom>
          <a:solidFill>
            <a:srgbClr val="EEF5FB"/>
          </a:solidFill>
          <a:ln w="12700">
            <a:solidFill>
              <a:srgbClr val="D9E1EA"/>
            </a:solidFill>
            <a:prstDash val="solid"/>
          </a:ln>
        </p:spPr>
      </p:sp>
      <p:sp>
        <p:nvSpPr>
          <p:cNvPr id="5" name="Shape 3"/>
          <p:cNvSpPr/>
          <p:nvPr/>
        </p:nvSpPr>
        <p:spPr>
          <a:xfrm>
            <a:off x="932688" y="1508760"/>
            <a:ext cx="1143000" cy="310896"/>
          </a:xfrm>
          <a:prstGeom prst="roundRect">
            <a:avLst>
              <a:gd name="adj" fmla="val 23529"/>
            </a:avLst>
          </a:prstGeom>
          <a:solidFill>
            <a:srgbClr val="0B5CAD"/>
          </a:solidFill>
          <a:ln w="12700">
            <a:solidFill>
              <a:srgbClr val="0B5CAD"/>
            </a:solidFill>
            <a:prstDash val="solid"/>
          </a:ln>
        </p:spPr>
      </p:sp>
      <p:sp>
        <p:nvSpPr>
          <p:cNvPr id="6" name="Text 4"/>
          <p:cNvSpPr/>
          <p:nvPr/>
        </p:nvSpPr>
        <p:spPr>
          <a:xfrm>
            <a:off x="978408" y="1577340"/>
            <a:ext cx="1051560" cy="164592"/>
          </a:xfrm>
          <a:prstGeom prst="rect">
            <a:avLst/>
          </a:prstGeom>
          <a:noFill/>
          <a:ln/>
        </p:spPr>
        <p:txBody>
          <a:bodyPr wrap="square" lIns="0" tIns="0" rIns="0" bIns="0" rtlCol="0" anchor="ctr"/>
          <a:lstStyle/>
          <a:p>
            <a:pPr marL="0" indent="0" algn="ctr">
              <a:buNone/>
            </a:pPr>
            <a:r>
              <a:rPr lang="en-US" sz="900" b="1" dirty="0">
                <a:solidFill>
                  <a:srgbClr val="FFFFFF"/>
                </a:solidFill>
              </a:rPr>
              <a:t>SCENARIO</a:t>
            </a:r>
            <a:endParaRPr lang="en-US" sz="900" dirty="0"/>
          </a:p>
        </p:txBody>
      </p:sp>
      <p:sp>
        <p:nvSpPr>
          <p:cNvPr id="7" name="Text 5"/>
          <p:cNvSpPr/>
          <p:nvPr/>
        </p:nvSpPr>
        <p:spPr>
          <a:xfrm>
            <a:off x="960120" y="2148840"/>
            <a:ext cx="3154680" cy="2057400"/>
          </a:xfrm>
          <a:prstGeom prst="rect">
            <a:avLst/>
          </a:prstGeom>
          <a:noFill/>
          <a:ln/>
        </p:spPr>
        <p:txBody>
          <a:bodyPr wrap="square" lIns="0" tIns="0" rIns="0" bIns="0" rtlCol="0" anchor="ctr"/>
          <a:lstStyle/>
          <a:p>
            <a:pPr marL="0" indent="0" algn="ctr">
              <a:buNone/>
            </a:pPr>
            <a:r>
              <a:rPr lang="en-US" sz="1700" b="1" dirty="0">
                <a:solidFill>
                  <a:srgbClr val="172033"/>
                </a:solidFill>
              </a:rPr>
              <a:t>A JSON payload contains external employee codes that must map to SAP values.</a:t>
            </a:r>
            <a:endParaRPr lang="en-US" sz="1700" dirty="0"/>
          </a:p>
        </p:txBody>
      </p:sp>
      <p:sp>
        <p:nvSpPr>
          <p:cNvPr id="8" name="Shape 6"/>
          <p:cNvSpPr/>
          <p:nvPr/>
        </p:nvSpPr>
        <p:spPr>
          <a:xfrm>
            <a:off x="4590288" y="1234440"/>
            <a:ext cx="6903720" cy="4800600"/>
          </a:xfrm>
          <a:prstGeom prst="roundRect">
            <a:avLst>
              <a:gd name="adj" fmla="val 1524"/>
            </a:avLst>
          </a:prstGeom>
          <a:solidFill>
            <a:srgbClr val="FFF9ED"/>
          </a:solidFill>
          <a:ln w="12700">
            <a:solidFill>
              <a:srgbClr val="F2D89C"/>
            </a:solidFill>
            <a:prstDash val="solid"/>
          </a:ln>
        </p:spPr>
      </p:sp>
      <p:sp>
        <p:nvSpPr>
          <p:cNvPr id="9" name="Shape 7"/>
          <p:cNvSpPr/>
          <p:nvPr/>
        </p:nvSpPr>
        <p:spPr>
          <a:xfrm>
            <a:off x="4873752" y="1508760"/>
            <a:ext cx="1188720" cy="310896"/>
          </a:xfrm>
          <a:prstGeom prst="roundRect">
            <a:avLst>
              <a:gd name="adj" fmla="val 23529"/>
            </a:avLst>
          </a:prstGeom>
          <a:solidFill>
            <a:srgbClr val="F59E0B"/>
          </a:solidFill>
          <a:ln w="12700">
            <a:solidFill>
              <a:srgbClr val="F59E0B"/>
            </a:solidFill>
            <a:prstDash val="solid"/>
          </a:ln>
        </p:spPr>
      </p:sp>
      <p:sp>
        <p:nvSpPr>
          <p:cNvPr id="10" name="Text 8"/>
          <p:cNvSpPr/>
          <p:nvPr/>
        </p:nvSpPr>
        <p:spPr>
          <a:xfrm>
            <a:off x="4919472" y="1577340"/>
            <a:ext cx="1097280" cy="164592"/>
          </a:xfrm>
          <a:prstGeom prst="rect">
            <a:avLst/>
          </a:prstGeom>
          <a:noFill/>
          <a:ln/>
        </p:spPr>
        <p:txBody>
          <a:bodyPr wrap="square" lIns="0" tIns="0" rIns="0" bIns="0" rtlCol="0" anchor="ctr"/>
          <a:lstStyle/>
          <a:p>
            <a:pPr marL="0" indent="0" algn="ctr">
              <a:buNone/>
            </a:pPr>
            <a:r>
              <a:rPr lang="en-US" sz="900" b="1" dirty="0">
                <a:solidFill>
                  <a:srgbClr val="FFFFFF"/>
                </a:solidFill>
              </a:rPr>
              <a:t>YOUR TASK</a:t>
            </a:r>
            <a:endParaRPr lang="en-US" sz="900" dirty="0"/>
          </a:p>
        </p:txBody>
      </p:sp>
      <p:sp>
        <p:nvSpPr>
          <p:cNvPr id="11" name="Shape 9"/>
          <p:cNvSpPr/>
          <p:nvPr/>
        </p:nvSpPr>
        <p:spPr>
          <a:xfrm>
            <a:off x="4937760" y="2313432"/>
            <a:ext cx="192024" cy="192024"/>
          </a:xfrm>
          <a:prstGeom prst="ellipse">
            <a:avLst/>
          </a:prstGeom>
          <a:solidFill>
            <a:srgbClr val="15B8A6"/>
          </a:solidFill>
          <a:ln w="12700">
            <a:solidFill>
              <a:srgbClr val="15B8A6"/>
            </a:solidFill>
            <a:prstDash val="solid"/>
          </a:ln>
        </p:spPr>
      </p:sp>
      <p:sp>
        <p:nvSpPr>
          <p:cNvPr id="12" name="Text 10"/>
          <p:cNvSpPr/>
          <p:nvPr/>
        </p:nvSpPr>
        <p:spPr>
          <a:xfrm>
            <a:off x="5266944" y="224028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Define mapping inputs and outputs.</a:t>
            </a:r>
            <a:endParaRPr lang="en-US" sz="1600" dirty="0"/>
          </a:p>
        </p:txBody>
      </p:sp>
      <p:sp>
        <p:nvSpPr>
          <p:cNvPr id="13" name="Shape 11"/>
          <p:cNvSpPr/>
          <p:nvPr/>
        </p:nvSpPr>
        <p:spPr>
          <a:xfrm>
            <a:off x="4937760" y="3136392"/>
            <a:ext cx="192024" cy="192024"/>
          </a:xfrm>
          <a:prstGeom prst="ellipse">
            <a:avLst/>
          </a:prstGeom>
          <a:solidFill>
            <a:srgbClr val="15B8A6"/>
          </a:solidFill>
          <a:ln w="12700">
            <a:solidFill>
              <a:srgbClr val="15B8A6"/>
            </a:solidFill>
            <a:prstDash val="solid"/>
          </a:ln>
        </p:spPr>
      </p:sp>
      <p:sp>
        <p:nvSpPr>
          <p:cNvPr id="14" name="Text 12"/>
          <p:cNvSpPr/>
          <p:nvPr/>
        </p:nvSpPr>
        <p:spPr>
          <a:xfrm>
            <a:off x="5266944" y="306324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Handle unknown codes.</a:t>
            </a:r>
            <a:endParaRPr lang="en-US" sz="1600" dirty="0"/>
          </a:p>
        </p:txBody>
      </p:sp>
      <p:sp>
        <p:nvSpPr>
          <p:cNvPr id="15" name="Shape 13"/>
          <p:cNvSpPr/>
          <p:nvPr/>
        </p:nvSpPr>
        <p:spPr>
          <a:xfrm>
            <a:off x="4937760" y="3959352"/>
            <a:ext cx="192024" cy="192024"/>
          </a:xfrm>
          <a:prstGeom prst="ellipse">
            <a:avLst/>
          </a:prstGeom>
          <a:solidFill>
            <a:srgbClr val="15B8A6"/>
          </a:solidFill>
          <a:ln w="12700">
            <a:solidFill>
              <a:srgbClr val="15B8A6"/>
            </a:solidFill>
            <a:prstDash val="solid"/>
          </a:ln>
        </p:spPr>
      </p:sp>
      <p:sp>
        <p:nvSpPr>
          <p:cNvPr id="16" name="Text 14"/>
          <p:cNvSpPr/>
          <p:nvPr/>
        </p:nvSpPr>
        <p:spPr>
          <a:xfrm>
            <a:off x="5266944" y="388620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Add configuration and security requirements.</a:t>
            </a:r>
            <a:endParaRPr lang="en-US" sz="1600" dirty="0"/>
          </a:p>
        </p:txBody>
      </p:sp>
      <p:sp>
        <p:nvSpPr>
          <p:cNvPr id="17" name="Text 15"/>
          <p:cNvSpPr/>
          <p:nvPr/>
        </p:nvSpPr>
        <p:spPr>
          <a:xfrm>
            <a:off x="4983480" y="5166360"/>
            <a:ext cx="5852160" cy="411480"/>
          </a:xfrm>
          <a:prstGeom prst="rect">
            <a:avLst/>
          </a:prstGeom>
          <a:noFill/>
          <a:ln/>
        </p:spPr>
        <p:txBody>
          <a:bodyPr wrap="square" lIns="0" tIns="0" rIns="0" bIns="0" rtlCol="0" anchor="ctr"/>
          <a:lstStyle/>
          <a:p>
            <a:pPr marL="0" indent="0" algn="ctr">
              <a:buNone/>
            </a:pPr>
            <a:r>
              <a:rPr lang="en-US" sz="1400" b="1" dirty="0">
                <a:solidFill>
                  <a:srgbClr val="D14343"/>
                </a:solidFill>
              </a:rPr>
              <a:t>Pause here and create your answer before moving to the next slide.</a:t>
            </a:r>
            <a:endParaRPr lang="en-US" sz="14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10: Guided steps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Build the answer one decision at a time.</a:t>
            </a:r>
            <a:endParaRPr lang="en-US" sz="1150" dirty="0"/>
          </a:p>
        </p:txBody>
      </p:sp>
      <p:sp>
        <p:nvSpPr>
          <p:cNvPr id="4" name="Shape 2"/>
          <p:cNvSpPr/>
          <p:nvPr/>
        </p:nvSpPr>
        <p:spPr>
          <a:xfrm>
            <a:off x="786384" y="1225296"/>
            <a:ext cx="10561320" cy="685800"/>
          </a:xfrm>
          <a:prstGeom prst="roundRect">
            <a:avLst>
              <a:gd name="adj" fmla="val 10667"/>
            </a:avLst>
          </a:prstGeom>
          <a:solidFill>
            <a:srgbClr val="FFFFFF"/>
          </a:solidFill>
          <a:ln w="12700">
            <a:solidFill>
              <a:srgbClr val="D9E1EA"/>
            </a:solidFill>
            <a:prstDash val="solid"/>
          </a:ln>
        </p:spPr>
      </p:sp>
      <p:sp>
        <p:nvSpPr>
          <p:cNvPr id="5" name="Shape 3"/>
          <p:cNvSpPr/>
          <p:nvPr/>
        </p:nvSpPr>
        <p:spPr>
          <a:xfrm>
            <a:off x="1005840" y="1344168"/>
            <a:ext cx="438912" cy="438912"/>
          </a:xfrm>
          <a:prstGeom prst="ellipse">
            <a:avLst/>
          </a:prstGeom>
          <a:solidFill>
            <a:srgbClr val="15B8A6"/>
          </a:solidFill>
          <a:ln w="12700">
            <a:solidFill>
              <a:srgbClr val="15B8A6"/>
            </a:solidFill>
            <a:prstDash val="solid"/>
          </a:ln>
        </p:spPr>
      </p:sp>
      <p:sp>
        <p:nvSpPr>
          <p:cNvPr id="6" name="Text 4"/>
          <p:cNvSpPr/>
          <p:nvPr/>
        </p:nvSpPr>
        <p:spPr>
          <a:xfrm>
            <a:off x="1005840" y="1463040"/>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7" name="Text 5"/>
          <p:cNvSpPr/>
          <p:nvPr/>
        </p:nvSpPr>
        <p:spPr>
          <a:xfrm>
            <a:off x="1737360" y="1399032"/>
            <a:ext cx="9098280" cy="274320"/>
          </a:xfrm>
          <a:prstGeom prst="rect">
            <a:avLst/>
          </a:prstGeom>
          <a:noFill/>
          <a:ln/>
        </p:spPr>
        <p:txBody>
          <a:bodyPr wrap="square" lIns="0" tIns="0" rIns="0" bIns="0" rtlCol="0" anchor="ctr"/>
          <a:lstStyle/>
          <a:p>
            <a:pPr marL="0" indent="0">
              <a:buNone/>
            </a:pPr>
            <a:r>
              <a:rPr lang="en-US" sz="1600" dirty="0">
                <a:solidFill>
                  <a:srgbClr val="172033"/>
                </a:solidFill>
              </a:rPr>
              <a:t>Provide a sample payload.</a:t>
            </a:r>
            <a:endParaRPr lang="en-US" sz="1600" dirty="0"/>
          </a:p>
        </p:txBody>
      </p:sp>
      <p:sp>
        <p:nvSpPr>
          <p:cNvPr id="8" name="Shape 6"/>
          <p:cNvSpPr/>
          <p:nvPr/>
        </p:nvSpPr>
        <p:spPr>
          <a:xfrm>
            <a:off x="786384" y="2157984"/>
            <a:ext cx="10561320" cy="685800"/>
          </a:xfrm>
          <a:prstGeom prst="roundRect">
            <a:avLst>
              <a:gd name="adj" fmla="val 10667"/>
            </a:avLst>
          </a:prstGeom>
          <a:solidFill>
            <a:srgbClr val="F0FAF8"/>
          </a:solidFill>
          <a:ln w="12700">
            <a:solidFill>
              <a:srgbClr val="D9E1EA"/>
            </a:solidFill>
            <a:prstDash val="solid"/>
          </a:ln>
        </p:spPr>
      </p:sp>
      <p:sp>
        <p:nvSpPr>
          <p:cNvPr id="9" name="Shape 7"/>
          <p:cNvSpPr/>
          <p:nvPr/>
        </p:nvSpPr>
        <p:spPr>
          <a:xfrm>
            <a:off x="1005840" y="2276856"/>
            <a:ext cx="438912" cy="438912"/>
          </a:xfrm>
          <a:prstGeom prst="ellipse">
            <a:avLst/>
          </a:prstGeom>
          <a:solidFill>
            <a:srgbClr val="15B8A6"/>
          </a:solidFill>
          <a:ln w="12700">
            <a:solidFill>
              <a:srgbClr val="15B8A6"/>
            </a:solidFill>
            <a:prstDash val="solid"/>
          </a:ln>
        </p:spPr>
      </p:sp>
      <p:sp>
        <p:nvSpPr>
          <p:cNvPr id="10" name="Text 8"/>
          <p:cNvSpPr/>
          <p:nvPr/>
        </p:nvSpPr>
        <p:spPr>
          <a:xfrm>
            <a:off x="1005840" y="2395728"/>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1" name="Text 9"/>
          <p:cNvSpPr/>
          <p:nvPr/>
        </p:nvSpPr>
        <p:spPr>
          <a:xfrm>
            <a:off x="1737360" y="2331720"/>
            <a:ext cx="9098280" cy="274320"/>
          </a:xfrm>
          <a:prstGeom prst="rect">
            <a:avLst/>
          </a:prstGeom>
          <a:noFill/>
          <a:ln/>
        </p:spPr>
        <p:txBody>
          <a:bodyPr wrap="square" lIns="0" tIns="0" rIns="0" bIns="0" rtlCol="0" anchor="ctr"/>
          <a:lstStyle/>
          <a:p>
            <a:pPr marL="0" indent="0">
              <a:buNone/>
            </a:pPr>
            <a:r>
              <a:rPr lang="en-US" sz="1600" dirty="0">
                <a:solidFill>
                  <a:srgbClr val="172033"/>
                </a:solidFill>
              </a:rPr>
              <a:t>List field-by-field mappings.</a:t>
            </a:r>
            <a:endParaRPr lang="en-US" sz="1600" dirty="0"/>
          </a:p>
        </p:txBody>
      </p:sp>
      <p:sp>
        <p:nvSpPr>
          <p:cNvPr id="12" name="Shape 10"/>
          <p:cNvSpPr/>
          <p:nvPr/>
        </p:nvSpPr>
        <p:spPr>
          <a:xfrm>
            <a:off x="786384" y="3090672"/>
            <a:ext cx="10561320" cy="685800"/>
          </a:xfrm>
          <a:prstGeom prst="roundRect">
            <a:avLst>
              <a:gd name="adj" fmla="val 10667"/>
            </a:avLst>
          </a:prstGeom>
          <a:solidFill>
            <a:srgbClr val="FFFFFF"/>
          </a:solidFill>
          <a:ln w="12700">
            <a:solidFill>
              <a:srgbClr val="D9E1EA"/>
            </a:solidFill>
            <a:prstDash val="solid"/>
          </a:ln>
        </p:spPr>
      </p:sp>
      <p:sp>
        <p:nvSpPr>
          <p:cNvPr id="13" name="Shape 11"/>
          <p:cNvSpPr/>
          <p:nvPr/>
        </p:nvSpPr>
        <p:spPr>
          <a:xfrm>
            <a:off x="1005840" y="3209544"/>
            <a:ext cx="438912" cy="438912"/>
          </a:xfrm>
          <a:prstGeom prst="ellipse">
            <a:avLst/>
          </a:prstGeom>
          <a:solidFill>
            <a:srgbClr val="15B8A6"/>
          </a:solidFill>
          <a:ln w="12700">
            <a:solidFill>
              <a:srgbClr val="15B8A6"/>
            </a:solidFill>
            <a:prstDash val="solid"/>
          </a:ln>
        </p:spPr>
      </p:sp>
      <p:sp>
        <p:nvSpPr>
          <p:cNvPr id="14" name="Text 12"/>
          <p:cNvSpPr/>
          <p:nvPr/>
        </p:nvSpPr>
        <p:spPr>
          <a:xfrm>
            <a:off x="1005840" y="3328416"/>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5" name="Text 13"/>
          <p:cNvSpPr/>
          <p:nvPr/>
        </p:nvSpPr>
        <p:spPr>
          <a:xfrm>
            <a:off x="1737360" y="3264408"/>
            <a:ext cx="9098280" cy="274320"/>
          </a:xfrm>
          <a:prstGeom prst="rect">
            <a:avLst/>
          </a:prstGeom>
          <a:noFill/>
          <a:ln/>
        </p:spPr>
        <p:txBody>
          <a:bodyPr wrap="square" lIns="0" tIns="0" rIns="0" bIns="0" rtlCol="0" anchor="ctr"/>
          <a:lstStyle/>
          <a:p>
            <a:pPr marL="0" indent="0">
              <a:buNone/>
            </a:pPr>
            <a:r>
              <a:rPr lang="en-US" sz="1600" dirty="0">
                <a:solidFill>
                  <a:srgbClr val="172033"/>
                </a:solidFill>
              </a:rPr>
              <a:t>Define configurable code mappings.</a:t>
            </a:r>
            <a:endParaRPr lang="en-US" sz="1600" dirty="0"/>
          </a:p>
        </p:txBody>
      </p:sp>
      <p:sp>
        <p:nvSpPr>
          <p:cNvPr id="16" name="Shape 14"/>
          <p:cNvSpPr/>
          <p:nvPr/>
        </p:nvSpPr>
        <p:spPr>
          <a:xfrm>
            <a:off x="786384" y="4023360"/>
            <a:ext cx="10561320" cy="685800"/>
          </a:xfrm>
          <a:prstGeom prst="roundRect">
            <a:avLst>
              <a:gd name="adj" fmla="val 10667"/>
            </a:avLst>
          </a:prstGeom>
          <a:solidFill>
            <a:srgbClr val="F0FAF8"/>
          </a:solidFill>
          <a:ln w="12700">
            <a:solidFill>
              <a:srgbClr val="D9E1EA"/>
            </a:solidFill>
            <a:prstDash val="solid"/>
          </a:ln>
        </p:spPr>
      </p:sp>
      <p:sp>
        <p:nvSpPr>
          <p:cNvPr id="17" name="Shape 15"/>
          <p:cNvSpPr/>
          <p:nvPr/>
        </p:nvSpPr>
        <p:spPr>
          <a:xfrm>
            <a:off x="1005840" y="4142232"/>
            <a:ext cx="438912" cy="438912"/>
          </a:xfrm>
          <a:prstGeom prst="ellipse">
            <a:avLst/>
          </a:prstGeom>
          <a:solidFill>
            <a:srgbClr val="15B8A6"/>
          </a:solidFill>
          <a:ln w="12700">
            <a:solidFill>
              <a:srgbClr val="15B8A6"/>
            </a:solidFill>
            <a:prstDash val="solid"/>
          </a:ln>
        </p:spPr>
      </p:sp>
      <p:sp>
        <p:nvSpPr>
          <p:cNvPr id="18" name="Text 16"/>
          <p:cNvSpPr/>
          <p:nvPr/>
        </p:nvSpPr>
        <p:spPr>
          <a:xfrm>
            <a:off x="1005840" y="4261104"/>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19" name="Text 17"/>
          <p:cNvSpPr/>
          <p:nvPr/>
        </p:nvSpPr>
        <p:spPr>
          <a:xfrm>
            <a:off x="1737360" y="4197096"/>
            <a:ext cx="9098280" cy="274320"/>
          </a:xfrm>
          <a:prstGeom prst="rect">
            <a:avLst/>
          </a:prstGeom>
          <a:noFill/>
          <a:ln/>
        </p:spPr>
        <p:txBody>
          <a:bodyPr wrap="square" lIns="0" tIns="0" rIns="0" bIns="0" rtlCol="0" anchor="ctr"/>
          <a:lstStyle/>
          <a:p>
            <a:pPr marL="0" indent="0">
              <a:buNone/>
            </a:pPr>
            <a:r>
              <a:rPr lang="en-US" sz="1600" dirty="0">
                <a:solidFill>
                  <a:srgbClr val="172033"/>
                </a:solidFill>
              </a:rPr>
              <a:t>Choose reject or fallback behaviour.</a:t>
            </a:r>
            <a:endParaRPr lang="en-US" sz="1600" dirty="0"/>
          </a:p>
        </p:txBody>
      </p:sp>
      <p:sp>
        <p:nvSpPr>
          <p:cNvPr id="20" name="Shape 18"/>
          <p:cNvSpPr/>
          <p:nvPr/>
        </p:nvSpPr>
        <p:spPr>
          <a:xfrm>
            <a:off x="786384" y="4956048"/>
            <a:ext cx="10561320" cy="685800"/>
          </a:xfrm>
          <a:prstGeom prst="roundRect">
            <a:avLst>
              <a:gd name="adj" fmla="val 10667"/>
            </a:avLst>
          </a:prstGeom>
          <a:solidFill>
            <a:srgbClr val="FFFFFF"/>
          </a:solidFill>
          <a:ln w="12700">
            <a:solidFill>
              <a:srgbClr val="D9E1EA"/>
            </a:solidFill>
            <a:prstDash val="solid"/>
          </a:ln>
        </p:spPr>
      </p:sp>
      <p:sp>
        <p:nvSpPr>
          <p:cNvPr id="21" name="Shape 19"/>
          <p:cNvSpPr/>
          <p:nvPr/>
        </p:nvSpPr>
        <p:spPr>
          <a:xfrm>
            <a:off x="1005840" y="5074920"/>
            <a:ext cx="438912" cy="438912"/>
          </a:xfrm>
          <a:prstGeom prst="ellipse">
            <a:avLst/>
          </a:prstGeom>
          <a:solidFill>
            <a:srgbClr val="F59E0B"/>
          </a:solidFill>
          <a:ln w="12700">
            <a:solidFill>
              <a:srgbClr val="F59E0B"/>
            </a:solidFill>
            <a:prstDash val="solid"/>
          </a:ln>
        </p:spPr>
      </p:sp>
      <p:sp>
        <p:nvSpPr>
          <p:cNvPr id="22" name="Text 20"/>
          <p:cNvSpPr/>
          <p:nvPr/>
        </p:nvSpPr>
        <p:spPr>
          <a:xfrm>
            <a:off x="1005840" y="5193792"/>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23" name="Text 21"/>
          <p:cNvSpPr/>
          <p:nvPr/>
        </p:nvSpPr>
        <p:spPr>
          <a:xfrm>
            <a:off x="1737360" y="5129784"/>
            <a:ext cx="9098280" cy="274320"/>
          </a:xfrm>
          <a:prstGeom prst="rect">
            <a:avLst/>
          </a:prstGeom>
          <a:noFill/>
          <a:ln/>
        </p:spPr>
        <p:txBody>
          <a:bodyPr wrap="square" lIns="0" tIns="0" rIns="0" bIns="0" rtlCol="0" anchor="ctr"/>
          <a:lstStyle/>
          <a:p>
            <a:pPr marL="0" indent="0">
              <a:buNone/>
            </a:pPr>
            <a:r>
              <a:rPr lang="en-US" sz="1600" dirty="0">
                <a:solidFill>
                  <a:srgbClr val="172033"/>
                </a:solidFill>
              </a:rPr>
              <a:t>Add masked failure examples.</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10: Model answer</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Use this as a reference, then replace placeholders with verified system details.</a:t>
            </a:r>
            <a:endParaRPr lang="en-US" sz="1150" dirty="0"/>
          </a:p>
        </p:txBody>
      </p:sp>
      <p:sp>
        <p:nvSpPr>
          <p:cNvPr id="4" name="Shape 2"/>
          <p:cNvSpPr/>
          <p:nvPr/>
        </p:nvSpPr>
        <p:spPr>
          <a:xfrm>
            <a:off x="713232" y="1207008"/>
            <a:ext cx="10972800" cy="5010912"/>
          </a:xfrm>
          <a:prstGeom prst="roundRect">
            <a:avLst>
              <a:gd name="adj" fmla="val 1460"/>
            </a:avLst>
          </a:prstGeom>
          <a:solidFill>
            <a:srgbClr val="10263B"/>
          </a:solidFill>
          <a:ln w="12700">
            <a:solidFill>
              <a:srgbClr val="284B66"/>
            </a:solidFill>
            <a:prstDash val="solid"/>
          </a:ln>
        </p:spPr>
      </p:sp>
      <p:sp>
        <p:nvSpPr>
          <p:cNvPr id="5" name="Text 3"/>
          <p:cNvSpPr/>
          <p:nvPr/>
        </p:nvSpPr>
        <p:spPr>
          <a:xfrm>
            <a:off x="877824" y="1344168"/>
            <a:ext cx="10643616" cy="4736592"/>
          </a:xfrm>
          <a:prstGeom prst="rect">
            <a:avLst/>
          </a:prstGeom>
          <a:noFill/>
          <a:ln/>
        </p:spPr>
        <p:txBody>
          <a:bodyPr wrap="square" lIns="254" tIns="254" rIns="254" bIns="254" rtlCol="0" anchor="ctr">
            <a:normAutofit/>
          </a:bodyPr>
          <a:lstStyle/>
          <a:p>
            <a:pPr marL="0" indent="0">
              <a:buNone/>
            </a:pPr>
            <a:r>
              <a:rPr lang="en-US" sz="1250" dirty="0">
                <a:solidFill>
                  <a:srgbClr val="EDF6FC"/>
                </a:solidFill>
                <a:latin typeface="Consolas" pitchFamily="34" charset="0"/>
                <a:ea typeface="Consolas" pitchFamily="34" charset="-122"/>
                <a:cs typeface="Consolas" pitchFamily="34" charset="-120"/>
              </a:rPr>
              <a:t>Map the supplied JSON schema to approved SAP HR structures. For each payload field, list the SAP target field, conversion, mandatory status and validation. Use a configurable mapping source for external codes, including validity dates if mappings change over time. Reject unknown mandatory codes with a field-level error; do not silently default. Avoid logging sensitive payload values. Provide a successful sample, missing-field sample, invalid-date sample, unknown-code sample and the expected structured responses.</a:t>
            </a:r>
            <a:endParaRPr lang="en-US" sz="125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11: Request payroll result extraction</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Level: Payroll</a:t>
            </a:r>
            <a:endParaRPr lang="en-US" sz="1150" dirty="0"/>
          </a:p>
        </p:txBody>
      </p:sp>
      <p:sp>
        <p:nvSpPr>
          <p:cNvPr id="4" name="Shape 2"/>
          <p:cNvSpPr/>
          <p:nvPr/>
        </p:nvSpPr>
        <p:spPr>
          <a:xfrm>
            <a:off x="685800" y="1234440"/>
            <a:ext cx="3703320" cy="4800600"/>
          </a:xfrm>
          <a:prstGeom prst="roundRect">
            <a:avLst>
              <a:gd name="adj" fmla="val 1975"/>
            </a:avLst>
          </a:prstGeom>
          <a:solidFill>
            <a:srgbClr val="EEF5FB"/>
          </a:solidFill>
          <a:ln w="12700">
            <a:solidFill>
              <a:srgbClr val="D9E1EA"/>
            </a:solidFill>
            <a:prstDash val="solid"/>
          </a:ln>
        </p:spPr>
      </p:sp>
      <p:sp>
        <p:nvSpPr>
          <p:cNvPr id="5" name="Shape 3"/>
          <p:cNvSpPr/>
          <p:nvPr/>
        </p:nvSpPr>
        <p:spPr>
          <a:xfrm>
            <a:off x="932688" y="1508760"/>
            <a:ext cx="1143000" cy="310896"/>
          </a:xfrm>
          <a:prstGeom prst="roundRect">
            <a:avLst>
              <a:gd name="adj" fmla="val 23529"/>
            </a:avLst>
          </a:prstGeom>
          <a:solidFill>
            <a:srgbClr val="0B5CAD"/>
          </a:solidFill>
          <a:ln w="12700">
            <a:solidFill>
              <a:srgbClr val="0B5CAD"/>
            </a:solidFill>
            <a:prstDash val="solid"/>
          </a:ln>
        </p:spPr>
      </p:sp>
      <p:sp>
        <p:nvSpPr>
          <p:cNvPr id="6" name="Text 4"/>
          <p:cNvSpPr/>
          <p:nvPr/>
        </p:nvSpPr>
        <p:spPr>
          <a:xfrm>
            <a:off x="978408" y="1577340"/>
            <a:ext cx="1051560" cy="164592"/>
          </a:xfrm>
          <a:prstGeom prst="rect">
            <a:avLst/>
          </a:prstGeom>
          <a:noFill/>
          <a:ln/>
        </p:spPr>
        <p:txBody>
          <a:bodyPr wrap="square" lIns="0" tIns="0" rIns="0" bIns="0" rtlCol="0" anchor="ctr"/>
          <a:lstStyle/>
          <a:p>
            <a:pPr marL="0" indent="0" algn="ctr">
              <a:buNone/>
            </a:pPr>
            <a:r>
              <a:rPr lang="en-US" sz="900" b="1" dirty="0">
                <a:solidFill>
                  <a:srgbClr val="FFFFFF"/>
                </a:solidFill>
              </a:rPr>
              <a:t>SCENARIO</a:t>
            </a:r>
            <a:endParaRPr lang="en-US" sz="900" dirty="0"/>
          </a:p>
        </p:txBody>
      </p:sp>
      <p:sp>
        <p:nvSpPr>
          <p:cNvPr id="7" name="Text 5"/>
          <p:cNvSpPr/>
          <p:nvPr/>
        </p:nvSpPr>
        <p:spPr>
          <a:xfrm>
            <a:off x="960120" y="2148840"/>
            <a:ext cx="3154680" cy="2057400"/>
          </a:xfrm>
          <a:prstGeom prst="rect">
            <a:avLst/>
          </a:prstGeom>
          <a:noFill/>
          <a:ln/>
        </p:spPr>
        <p:txBody>
          <a:bodyPr wrap="square" lIns="0" tIns="0" rIns="0" bIns="0" rtlCol="0" anchor="ctr"/>
          <a:lstStyle/>
          <a:p>
            <a:pPr marL="0" indent="0" algn="ctr">
              <a:buNone/>
            </a:pPr>
            <a:r>
              <a:rPr lang="en-US" sz="1700" b="1" dirty="0">
                <a:solidFill>
                  <a:srgbClr val="172033"/>
                </a:solidFill>
              </a:rPr>
              <a:t>A report must read selected wage types from payroll results.</a:t>
            </a:r>
            <a:endParaRPr lang="en-US" sz="1700" dirty="0"/>
          </a:p>
        </p:txBody>
      </p:sp>
      <p:sp>
        <p:nvSpPr>
          <p:cNvPr id="8" name="Shape 6"/>
          <p:cNvSpPr/>
          <p:nvPr/>
        </p:nvSpPr>
        <p:spPr>
          <a:xfrm>
            <a:off x="4590288" y="1234440"/>
            <a:ext cx="6903720" cy="4800600"/>
          </a:xfrm>
          <a:prstGeom prst="roundRect">
            <a:avLst>
              <a:gd name="adj" fmla="val 1524"/>
            </a:avLst>
          </a:prstGeom>
          <a:solidFill>
            <a:srgbClr val="FFF9ED"/>
          </a:solidFill>
          <a:ln w="12700">
            <a:solidFill>
              <a:srgbClr val="F2D89C"/>
            </a:solidFill>
            <a:prstDash val="solid"/>
          </a:ln>
        </p:spPr>
      </p:sp>
      <p:sp>
        <p:nvSpPr>
          <p:cNvPr id="9" name="Shape 7"/>
          <p:cNvSpPr/>
          <p:nvPr/>
        </p:nvSpPr>
        <p:spPr>
          <a:xfrm>
            <a:off x="4873752" y="1508760"/>
            <a:ext cx="1188720" cy="310896"/>
          </a:xfrm>
          <a:prstGeom prst="roundRect">
            <a:avLst>
              <a:gd name="adj" fmla="val 23529"/>
            </a:avLst>
          </a:prstGeom>
          <a:solidFill>
            <a:srgbClr val="F59E0B"/>
          </a:solidFill>
          <a:ln w="12700">
            <a:solidFill>
              <a:srgbClr val="F59E0B"/>
            </a:solidFill>
            <a:prstDash val="solid"/>
          </a:ln>
        </p:spPr>
      </p:sp>
      <p:sp>
        <p:nvSpPr>
          <p:cNvPr id="10" name="Text 8"/>
          <p:cNvSpPr/>
          <p:nvPr/>
        </p:nvSpPr>
        <p:spPr>
          <a:xfrm>
            <a:off x="4919472" y="1577340"/>
            <a:ext cx="1097280" cy="164592"/>
          </a:xfrm>
          <a:prstGeom prst="rect">
            <a:avLst/>
          </a:prstGeom>
          <a:noFill/>
          <a:ln/>
        </p:spPr>
        <p:txBody>
          <a:bodyPr wrap="square" lIns="0" tIns="0" rIns="0" bIns="0" rtlCol="0" anchor="ctr"/>
          <a:lstStyle/>
          <a:p>
            <a:pPr marL="0" indent="0" algn="ctr">
              <a:buNone/>
            </a:pPr>
            <a:r>
              <a:rPr lang="en-US" sz="900" b="1" dirty="0">
                <a:solidFill>
                  <a:srgbClr val="FFFFFF"/>
                </a:solidFill>
              </a:rPr>
              <a:t>YOUR TASK</a:t>
            </a:r>
            <a:endParaRPr lang="en-US" sz="900" dirty="0"/>
          </a:p>
        </p:txBody>
      </p:sp>
      <p:sp>
        <p:nvSpPr>
          <p:cNvPr id="11" name="Shape 9"/>
          <p:cNvSpPr/>
          <p:nvPr/>
        </p:nvSpPr>
        <p:spPr>
          <a:xfrm>
            <a:off x="4937760" y="2313432"/>
            <a:ext cx="192024" cy="192024"/>
          </a:xfrm>
          <a:prstGeom prst="ellipse">
            <a:avLst/>
          </a:prstGeom>
          <a:solidFill>
            <a:srgbClr val="15B8A6"/>
          </a:solidFill>
          <a:ln w="12700">
            <a:solidFill>
              <a:srgbClr val="15B8A6"/>
            </a:solidFill>
            <a:prstDash val="solid"/>
          </a:ln>
        </p:spPr>
      </p:sp>
      <p:sp>
        <p:nvSpPr>
          <p:cNvPr id="12" name="Text 10"/>
          <p:cNvSpPr/>
          <p:nvPr/>
        </p:nvSpPr>
        <p:spPr>
          <a:xfrm>
            <a:off x="5266944" y="224028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Add country and result-selection context.</a:t>
            </a:r>
            <a:endParaRPr lang="en-US" sz="1600" dirty="0"/>
          </a:p>
        </p:txBody>
      </p:sp>
      <p:sp>
        <p:nvSpPr>
          <p:cNvPr id="13" name="Shape 11"/>
          <p:cNvSpPr/>
          <p:nvPr/>
        </p:nvSpPr>
        <p:spPr>
          <a:xfrm>
            <a:off x="4937760" y="3136392"/>
            <a:ext cx="192024" cy="192024"/>
          </a:xfrm>
          <a:prstGeom prst="ellipse">
            <a:avLst/>
          </a:prstGeom>
          <a:solidFill>
            <a:srgbClr val="15B8A6"/>
          </a:solidFill>
          <a:ln w="12700">
            <a:solidFill>
              <a:srgbClr val="15B8A6"/>
            </a:solidFill>
            <a:prstDash val="solid"/>
          </a:ln>
        </p:spPr>
      </p:sp>
      <p:sp>
        <p:nvSpPr>
          <p:cNvPr id="14" name="Text 12"/>
          <p:cNvSpPr/>
          <p:nvPr/>
        </p:nvSpPr>
        <p:spPr>
          <a:xfrm>
            <a:off x="5266944" y="306324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Define required result components.</a:t>
            </a:r>
            <a:endParaRPr lang="en-US" sz="1600" dirty="0"/>
          </a:p>
        </p:txBody>
      </p:sp>
      <p:sp>
        <p:nvSpPr>
          <p:cNvPr id="15" name="Shape 13"/>
          <p:cNvSpPr/>
          <p:nvPr/>
        </p:nvSpPr>
        <p:spPr>
          <a:xfrm>
            <a:off x="4937760" y="3959352"/>
            <a:ext cx="192024" cy="192024"/>
          </a:xfrm>
          <a:prstGeom prst="ellipse">
            <a:avLst/>
          </a:prstGeom>
          <a:solidFill>
            <a:srgbClr val="15B8A6"/>
          </a:solidFill>
          <a:ln w="12700">
            <a:solidFill>
              <a:srgbClr val="15B8A6"/>
            </a:solidFill>
            <a:prstDash val="solid"/>
          </a:ln>
        </p:spPr>
      </p:sp>
      <p:sp>
        <p:nvSpPr>
          <p:cNvPr id="16" name="Text 14"/>
          <p:cNvSpPr/>
          <p:nvPr/>
        </p:nvSpPr>
        <p:spPr>
          <a:xfrm>
            <a:off x="5266944" y="388620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Handle missing and retro results.</a:t>
            </a:r>
            <a:endParaRPr lang="en-US" sz="1600" dirty="0"/>
          </a:p>
        </p:txBody>
      </p:sp>
      <p:sp>
        <p:nvSpPr>
          <p:cNvPr id="17" name="Text 15"/>
          <p:cNvSpPr/>
          <p:nvPr/>
        </p:nvSpPr>
        <p:spPr>
          <a:xfrm>
            <a:off x="4983480" y="5166360"/>
            <a:ext cx="5852160" cy="411480"/>
          </a:xfrm>
          <a:prstGeom prst="rect">
            <a:avLst/>
          </a:prstGeom>
          <a:noFill/>
          <a:ln/>
        </p:spPr>
        <p:txBody>
          <a:bodyPr wrap="square" lIns="0" tIns="0" rIns="0" bIns="0" rtlCol="0" anchor="ctr"/>
          <a:lstStyle/>
          <a:p>
            <a:pPr marL="0" indent="0" algn="ctr">
              <a:buNone/>
            </a:pPr>
            <a:r>
              <a:rPr lang="en-US" sz="1400" b="1" dirty="0">
                <a:solidFill>
                  <a:srgbClr val="D14343"/>
                </a:solidFill>
              </a:rPr>
              <a:t>Pause here and create your answer before moving to the next slide.</a:t>
            </a:r>
            <a:endParaRPr lang="en-US" sz="14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11: Guided steps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Build the answer one decision at a time.</a:t>
            </a:r>
            <a:endParaRPr lang="en-US" sz="1150" dirty="0"/>
          </a:p>
        </p:txBody>
      </p:sp>
      <p:sp>
        <p:nvSpPr>
          <p:cNvPr id="4" name="Shape 2"/>
          <p:cNvSpPr/>
          <p:nvPr/>
        </p:nvSpPr>
        <p:spPr>
          <a:xfrm>
            <a:off x="786384" y="1225296"/>
            <a:ext cx="10561320" cy="685800"/>
          </a:xfrm>
          <a:prstGeom prst="roundRect">
            <a:avLst>
              <a:gd name="adj" fmla="val 10667"/>
            </a:avLst>
          </a:prstGeom>
          <a:solidFill>
            <a:srgbClr val="FFFFFF"/>
          </a:solidFill>
          <a:ln w="12700">
            <a:solidFill>
              <a:srgbClr val="D9E1EA"/>
            </a:solidFill>
            <a:prstDash val="solid"/>
          </a:ln>
        </p:spPr>
      </p:sp>
      <p:sp>
        <p:nvSpPr>
          <p:cNvPr id="5" name="Shape 3"/>
          <p:cNvSpPr/>
          <p:nvPr/>
        </p:nvSpPr>
        <p:spPr>
          <a:xfrm>
            <a:off x="1005840" y="1344168"/>
            <a:ext cx="438912" cy="438912"/>
          </a:xfrm>
          <a:prstGeom prst="ellipse">
            <a:avLst/>
          </a:prstGeom>
          <a:solidFill>
            <a:srgbClr val="15B8A6"/>
          </a:solidFill>
          <a:ln w="12700">
            <a:solidFill>
              <a:srgbClr val="15B8A6"/>
            </a:solidFill>
            <a:prstDash val="solid"/>
          </a:ln>
        </p:spPr>
      </p:sp>
      <p:sp>
        <p:nvSpPr>
          <p:cNvPr id="6" name="Text 4"/>
          <p:cNvSpPr/>
          <p:nvPr/>
        </p:nvSpPr>
        <p:spPr>
          <a:xfrm>
            <a:off x="1005840" y="1463040"/>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7" name="Text 5"/>
          <p:cNvSpPr/>
          <p:nvPr/>
        </p:nvSpPr>
        <p:spPr>
          <a:xfrm>
            <a:off x="1737360" y="1399032"/>
            <a:ext cx="9098280" cy="274320"/>
          </a:xfrm>
          <a:prstGeom prst="rect">
            <a:avLst/>
          </a:prstGeom>
          <a:noFill/>
          <a:ln/>
        </p:spPr>
        <p:txBody>
          <a:bodyPr wrap="square" lIns="0" tIns="0" rIns="0" bIns="0" rtlCol="0" anchor="ctr"/>
          <a:lstStyle/>
          <a:p>
            <a:pPr marL="0" indent="0">
              <a:buNone/>
            </a:pPr>
            <a:r>
              <a:rPr lang="en-US" sz="1600" dirty="0">
                <a:solidFill>
                  <a:srgbClr val="172033"/>
                </a:solidFill>
              </a:rPr>
              <a:t>State country payroll.</a:t>
            </a:r>
            <a:endParaRPr lang="en-US" sz="1600" dirty="0"/>
          </a:p>
        </p:txBody>
      </p:sp>
      <p:sp>
        <p:nvSpPr>
          <p:cNvPr id="8" name="Shape 6"/>
          <p:cNvSpPr/>
          <p:nvPr/>
        </p:nvSpPr>
        <p:spPr>
          <a:xfrm>
            <a:off x="786384" y="2157984"/>
            <a:ext cx="10561320" cy="685800"/>
          </a:xfrm>
          <a:prstGeom prst="roundRect">
            <a:avLst>
              <a:gd name="adj" fmla="val 10667"/>
            </a:avLst>
          </a:prstGeom>
          <a:solidFill>
            <a:srgbClr val="F0FAF8"/>
          </a:solidFill>
          <a:ln w="12700">
            <a:solidFill>
              <a:srgbClr val="D9E1EA"/>
            </a:solidFill>
            <a:prstDash val="solid"/>
          </a:ln>
        </p:spPr>
      </p:sp>
      <p:sp>
        <p:nvSpPr>
          <p:cNvPr id="9" name="Shape 7"/>
          <p:cNvSpPr/>
          <p:nvPr/>
        </p:nvSpPr>
        <p:spPr>
          <a:xfrm>
            <a:off x="1005840" y="2276856"/>
            <a:ext cx="438912" cy="438912"/>
          </a:xfrm>
          <a:prstGeom prst="ellipse">
            <a:avLst/>
          </a:prstGeom>
          <a:solidFill>
            <a:srgbClr val="15B8A6"/>
          </a:solidFill>
          <a:ln w="12700">
            <a:solidFill>
              <a:srgbClr val="15B8A6"/>
            </a:solidFill>
            <a:prstDash val="solid"/>
          </a:ln>
        </p:spPr>
      </p:sp>
      <p:sp>
        <p:nvSpPr>
          <p:cNvPr id="10" name="Text 8"/>
          <p:cNvSpPr/>
          <p:nvPr/>
        </p:nvSpPr>
        <p:spPr>
          <a:xfrm>
            <a:off x="1005840" y="2395728"/>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1" name="Text 9"/>
          <p:cNvSpPr/>
          <p:nvPr/>
        </p:nvSpPr>
        <p:spPr>
          <a:xfrm>
            <a:off x="1737360" y="2331720"/>
            <a:ext cx="9098280" cy="274320"/>
          </a:xfrm>
          <a:prstGeom prst="rect">
            <a:avLst/>
          </a:prstGeom>
          <a:noFill/>
          <a:ln/>
        </p:spPr>
        <p:txBody>
          <a:bodyPr wrap="square" lIns="0" tIns="0" rIns="0" bIns="0" rtlCol="0" anchor="ctr"/>
          <a:lstStyle/>
          <a:p>
            <a:pPr marL="0" indent="0">
              <a:buNone/>
            </a:pPr>
            <a:r>
              <a:rPr lang="en-US" sz="1600" dirty="0">
                <a:solidFill>
                  <a:srgbClr val="172033"/>
                </a:solidFill>
              </a:rPr>
              <a:t>Define employee and payroll-period selection.</a:t>
            </a:r>
            <a:endParaRPr lang="en-US" sz="1600" dirty="0"/>
          </a:p>
        </p:txBody>
      </p:sp>
      <p:sp>
        <p:nvSpPr>
          <p:cNvPr id="12" name="Shape 10"/>
          <p:cNvSpPr/>
          <p:nvPr/>
        </p:nvSpPr>
        <p:spPr>
          <a:xfrm>
            <a:off x="786384" y="3090672"/>
            <a:ext cx="10561320" cy="685800"/>
          </a:xfrm>
          <a:prstGeom prst="roundRect">
            <a:avLst>
              <a:gd name="adj" fmla="val 10667"/>
            </a:avLst>
          </a:prstGeom>
          <a:solidFill>
            <a:srgbClr val="FFFFFF"/>
          </a:solidFill>
          <a:ln w="12700">
            <a:solidFill>
              <a:srgbClr val="D9E1EA"/>
            </a:solidFill>
            <a:prstDash val="solid"/>
          </a:ln>
        </p:spPr>
      </p:sp>
      <p:sp>
        <p:nvSpPr>
          <p:cNvPr id="13" name="Shape 11"/>
          <p:cNvSpPr/>
          <p:nvPr/>
        </p:nvSpPr>
        <p:spPr>
          <a:xfrm>
            <a:off x="1005840" y="3209544"/>
            <a:ext cx="438912" cy="438912"/>
          </a:xfrm>
          <a:prstGeom prst="ellipse">
            <a:avLst/>
          </a:prstGeom>
          <a:solidFill>
            <a:srgbClr val="15B8A6"/>
          </a:solidFill>
          <a:ln w="12700">
            <a:solidFill>
              <a:srgbClr val="15B8A6"/>
            </a:solidFill>
            <a:prstDash val="solid"/>
          </a:ln>
        </p:spPr>
      </p:sp>
      <p:sp>
        <p:nvSpPr>
          <p:cNvPr id="14" name="Text 12"/>
          <p:cNvSpPr/>
          <p:nvPr/>
        </p:nvSpPr>
        <p:spPr>
          <a:xfrm>
            <a:off x="1005840" y="3328416"/>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5" name="Text 13"/>
          <p:cNvSpPr/>
          <p:nvPr/>
        </p:nvSpPr>
        <p:spPr>
          <a:xfrm>
            <a:off x="1737360" y="3264408"/>
            <a:ext cx="9098280" cy="274320"/>
          </a:xfrm>
          <a:prstGeom prst="rect">
            <a:avLst/>
          </a:prstGeom>
          <a:noFill/>
          <a:ln/>
        </p:spPr>
        <p:txBody>
          <a:bodyPr wrap="square" lIns="0" tIns="0" rIns="0" bIns="0" rtlCol="0" anchor="ctr"/>
          <a:lstStyle/>
          <a:p>
            <a:pPr marL="0" indent="0">
              <a:buNone/>
            </a:pPr>
            <a:r>
              <a:rPr lang="en-US" sz="1600" dirty="0">
                <a:solidFill>
                  <a:srgbClr val="172033"/>
                </a:solidFill>
              </a:rPr>
              <a:t>List result components and wage types.</a:t>
            </a:r>
            <a:endParaRPr lang="en-US" sz="1600" dirty="0"/>
          </a:p>
        </p:txBody>
      </p:sp>
      <p:sp>
        <p:nvSpPr>
          <p:cNvPr id="16" name="Shape 14"/>
          <p:cNvSpPr/>
          <p:nvPr/>
        </p:nvSpPr>
        <p:spPr>
          <a:xfrm>
            <a:off x="786384" y="4023360"/>
            <a:ext cx="10561320" cy="685800"/>
          </a:xfrm>
          <a:prstGeom prst="roundRect">
            <a:avLst>
              <a:gd name="adj" fmla="val 10667"/>
            </a:avLst>
          </a:prstGeom>
          <a:solidFill>
            <a:srgbClr val="F0FAF8"/>
          </a:solidFill>
          <a:ln w="12700">
            <a:solidFill>
              <a:srgbClr val="D9E1EA"/>
            </a:solidFill>
            <a:prstDash val="solid"/>
          </a:ln>
        </p:spPr>
      </p:sp>
      <p:sp>
        <p:nvSpPr>
          <p:cNvPr id="17" name="Shape 15"/>
          <p:cNvSpPr/>
          <p:nvPr/>
        </p:nvSpPr>
        <p:spPr>
          <a:xfrm>
            <a:off x="1005840" y="4142232"/>
            <a:ext cx="438912" cy="438912"/>
          </a:xfrm>
          <a:prstGeom prst="ellipse">
            <a:avLst/>
          </a:prstGeom>
          <a:solidFill>
            <a:srgbClr val="15B8A6"/>
          </a:solidFill>
          <a:ln w="12700">
            <a:solidFill>
              <a:srgbClr val="15B8A6"/>
            </a:solidFill>
            <a:prstDash val="solid"/>
          </a:ln>
        </p:spPr>
      </p:sp>
      <p:sp>
        <p:nvSpPr>
          <p:cNvPr id="18" name="Text 16"/>
          <p:cNvSpPr/>
          <p:nvPr/>
        </p:nvSpPr>
        <p:spPr>
          <a:xfrm>
            <a:off x="1005840" y="4261104"/>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19" name="Text 17"/>
          <p:cNvSpPr/>
          <p:nvPr/>
        </p:nvSpPr>
        <p:spPr>
          <a:xfrm>
            <a:off x="1737360" y="4197096"/>
            <a:ext cx="9098280" cy="274320"/>
          </a:xfrm>
          <a:prstGeom prst="rect">
            <a:avLst/>
          </a:prstGeom>
          <a:noFill/>
          <a:ln/>
        </p:spPr>
        <p:txBody>
          <a:bodyPr wrap="square" lIns="0" tIns="0" rIns="0" bIns="0" rtlCol="0" anchor="ctr"/>
          <a:lstStyle/>
          <a:p>
            <a:pPr marL="0" indent="0">
              <a:buNone/>
            </a:pPr>
            <a:r>
              <a:rPr lang="en-US" sz="1600" dirty="0">
                <a:solidFill>
                  <a:srgbClr val="172033"/>
                </a:solidFill>
              </a:rPr>
              <a:t>Define retro-result choice.</a:t>
            </a:r>
            <a:endParaRPr lang="en-US" sz="1600" dirty="0"/>
          </a:p>
        </p:txBody>
      </p:sp>
      <p:sp>
        <p:nvSpPr>
          <p:cNvPr id="20" name="Shape 18"/>
          <p:cNvSpPr/>
          <p:nvPr/>
        </p:nvSpPr>
        <p:spPr>
          <a:xfrm>
            <a:off x="786384" y="4956048"/>
            <a:ext cx="10561320" cy="685800"/>
          </a:xfrm>
          <a:prstGeom prst="roundRect">
            <a:avLst>
              <a:gd name="adj" fmla="val 10667"/>
            </a:avLst>
          </a:prstGeom>
          <a:solidFill>
            <a:srgbClr val="FFFFFF"/>
          </a:solidFill>
          <a:ln w="12700">
            <a:solidFill>
              <a:srgbClr val="D9E1EA"/>
            </a:solidFill>
            <a:prstDash val="solid"/>
          </a:ln>
        </p:spPr>
      </p:sp>
      <p:sp>
        <p:nvSpPr>
          <p:cNvPr id="21" name="Shape 19"/>
          <p:cNvSpPr/>
          <p:nvPr/>
        </p:nvSpPr>
        <p:spPr>
          <a:xfrm>
            <a:off x="1005840" y="5074920"/>
            <a:ext cx="438912" cy="438912"/>
          </a:xfrm>
          <a:prstGeom prst="ellipse">
            <a:avLst/>
          </a:prstGeom>
          <a:solidFill>
            <a:srgbClr val="F59E0B"/>
          </a:solidFill>
          <a:ln w="12700">
            <a:solidFill>
              <a:srgbClr val="F59E0B"/>
            </a:solidFill>
            <a:prstDash val="solid"/>
          </a:ln>
        </p:spPr>
      </p:sp>
      <p:sp>
        <p:nvSpPr>
          <p:cNvPr id="22" name="Text 20"/>
          <p:cNvSpPr/>
          <p:nvPr/>
        </p:nvSpPr>
        <p:spPr>
          <a:xfrm>
            <a:off x="1005840" y="5193792"/>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23" name="Text 21"/>
          <p:cNvSpPr/>
          <p:nvPr/>
        </p:nvSpPr>
        <p:spPr>
          <a:xfrm>
            <a:off x="1737360" y="5129784"/>
            <a:ext cx="9098280" cy="274320"/>
          </a:xfrm>
          <a:prstGeom prst="rect">
            <a:avLst/>
          </a:prstGeom>
          <a:noFill/>
          <a:ln/>
        </p:spPr>
        <p:txBody>
          <a:bodyPr wrap="square" lIns="0" tIns="0" rIns="0" bIns="0" rtlCol="0" anchor="ctr"/>
          <a:lstStyle/>
          <a:p>
            <a:pPr marL="0" indent="0">
              <a:buNone/>
            </a:pPr>
            <a:r>
              <a:rPr lang="en-US" sz="1600" dirty="0">
                <a:solidFill>
                  <a:srgbClr val="172033"/>
                </a:solidFill>
              </a:rPr>
              <a:t>Request standard APIs and tests.</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11: Model answer</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Use this as a reference, then replace placeholders with verified system details.</a:t>
            </a:r>
            <a:endParaRPr lang="en-US" sz="1150" dirty="0"/>
          </a:p>
        </p:txBody>
      </p:sp>
      <p:sp>
        <p:nvSpPr>
          <p:cNvPr id="4" name="Shape 2"/>
          <p:cNvSpPr/>
          <p:nvPr/>
        </p:nvSpPr>
        <p:spPr>
          <a:xfrm>
            <a:off x="713232" y="1207008"/>
            <a:ext cx="10972800" cy="5010912"/>
          </a:xfrm>
          <a:prstGeom prst="roundRect">
            <a:avLst>
              <a:gd name="adj" fmla="val 1460"/>
            </a:avLst>
          </a:prstGeom>
          <a:solidFill>
            <a:srgbClr val="10263B"/>
          </a:solidFill>
          <a:ln w="12700">
            <a:solidFill>
              <a:srgbClr val="284B66"/>
            </a:solidFill>
            <a:prstDash val="solid"/>
          </a:ln>
        </p:spPr>
      </p:sp>
      <p:sp>
        <p:nvSpPr>
          <p:cNvPr id="5" name="Text 3"/>
          <p:cNvSpPr/>
          <p:nvPr/>
        </p:nvSpPr>
        <p:spPr>
          <a:xfrm>
            <a:off x="877824" y="1344168"/>
            <a:ext cx="10643616" cy="4736592"/>
          </a:xfrm>
          <a:prstGeom prst="rect">
            <a:avLst/>
          </a:prstGeom>
          <a:noFill/>
          <a:ln/>
        </p:spPr>
        <p:txBody>
          <a:bodyPr wrap="square" lIns="254" tIns="254" rIns="254" bIns="254" rtlCol="0" anchor="ctr">
            <a:normAutofit/>
          </a:bodyPr>
          <a:lstStyle/>
          <a:p>
            <a:pPr marL="0" indent="0">
              <a:buNone/>
            </a:pPr>
            <a:r>
              <a:rPr lang="en-US" sz="1250" dirty="0">
                <a:solidFill>
                  <a:srgbClr val="EDF6FC"/>
                </a:solidFill>
                <a:latin typeface="Consolas" pitchFamily="34" charset="0"/>
                <a:ea typeface="Consolas" pitchFamily="34" charset="-122"/>
                <a:cs typeface="Consolas" pitchFamily="34" charset="-120"/>
              </a:rPr>
              <a:t>Act as an SAP Payroll ABAP expert for [country]. Read payroll results for S_PERNR and the specified payroll period. Extract [RT/CRT/WPBP] data for wage types [list]. Define whether the current result, original result or a specified sequence is required when retro results exist. Handle missing results and multiple results explicitly. Use approved standard payroll APIs where appropriate, but do not invent function modules or structures. Provide executable code, assumptions, and tests for current result, retro result, missing result and an employee with no selected wage types.</a:t>
            </a:r>
            <a:endParaRPr lang="en-US" sz="125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12: Trace a blank statutory-output field</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Level: Debugging</a:t>
            </a:r>
            <a:endParaRPr lang="en-US" sz="1150" dirty="0"/>
          </a:p>
        </p:txBody>
      </p:sp>
      <p:sp>
        <p:nvSpPr>
          <p:cNvPr id="4" name="Shape 2"/>
          <p:cNvSpPr/>
          <p:nvPr/>
        </p:nvSpPr>
        <p:spPr>
          <a:xfrm>
            <a:off x="685800" y="1234440"/>
            <a:ext cx="3703320" cy="4800600"/>
          </a:xfrm>
          <a:prstGeom prst="roundRect">
            <a:avLst>
              <a:gd name="adj" fmla="val 1975"/>
            </a:avLst>
          </a:prstGeom>
          <a:solidFill>
            <a:srgbClr val="EEF5FB"/>
          </a:solidFill>
          <a:ln w="12700">
            <a:solidFill>
              <a:srgbClr val="D9E1EA"/>
            </a:solidFill>
            <a:prstDash val="solid"/>
          </a:ln>
        </p:spPr>
      </p:sp>
      <p:sp>
        <p:nvSpPr>
          <p:cNvPr id="5" name="Shape 3"/>
          <p:cNvSpPr/>
          <p:nvPr/>
        </p:nvSpPr>
        <p:spPr>
          <a:xfrm>
            <a:off x="932688" y="1508760"/>
            <a:ext cx="1143000" cy="310896"/>
          </a:xfrm>
          <a:prstGeom prst="roundRect">
            <a:avLst>
              <a:gd name="adj" fmla="val 23529"/>
            </a:avLst>
          </a:prstGeom>
          <a:solidFill>
            <a:srgbClr val="0B5CAD"/>
          </a:solidFill>
          <a:ln w="12700">
            <a:solidFill>
              <a:srgbClr val="0B5CAD"/>
            </a:solidFill>
            <a:prstDash val="solid"/>
          </a:ln>
        </p:spPr>
      </p:sp>
      <p:sp>
        <p:nvSpPr>
          <p:cNvPr id="6" name="Text 4"/>
          <p:cNvSpPr/>
          <p:nvPr/>
        </p:nvSpPr>
        <p:spPr>
          <a:xfrm>
            <a:off x="978408" y="1577340"/>
            <a:ext cx="1051560" cy="164592"/>
          </a:xfrm>
          <a:prstGeom prst="rect">
            <a:avLst/>
          </a:prstGeom>
          <a:noFill/>
          <a:ln/>
        </p:spPr>
        <p:txBody>
          <a:bodyPr wrap="square" lIns="0" tIns="0" rIns="0" bIns="0" rtlCol="0" anchor="ctr"/>
          <a:lstStyle/>
          <a:p>
            <a:pPr marL="0" indent="0" algn="ctr">
              <a:buNone/>
            </a:pPr>
            <a:r>
              <a:rPr lang="en-US" sz="900" b="1" dirty="0">
                <a:solidFill>
                  <a:srgbClr val="FFFFFF"/>
                </a:solidFill>
              </a:rPr>
              <a:t>SCENARIO</a:t>
            </a:r>
            <a:endParaRPr lang="en-US" sz="900" dirty="0"/>
          </a:p>
        </p:txBody>
      </p:sp>
      <p:sp>
        <p:nvSpPr>
          <p:cNvPr id="7" name="Text 5"/>
          <p:cNvSpPr/>
          <p:nvPr/>
        </p:nvSpPr>
        <p:spPr>
          <a:xfrm>
            <a:off x="960120" y="2148840"/>
            <a:ext cx="3154680" cy="2057400"/>
          </a:xfrm>
          <a:prstGeom prst="rect">
            <a:avLst/>
          </a:prstGeom>
          <a:noFill/>
          <a:ln/>
        </p:spPr>
        <p:txBody>
          <a:bodyPr wrap="square" lIns="0" tIns="0" rIns="0" bIns="0" rtlCol="0" anchor="ctr"/>
          <a:lstStyle/>
          <a:p>
            <a:pPr marL="0" indent="0" algn="ctr">
              <a:buNone/>
            </a:pPr>
            <a:r>
              <a:rPr lang="en-US" sz="1700" b="1" dirty="0">
                <a:solidFill>
                  <a:srgbClr val="172033"/>
                </a:solidFill>
              </a:rPr>
              <a:t>A field in a country-specific statutory report is blank for one employee but populated for another.</a:t>
            </a:r>
            <a:endParaRPr lang="en-US" sz="1700" dirty="0"/>
          </a:p>
        </p:txBody>
      </p:sp>
      <p:sp>
        <p:nvSpPr>
          <p:cNvPr id="8" name="Shape 6"/>
          <p:cNvSpPr/>
          <p:nvPr/>
        </p:nvSpPr>
        <p:spPr>
          <a:xfrm>
            <a:off x="4590288" y="1234440"/>
            <a:ext cx="6903720" cy="4800600"/>
          </a:xfrm>
          <a:prstGeom prst="roundRect">
            <a:avLst>
              <a:gd name="adj" fmla="val 1524"/>
            </a:avLst>
          </a:prstGeom>
          <a:solidFill>
            <a:srgbClr val="FFF9ED"/>
          </a:solidFill>
          <a:ln w="12700">
            <a:solidFill>
              <a:srgbClr val="F2D89C"/>
            </a:solidFill>
            <a:prstDash val="solid"/>
          </a:ln>
        </p:spPr>
      </p:sp>
      <p:sp>
        <p:nvSpPr>
          <p:cNvPr id="9" name="Shape 7"/>
          <p:cNvSpPr/>
          <p:nvPr/>
        </p:nvSpPr>
        <p:spPr>
          <a:xfrm>
            <a:off x="4873752" y="1508760"/>
            <a:ext cx="1188720" cy="310896"/>
          </a:xfrm>
          <a:prstGeom prst="roundRect">
            <a:avLst>
              <a:gd name="adj" fmla="val 23529"/>
            </a:avLst>
          </a:prstGeom>
          <a:solidFill>
            <a:srgbClr val="F59E0B"/>
          </a:solidFill>
          <a:ln w="12700">
            <a:solidFill>
              <a:srgbClr val="F59E0B"/>
            </a:solidFill>
            <a:prstDash val="solid"/>
          </a:ln>
        </p:spPr>
      </p:sp>
      <p:sp>
        <p:nvSpPr>
          <p:cNvPr id="10" name="Text 8"/>
          <p:cNvSpPr/>
          <p:nvPr/>
        </p:nvSpPr>
        <p:spPr>
          <a:xfrm>
            <a:off x="4919472" y="1577340"/>
            <a:ext cx="1097280" cy="164592"/>
          </a:xfrm>
          <a:prstGeom prst="rect">
            <a:avLst/>
          </a:prstGeom>
          <a:noFill/>
          <a:ln/>
        </p:spPr>
        <p:txBody>
          <a:bodyPr wrap="square" lIns="0" tIns="0" rIns="0" bIns="0" rtlCol="0" anchor="ctr"/>
          <a:lstStyle/>
          <a:p>
            <a:pPr marL="0" indent="0" algn="ctr">
              <a:buNone/>
            </a:pPr>
            <a:r>
              <a:rPr lang="en-US" sz="900" b="1" dirty="0">
                <a:solidFill>
                  <a:srgbClr val="FFFFFF"/>
                </a:solidFill>
              </a:rPr>
              <a:t>YOUR TASK</a:t>
            </a:r>
            <a:endParaRPr lang="en-US" sz="900" dirty="0"/>
          </a:p>
        </p:txBody>
      </p:sp>
      <p:sp>
        <p:nvSpPr>
          <p:cNvPr id="11" name="Shape 9"/>
          <p:cNvSpPr/>
          <p:nvPr/>
        </p:nvSpPr>
        <p:spPr>
          <a:xfrm>
            <a:off x="4937760" y="2313432"/>
            <a:ext cx="192024" cy="192024"/>
          </a:xfrm>
          <a:prstGeom prst="ellipse">
            <a:avLst/>
          </a:prstGeom>
          <a:solidFill>
            <a:srgbClr val="15B8A6"/>
          </a:solidFill>
          <a:ln w="12700">
            <a:solidFill>
              <a:srgbClr val="15B8A6"/>
            </a:solidFill>
            <a:prstDash val="solid"/>
          </a:ln>
        </p:spPr>
      </p:sp>
      <p:sp>
        <p:nvSpPr>
          <p:cNvPr id="12" name="Text 10"/>
          <p:cNvSpPr/>
          <p:nvPr/>
        </p:nvSpPr>
        <p:spPr>
          <a:xfrm>
            <a:off x="5266944" y="224028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Build a source-to-target trace.</a:t>
            </a:r>
            <a:endParaRPr lang="en-US" sz="1600" dirty="0"/>
          </a:p>
        </p:txBody>
      </p:sp>
      <p:sp>
        <p:nvSpPr>
          <p:cNvPr id="13" name="Shape 11"/>
          <p:cNvSpPr/>
          <p:nvPr/>
        </p:nvSpPr>
        <p:spPr>
          <a:xfrm>
            <a:off x="4937760" y="3136392"/>
            <a:ext cx="192024" cy="192024"/>
          </a:xfrm>
          <a:prstGeom prst="ellipse">
            <a:avLst/>
          </a:prstGeom>
          <a:solidFill>
            <a:srgbClr val="15B8A6"/>
          </a:solidFill>
          <a:ln w="12700">
            <a:solidFill>
              <a:srgbClr val="15B8A6"/>
            </a:solidFill>
            <a:prstDash val="solid"/>
          </a:ln>
        </p:spPr>
      </p:sp>
      <p:sp>
        <p:nvSpPr>
          <p:cNvPr id="14" name="Text 12"/>
          <p:cNvSpPr/>
          <p:nvPr/>
        </p:nvSpPr>
        <p:spPr>
          <a:xfrm>
            <a:off x="5266944" y="306324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Use comparative debugging.</a:t>
            </a:r>
            <a:endParaRPr lang="en-US" sz="1600" dirty="0"/>
          </a:p>
        </p:txBody>
      </p:sp>
      <p:sp>
        <p:nvSpPr>
          <p:cNvPr id="15" name="Shape 13"/>
          <p:cNvSpPr/>
          <p:nvPr/>
        </p:nvSpPr>
        <p:spPr>
          <a:xfrm>
            <a:off x="4937760" y="3959352"/>
            <a:ext cx="192024" cy="192024"/>
          </a:xfrm>
          <a:prstGeom prst="ellipse">
            <a:avLst/>
          </a:prstGeom>
          <a:solidFill>
            <a:srgbClr val="15B8A6"/>
          </a:solidFill>
          <a:ln w="12700">
            <a:solidFill>
              <a:srgbClr val="15B8A6"/>
            </a:solidFill>
            <a:prstDash val="solid"/>
          </a:ln>
        </p:spPr>
      </p:sp>
      <p:sp>
        <p:nvSpPr>
          <p:cNvPr id="16" name="Text 14"/>
          <p:cNvSpPr/>
          <p:nvPr/>
        </p:nvSpPr>
        <p:spPr>
          <a:xfrm>
            <a:off x="5266944" y="388620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Separate evidence from hypotheses.</a:t>
            </a:r>
            <a:endParaRPr lang="en-US" sz="1600" dirty="0"/>
          </a:p>
        </p:txBody>
      </p:sp>
      <p:sp>
        <p:nvSpPr>
          <p:cNvPr id="17" name="Text 15"/>
          <p:cNvSpPr/>
          <p:nvPr/>
        </p:nvSpPr>
        <p:spPr>
          <a:xfrm>
            <a:off x="4983480" y="5166360"/>
            <a:ext cx="5852160" cy="411480"/>
          </a:xfrm>
          <a:prstGeom prst="rect">
            <a:avLst/>
          </a:prstGeom>
          <a:noFill/>
          <a:ln/>
        </p:spPr>
        <p:txBody>
          <a:bodyPr wrap="square" lIns="0" tIns="0" rIns="0" bIns="0" rtlCol="0" anchor="ctr"/>
          <a:lstStyle/>
          <a:p>
            <a:pPr marL="0" indent="0" algn="ctr">
              <a:buNone/>
            </a:pPr>
            <a:r>
              <a:rPr lang="en-US" sz="1400" b="1" dirty="0">
                <a:solidFill>
                  <a:srgbClr val="D14343"/>
                </a:solidFill>
              </a:rPr>
              <a:t>Pause here and create your answer before moving to the next slide.</a:t>
            </a:r>
            <a:endParaRPr lang="en-US" sz="14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12: Guided steps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Build the answer one decision at a time.</a:t>
            </a:r>
            <a:endParaRPr lang="en-US" sz="1150" dirty="0"/>
          </a:p>
        </p:txBody>
      </p:sp>
      <p:sp>
        <p:nvSpPr>
          <p:cNvPr id="4" name="Shape 2"/>
          <p:cNvSpPr/>
          <p:nvPr/>
        </p:nvSpPr>
        <p:spPr>
          <a:xfrm>
            <a:off x="786384" y="1225296"/>
            <a:ext cx="10561320" cy="685800"/>
          </a:xfrm>
          <a:prstGeom prst="roundRect">
            <a:avLst>
              <a:gd name="adj" fmla="val 10667"/>
            </a:avLst>
          </a:prstGeom>
          <a:solidFill>
            <a:srgbClr val="FFFFFF"/>
          </a:solidFill>
          <a:ln w="12700">
            <a:solidFill>
              <a:srgbClr val="D9E1EA"/>
            </a:solidFill>
            <a:prstDash val="solid"/>
          </a:ln>
        </p:spPr>
      </p:sp>
      <p:sp>
        <p:nvSpPr>
          <p:cNvPr id="5" name="Shape 3"/>
          <p:cNvSpPr/>
          <p:nvPr/>
        </p:nvSpPr>
        <p:spPr>
          <a:xfrm>
            <a:off x="1005840" y="1344168"/>
            <a:ext cx="438912" cy="438912"/>
          </a:xfrm>
          <a:prstGeom prst="ellipse">
            <a:avLst/>
          </a:prstGeom>
          <a:solidFill>
            <a:srgbClr val="15B8A6"/>
          </a:solidFill>
          <a:ln w="12700">
            <a:solidFill>
              <a:srgbClr val="15B8A6"/>
            </a:solidFill>
            <a:prstDash val="solid"/>
          </a:ln>
        </p:spPr>
      </p:sp>
      <p:sp>
        <p:nvSpPr>
          <p:cNvPr id="6" name="Text 4"/>
          <p:cNvSpPr/>
          <p:nvPr/>
        </p:nvSpPr>
        <p:spPr>
          <a:xfrm>
            <a:off x="1005840" y="1463040"/>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7" name="Text 5"/>
          <p:cNvSpPr/>
          <p:nvPr/>
        </p:nvSpPr>
        <p:spPr>
          <a:xfrm>
            <a:off x="1737360" y="1399032"/>
            <a:ext cx="9098280" cy="274320"/>
          </a:xfrm>
          <a:prstGeom prst="rect">
            <a:avLst/>
          </a:prstGeom>
          <a:noFill/>
          <a:ln/>
        </p:spPr>
        <p:txBody>
          <a:bodyPr wrap="square" lIns="0" tIns="0" rIns="0" bIns="0" rtlCol="0" anchor="ctr"/>
          <a:lstStyle/>
          <a:p>
            <a:pPr marL="0" indent="0">
              <a:buNone/>
            </a:pPr>
            <a:r>
              <a:rPr lang="en-US" sz="1600" dirty="0">
                <a:solidFill>
                  <a:srgbClr val="172033"/>
                </a:solidFill>
              </a:rPr>
              <a:t>Identify the report entry point.</a:t>
            </a:r>
            <a:endParaRPr lang="en-US" sz="1600" dirty="0"/>
          </a:p>
        </p:txBody>
      </p:sp>
      <p:sp>
        <p:nvSpPr>
          <p:cNvPr id="8" name="Shape 6"/>
          <p:cNvSpPr/>
          <p:nvPr/>
        </p:nvSpPr>
        <p:spPr>
          <a:xfrm>
            <a:off x="786384" y="2157984"/>
            <a:ext cx="10561320" cy="685800"/>
          </a:xfrm>
          <a:prstGeom prst="roundRect">
            <a:avLst>
              <a:gd name="adj" fmla="val 10667"/>
            </a:avLst>
          </a:prstGeom>
          <a:solidFill>
            <a:srgbClr val="F0FAF8"/>
          </a:solidFill>
          <a:ln w="12700">
            <a:solidFill>
              <a:srgbClr val="D9E1EA"/>
            </a:solidFill>
            <a:prstDash val="solid"/>
          </a:ln>
        </p:spPr>
      </p:sp>
      <p:sp>
        <p:nvSpPr>
          <p:cNvPr id="9" name="Shape 7"/>
          <p:cNvSpPr/>
          <p:nvPr/>
        </p:nvSpPr>
        <p:spPr>
          <a:xfrm>
            <a:off x="1005840" y="2276856"/>
            <a:ext cx="438912" cy="438912"/>
          </a:xfrm>
          <a:prstGeom prst="ellipse">
            <a:avLst/>
          </a:prstGeom>
          <a:solidFill>
            <a:srgbClr val="15B8A6"/>
          </a:solidFill>
          <a:ln w="12700">
            <a:solidFill>
              <a:srgbClr val="15B8A6"/>
            </a:solidFill>
            <a:prstDash val="solid"/>
          </a:ln>
        </p:spPr>
      </p:sp>
      <p:sp>
        <p:nvSpPr>
          <p:cNvPr id="10" name="Text 8"/>
          <p:cNvSpPr/>
          <p:nvPr/>
        </p:nvSpPr>
        <p:spPr>
          <a:xfrm>
            <a:off x="1005840" y="2395728"/>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1" name="Text 9"/>
          <p:cNvSpPr/>
          <p:nvPr/>
        </p:nvSpPr>
        <p:spPr>
          <a:xfrm>
            <a:off x="1737360" y="2331720"/>
            <a:ext cx="9098280" cy="274320"/>
          </a:xfrm>
          <a:prstGeom prst="rect">
            <a:avLst/>
          </a:prstGeom>
          <a:noFill/>
          <a:ln/>
        </p:spPr>
        <p:txBody>
          <a:bodyPr wrap="square" lIns="0" tIns="0" rIns="0" bIns="0" rtlCol="0" anchor="ctr"/>
          <a:lstStyle/>
          <a:p>
            <a:pPr marL="0" indent="0">
              <a:buNone/>
            </a:pPr>
            <a:r>
              <a:rPr lang="en-US" sz="1600" dirty="0">
                <a:solidFill>
                  <a:srgbClr val="172033"/>
                </a:solidFill>
              </a:rPr>
              <a:t>Locate target-field assignments.</a:t>
            </a:r>
            <a:endParaRPr lang="en-US" sz="1600" dirty="0"/>
          </a:p>
        </p:txBody>
      </p:sp>
      <p:sp>
        <p:nvSpPr>
          <p:cNvPr id="12" name="Shape 10"/>
          <p:cNvSpPr/>
          <p:nvPr/>
        </p:nvSpPr>
        <p:spPr>
          <a:xfrm>
            <a:off x="786384" y="3090672"/>
            <a:ext cx="10561320" cy="685800"/>
          </a:xfrm>
          <a:prstGeom prst="roundRect">
            <a:avLst>
              <a:gd name="adj" fmla="val 10667"/>
            </a:avLst>
          </a:prstGeom>
          <a:solidFill>
            <a:srgbClr val="FFFFFF"/>
          </a:solidFill>
          <a:ln w="12700">
            <a:solidFill>
              <a:srgbClr val="D9E1EA"/>
            </a:solidFill>
            <a:prstDash val="solid"/>
          </a:ln>
        </p:spPr>
      </p:sp>
      <p:sp>
        <p:nvSpPr>
          <p:cNvPr id="13" name="Shape 11"/>
          <p:cNvSpPr/>
          <p:nvPr/>
        </p:nvSpPr>
        <p:spPr>
          <a:xfrm>
            <a:off x="1005840" y="3209544"/>
            <a:ext cx="438912" cy="438912"/>
          </a:xfrm>
          <a:prstGeom prst="ellipse">
            <a:avLst/>
          </a:prstGeom>
          <a:solidFill>
            <a:srgbClr val="15B8A6"/>
          </a:solidFill>
          <a:ln w="12700">
            <a:solidFill>
              <a:srgbClr val="15B8A6"/>
            </a:solidFill>
            <a:prstDash val="solid"/>
          </a:ln>
        </p:spPr>
      </p:sp>
      <p:sp>
        <p:nvSpPr>
          <p:cNvPr id="14" name="Text 12"/>
          <p:cNvSpPr/>
          <p:nvPr/>
        </p:nvSpPr>
        <p:spPr>
          <a:xfrm>
            <a:off x="1005840" y="3328416"/>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5" name="Text 13"/>
          <p:cNvSpPr/>
          <p:nvPr/>
        </p:nvSpPr>
        <p:spPr>
          <a:xfrm>
            <a:off x="1737360" y="3264408"/>
            <a:ext cx="9098280" cy="274320"/>
          </a:xfrm>
          <a:prstGeom prst="rect">
            <a:avLst/>
          </a:prstGeom>
          <a:noFill/>
          <a:ln/>
        </p:spPr>
        <p:txBody>
          <a:bodyPr wrap="square" lIns="0" tIns="0" rIns="0" bIns="0" rtlCol="0" anchor="ctr"/>
          <a:lstStyle/>
          <a:p>
            <a:pPr marL="0" indent="0">
              <a:buNone/>
            </a:pPr>
            <a:r>
              <a:rPr lang="en-US" sz="1600" dirty="0">
                <a:solidFill>
                  <a:srgbClr val="172033"/>
                </a:solidFill>
              </a:rPr>
              <a:t>Trace intermediate structures.</a:t>
            </a:r>
            <a:endParaRPr lang="en-US" sz="1600" dirty="0"/>
          </a:p>
        </p:txBody>
      </p:sp>
      <p:sp>
        <p:nvSpPr>
          <p:cNvPr id="16" name="Shape 14"/>
          <p:cNvSpPr/>
          <p:nvPr/>
        </p:nvSpPr>
        <p:spPr>
          <a:xfrm>
            <a:off x="786384" y="4023360"/>
            <a:ext cx="10561320" cy="685800"/>
          </a:xfrm>
          <a:prstGeom prst="roundRect">
            <a:avLst>
              <a:gd name="adj" fmla="val 10667"/>
            </a:avLst>
          </a:prstGeom>
          <a:solidFill>
            <a:srgbClr val="F0FAF8"/>
          </a:solidFill>
          <a:ln w="12700">
            <a:solidFill>
              <a:srgbClr val="D9E1EA"/>
            </a:solidFill>
            <a:prstDash val="solid"/>
          </a:ln>
        </p:spPr>
      </p:sp>
      <p:sp>
        <p:nvSpPr>
          <p:cNvPr id="17" name="Shape 15"/>
          <p:cNvSpPr/>
          <p:nvPr/>
        </p:nvSpPr>
        <p:spPr>
          <a:xfrm>
            <a:off x="1005840" y="4142232"/>
            <a:ext cx="438912" cy="438912"/>
          </a:xfrm>
          <a:prstGeom prst="ellipse">
            <a:avLst/>
          </a:prstGeom>
          <a:solidFill>
            <a:srgbClr val="15B8A6"/>
          </a:solidFill>
          <a:ln w="12700">
            <a:solidFill>
              <a:srgbClr val="15B8A6"/>
            </a:solidFill>
            <a:prstDash val="solid"/>
          </a:ln>
        </p:spPr>
      </p:sp>
      <p:sp>
        <p:nvSpPr>
          <p:cNvPr id="18" name="Text 16"/>
          <p:cNvSpPr/>
          <p:nvPr/>
        </p:nvSpPr>
        <p:spPr>
          <a:xfrm>
            <a:off x="1005840" y="4261104"/>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19" name="Text 17"/>
          <p:cNvSpPr/>
          <p:nvPr/>
        </p:nvSpPr>
        <p:spPr>
          <a:xfrm>
            <a:off x="1737360" y="4197096"/>
            <a:ext cx="9098280" cy="274320"/>
          </a:xfrm>
          <a:prstGeom prst="rect">
            <a:avLst/>
          </a:prstGeom>
          <a:noFill/>
          <a:ln/>
        </p:spPr>
        <p:txBody>
          <a:bodyPr wrap="square" lIns="0" tIns="0" rIns="0" bIns="0" rtlCol="0" anchor="ctr"/>
          <a:lstStyle/>
          <a:p>
            <a:pPr marL="0" indent="0">
              <a:buNone/>
            </a:pPr>
            <a:r>
              <a:rPr lang="en-US" sz="1600" dirty="0">
                <a:solidFill>
                  <a:srgbClr val="172033"/>
                </a:solidFill>
              </a:rPr>
              <a:t>Compare source data and configuration.</a:t>
            </a:r>
            <a:endParaRPr lang="en-US" sz="1600" dirty="0"/>
          </a:p>
        </p:txBody>
      </p:sp>
      <p:sp>
        <p:nvSpPr>
          <p:cNvPr id="20" name="Shape 18"/>
          <p:cNvSpPr/>
          <p:nvPr/>
        </p:nvSpPr>
        <p:spPr>
          <a:xfrm>
            <a:off x="786384" y="4956048"/>
            <a:ext cx="10561320" cy="685800"/>
          </a:xfrm>
          <a:prstGeom prst="roundRect">
            <a:avLst>
              <a:gd name="adj" fmla="val 10667"/>
            </a:avLst>
          </a:prstGeom>
          <a:solidFill>
            <a:srgbClr val="FFFFFF"/>
          </a:solidFill>
          <a:ln w="12700">
            <a:solidFill>
              <a:srgbClr val="D9E1EA"/>
            </a:solidFill>
            <a:prstDash val="solid"/>
          </a:ln>
        </p:spPr>
      </p:sp>
      <p:sp>
        <p:nvSpPr>
          <p:cNvPr id="21" name="Shape 19"/>
          <p:cNvSpPr/>
          <p:nvPr/>
        </p:nvSpPr>
        <p:spPr>
          <a:xfrm>
            <a:off x="1005840" y="5074920"/>
            <a:ext cx="438912" cy="438912"/>
          </a:xfrm>
          <a:prstGeom prst="ellipse">
            <a:avLst/>
          </a:prstGeom>
          <a:solidFill>
            <a:srgbClr val="F59E0B"/>
          </a:solidFill>
          <a:ln w="12700">
            <a:solidFill>
              <a:srgbClr val="F59E0B"/>
            </a:solidFill>
            <a:prstDash val="solid"/>
          </a:ln>
        </p:spPr>
      </p:sp>
      <p:sp>
        <p:nvSpPr>
          <p:cNvPr id="22" name="Text 20"/>
          <p:cNvSpPr/>
          <p:nvPr/>
        </p:nvSpPr>
        <p:spPr>
          <a:xfrm>
            <a:off x="1005840" y="5193792"/>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23" name="Text 21"/>
          <p:cNvSpPr/>
          <p:nvPr/>
        </p:nvSpPr>
        <p:spPr>
          <a:xfrm>
            <a:off x="1737360" y="5129784"/>
            <a:ext cx="9098280" cy="274320"/>
          </a:xfrm>
          <a:prstGeom prst="rect">
            <a:avLst/>
          </a:prstGeom>
          <a:noFill/>
          <a:ln/>
        </p:spPr>
        <p:txBody>
          <a:bodyPr wrap="square" lIns="0" tIns="0" rIns="0" bIns="0" rtlCol="0" anchor="ctr"/>
          <a:lstStyle/>
          <a:p>
            <a:pPr marL="0" indent="0">
              <a:buNone/>
            </a:pPr>
            <a:r>
              <a:rPr lang="en-US" sz="1600" dirty="0">
                <a:solidFill>
                  <a:srgbClr val="172033"/>
                </a:solidFill>
              </a:rPr>
              <a:t>Check enhancements and final mapping.</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12: Model answer</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Use this as a reference, then replace placeholders with verified system details.</a:t>
            </a:r>
            <a:endParaRPr lang="en-US" sz="1150" dirty="0"/>
          </a:p>
        </p:txBody>
      </p:sp>
      <p:sp>
        <p:nvSpPr>
          <p:cNvPr id="4" name="Shape 2"/>
          <p:cNvSpPr/>
          <p:nvPr/>
        </p:nvSpPr>
        <p:spPr>
          <a:xfrm>
            <a:off x="713232" y="1207008"/>
            <a:ext cx="10972800" cy="5010912"/>
          </a:xfrm>
          <a:prstGeom prst="roundRect">
            <a:avLst>
              <a:gd name="adj" fmla="val 1460"/>
            </a:avLst>
          </a:prstGeom>
          <a:solidFill>
            <a:srgbClr val="10263B"/>
          </a:solidFill>
          <a:ln w="12700">
            <a:solidFill>
              <a:srgbClr val="284B66"/>
            </a:solidFill>
            <a:prstDash val="solid"/>
          </a:ln>
        </p:spPr>
      </p:sp>
      <p:sp>
        <p:nvSpPr>
          <p:cNvPr id="5" name="Text 3"/>
          <p:cNvSpPr/>
          <p:nvPr/>
        </p:nvSpPr>
        <p:spPr>
          <a:xfrm>
            <a:off x="877824" y="1344168"/>
            <a:ext cx="10643616" cy="4736592"/>
          </a:xfrm>
          <a:prstGeom prst="rect">
            <a:avLst/>
          </a:prstGeom>
          <a:noFill/>
          <a:ln/>
        </p:spPr>
        <p:txBody>
          <a:bodyPr wrap="square" lIns="254" tIns="254" rIns="254" bIns="254" rtlCol="0" anchor="ctr">
            <a:normAutofit/>
          </a:bodyPr>
          <a:lstStyle/>
          <a:p>
            <a:pPr marL="0" indent="0">
              <a:buNone/>
            </a:pPr>
            <a:r>
              <a:rPr lang="en-US" sz="1250" dirty="0">
                <a:solidFill>
                  <a:srgbClr val="EDF6FC"/>
                </a:solidFill>
                <a:latin typeface="Consolas" pitchFamily="34" charset="0"/>
                <a:ea typeface="Consolas" pitchFamily="34" charset="-122"/>
                <a:cs typeface="Consolas" pitchFamily="34" charset="-120"/>
              </a:rPr>
              <a:t>Act as an SAP HCM country-payroll debugging expert. In [report], trace where [field] should be populated. Identify the processing entry, FORM/method/function module, target-field assignments, intermediate structures, source infotype/payroll result/configuration and enhancements. Recommend breakpoints and a watchpoint on the target field. Compare one working and one failing employee for the same relevant period. Label each finding as confirmed, likely or requiring system verification. Do not invent SAP objects.</a:t>
            </a:r>
            <a:endParaRPr lang="en-US" sz="125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13: Create a code-review prompt</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Level: Quality</a:t>
            </a:r>
            <a:endParaRPr lang="en-US" sz="1150" dirty="0"/>
          </a:p>
        </p:txBody>
      </p:sp>
      <p:sp>
        <p:nvSpPr>
          <p:cNvPr id="4" name="Shape 2"/>
          <p:cNvSpPr/>
          <p:nvPr/>
        </p:nvSpPr>
        <p:spPr>
          <a:xfrm>
            <a:off x="685800" y="1234440"/>
            <a:ext cx="3703320" cy="4800600"/>
          </a:xfrm>
          <a:prstGeom prst="roundRect">
            <a:avLst>
              <a:gd name="adj" fmla="val 1975"/>
            </a:avLst>
          </a:prstGeom>
          <a:solidFill>
            <a:srgbClr val="EEF5FB"/>
          </a:solidFill>
          <a:ln w="12700">
            <a:solidFill>
              <a:srgbClr val="D9E1EA"/>
            </a:solidFill>
            <a:prstDash val="solid"/>
          </a:ln>
        </p:spPr>
      </p:sp>
      <p:sp>
        <p:nvSpPr>
          <p:cNvPr id="5" name="Shape 3"/>
          <p:cNvSpPr/>
          <p:nvPr/>
        </p:nvSpPr>
        <p:spPr>
          <a:xfrm>
            <a:off x="932688" y="1508760"/>
            <a:ext cx="1143000" cy="310896"/>
          </a:xfrm>
          <a:prstGeom prst="roundRect">
            <a:avLst>
              <a:gd name="adj" fmla="val 23529"/>
            </a:avLst>
          </a:prstGeom>
          <a:solidFill>
            <a:srgbClr val="0B5CAD"/>
          </a:solidFill>
          <a:ln w="12700">
            <a:solidFill>
              <a:srgbClr val="0B5CAD"/>
            </a:solidFill>
            <a:prstDash val="solid"/>
          </a:ln>
        </p:spPr>
      </p:sp>
      <p:sp>
        <p:nvSpPr>
          <p:cNvPr id="6" name="Text 4"/>
          <p:cNvSpPr/>
          <p:nvPr/>
        </p:nvSpPr>
        <p:spPr>
          <a:xfrm>
            <a:off x="978408" y="1577340"/>
            <a:ext cx="1051560" cy="164592"/>
          </a:xfrm>
          <a:prstGeom prst="rect">
            <a:avLst/>
          </a:prstGeom>
          <a:noFill/>
          <a:ln/>
        </p:spPr>
        <p:txBody>
          <a:bodyPr wrap="square" lIns="0" tIns="0" rIns="0" bIns="0" rtlCol="0" anchor="ctr"/>
          <a:lstStyle/>
          <a:p>
            <a:pPr marL="0" indent="0" algn="ctr">
              <a:buNone/>
            </a:pPr>
            <a:r>
              <a:rPr lang="en-US" sz="900" b="1" dirty="0">
                <a:solidFill>
                  <a:srgbClr val="FFFFFF"/>
                </a:solidFill>
              </a:rPr>
              <a:t>SCENARIO</a:t>
            </a:r>
            <a:endParaRPr lang="en-US" sz="900" dirty="0"/>
          </a:p>
        </p:txBody>
      </p:sp>
      <p:sp>
        <p:nvSpPr>
          <p:cNvPr id="7" name="Text 5"/>
          <p:cNvSpPr/>
          <p:nvPr/>
        </p:nvSpPr>
        <p:spPr>
          <a:xfrm>
            <a:off x="960120" y="2148840"/>
            <a:ext cx="3154680" cy="2057400"/>
          </a:xfrm>
          <a:prstGeom prst="rect">
            <a:avLst/>
          </a:prstGeom>
          <a:noFill/>
          <a:ln/>
        </p:spPr>
        <p:txBody>
          <a:bodyPr wrap="square" lIns="0" tIns="0" rIns="0" bIns="0" rtlCol="0" anchor="ctr"/>
          <a:lstStyle/>
          <a:p>
            <a:pPr marL="0" indent="0" algn="ctr">
              <a:buNone/>
            </a:pPr>
            <a:r>
              <a:rPr lang="en-US" sz="1700" b="1" dirty="0">
                <a:solidFill>
                  <a:srgbClr val="172033"/>
                </a:solidFill>
              </a:rPr>
              <a:t>A colleague provides HR ABAP code that returns incorrect records and is slow.</a:t>
            </a:r>
            <a:endParaRPr lang="en-US" sz="1700" dirty="0"/>
          </a:p>
        </p:txBody>
      </p:sp>
      <p:sp>
        <p:nvSpPr>
          <p:cNvPr id="8" name="Shape 6"/>
          <p:cNvSpPr/>
          <p:nvPr/>
        </p:nvSpPr>
        <p:spPr>
          <a:xfrm>
            <a:off x="4590288" y="1234440"/>
            <a:ext cx="6903720" cy="4800600"/>
          </a:xfrm>
          <a:prstGeom prst="roundRect">
            <a:avLst>
              <a:gd name="adj" fmla="val 1524"/>
            </a:avLst>
          </a:prstGeom>
          <a:solidFill>
            <a:srgbClr val="FFF9ED"/>
          </a:solidFill>
          <a:ln w="12700">
            <a:solidFill>
              <a:srgbClr val="F2D89C"/>
            </a:solidFill>
            <a:prstDash val="solid"/>
          </a:ln>
        </p:spPr>
      </p:sp>
      <p:sp>
        <p:nvSpPr>
          <p:cNvPr id="9" name="Shape 7"/>
          <p:cNvSpPr/>
          <p:nvPr/>
        </p:nvSpPr>
        <p:spPr>
          <a:xfrm>
            <a:off x="4873752" y="1508760"/>
            <a:ext cx="1188720" cy="310896"/>
          </a:xfrm>
          <a:prstGeom prst="roundRect">
            <a:avLst>
              <a:gd name="adj" fmla="val 23529"/>
            </a:avLst>
          </a:prstGeom>
          <a:solidFill>
            <a:srgbClr val="F59E0B"/>
          </a:solidFill>
          <a:ln w="12700">
            <a:solidFill>
              <a:srgbClr val="F59E0B"/>
            </a:solidFill>
            <a:prstDash val="solid"/>
          </a:ln>
        </p:spPr>
      </p:sp>
      <p:sp>
        <p:nvSpPr>
          <p:cNvPr id="10" name="Text 8"/>
          <p:cNvSpPr/>
          <p:nvPr/>
        </p:nvSpPr>
        <p:spPr>
          <a:xfrm>
            <a:off x="4919472" y="1577340"/>
            <a:ext cx="1097280" cy="164592"/>
          </a:xfrm>
          <a:prstGeom prst="rect">
            <a:avLst/>
          </a:prstGeom>
          <a:noFill/>
          <a:ln/>
        </p:spPr>
        <p:txBody>
          <a:bodyPr wrap="square" lIns="0" tIns="0" rIns="0" bIns="0" rtlCol="0" anchor="ctr"/>
          <a:lstStyle/>
          <a:p>
            <a:pPr marL="0" indent="0" algn="ctr">
              <a:buNone/>
            </a:pPr>
            <a:r>
              <a:rPr lang="en-US" sz="900" b="1" dirty="0">
                <a:solidFill>
                  <a:srgbClr val="FFFFFF"/>
                </a:solidFill>
              </a:rPr>
              <a:t>YOUR TASK</a:t>
            </a:r>
            <a:endParaRPr lang="en-US" sz="900" dirty="0"/>
          </a:p>
        </p:txBody>
      </p:sp>
      <p:sp>
        <p:nvSpPr>
          <p:cNvPr id="11" name="Shape 9"/>
          <p:cNvSpPr/>
          <p:nvPr/>
        </p:nvSpPr>
        <p:spPr>
          <a:xfrm>
            <a:off x="4937760" y="2313432"/>
            <a:ext cx="192024" cy="192024"/>
          </a:xfrm>
          <a:prstGeom prst="ellipse">
            <a:avLst/>
          </a:prstGeom>
          <a:solidFill>
            <a:srgbClr val="15B8A6"/>
          </a:solidFill>
          <a:ln w="12700">
            <a:solidFill>
              <a:srgbClr val="15B8A6"/>
            </a:solidFill>
            <a:prstDash val="solid"/>
          </a:ln>
        </p:spPr>
      </p:sp>
      <p:sp>
        <p:nvSpPr>
          <p:cNvPr id="12" name="Text 10"/>
          <p:cNvSpPr/>
          <p:nvPr/>
        </p:nvSpPr>
        <p:spPr>
          <a:xfrm>
            <a:off x="5266944" y="224028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Define review categories.</a:t>
            </a:r>
            <a:endParaRPr lang="en-US" sz="1600" dirty="0"/>
          </a:p>
        </p:txBody>
      </p:sp>
      <p:sp>
        <p:nvSpPr>
          <p:cNvPr id="13" name="Shape 11"/>
          <p:cNvSpPr/>
          <p:nvPr/>
        </p:nvSpPr>
        <p:spPr>
          <a:xfrm>
            <a:off x="4937760" y="3136392"/>
            <a:ext cx="192024" cy="192024"/>
          </a:xfrm>
          <a:prstGeom prst="ellipse">
            <a:avLst/>
          </a:prstGeom>
          <a:solidFill>
            <a:srgbClr val="15B8A6"/>
          </a:solidFill>
          <a:ln w="12700">
            <a:solidFill>
              <a:srgbClr val="15B8A6"/>
            </a:solidFill>
            <a:prstDash val="solid"/>
          </a:ln>
        </p:spPr>
      </p:sp>
      <p:sp>
        <p:nvSpPr>
          <p:cNvPr id="14" name="Text 12"/>
          <p:cNvSpPr/>
          <p:nvPr/>
        </p:nvSpPr>
        <p:spPr>
          <a:xfrm>
            <a:off x="5266944" y="306324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Preserve the business requirement.</a:t>
            </a:r>
            <a:endParaRPr lang="en-US" sz="1600" dirty="0"/>
          </a:p>
        </p:txBody>
      </p:sp>
      <p:sp>
        <p:nvSpPr>
          <p:cNvPr id="15" name="Shape 13"/>
          <p:cNvSpPr/>
          <p:nvPr/>
        </p:nvSpPr>
        <p:spPr>
          <a:xfrm>
            <a:off x="4937760" y="3959352"/>
            <a:ext cx="192024" cy="192024"/>
          </a:xfrm>
          <a:prstGeom prst="ellipse">
            <a:avLst/>
          </a:prstGeom>
          <a:solidFill>
            <a:srgbClr val="15B8A6"/>
          </a:solidFill>
          <a:ln w="12700">
            <a:solidFill>
              <a:srgbClr val="15B8A6"/>
            </a:solidFill>
            <a:prstDash val="solid"/>
          </a:ln>
        </p:spPr>
      </p:sp>
      <p:sp>
        <p:nvSpPr>
          <p:cNvPr id="16" name="Text 14"/>
          <p:cNvSpPr/>
          <p:nvPr/>
        </p:nvSpPr>
        <p:spPr>
          <a:xfrm>
            <a:off x="5266944" y="388620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Request proof of the fix.</a:t>
            </a:r>
            <a:endParaRPr lang="en-US" sz="1600" dirty="0"/>
          </a:p>
        </p:txBody>
      </p:sp>
      <p:sp>
        <p:nvSpPr>
          <p:cNvPr id="17" name="Text 15"/>
          <p:cNvSpPr/>
          <p:nvPr/>
        </p:nvSpPr>
        <p:spPr>
          <a:xfrm>
            <a:off x="4983480" y="5166360"/>
            <a:ext cx="5852160" cy="411480"/>
          </a:xfrm>
          <a:prstGeom prst="rect">
            <a:avLst/>
          </a:prstGeom>
          <a:noFill/>
          <a:ln/>
        </p:spPr>
        <p:txBody>
          <a:bodyPr wrap="square" lIns="0" tIns="0" rIns="0" bIns="0" rtlCol="0" anchor="ctr"/>
          <a:lstStyle/>
          <a:p>
            <a:pPr marL="0" indent="0" algn="ctr">
              <a:buNone/>
            </a:pPr>
            <a:r>
              <a:rPr lang="en-US" sz="1400" b="1" dirty="0">
                <a:solidFill>
                  <a:srgbClr val="D14343"/>
                </a:solidFill>
              </a:rPr>
              <a:t>Pause here and create your answer before moving to the next slide.</a:t>
            </a:r>
            <a:endParaRPr lang="en-US" sz="14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13: Guided steps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Build the answer one decision at a time.</a:t>
            </a:r>
            <a:endParaRPr lang="en-US" sz="1150" dirty="0"/>
          </a:p>
        </p:txBody>
      </p:sp>
      <p:sp>
        <p:nvSpPr>
          <p:cNvPr id="4" name="Shape 2"/>
          <p:cNvSpPr/>
          <p:nvPr/>
        </p:nvSpPr>
        <p:spPr>
          <a:xfrm>
            <a:off x="786384" y="1225296"/>
            <a:ext cx="10561320" cy="685800"/>
          </a:xfrm>
          <a:prstGeom prst="roundRect">
            <a:avLst>
              <a:gd name="adj" fmla="val 10667"/>
            </a:avLst>
          </a:prstGeom>
          <a:solidFill>
            <a:srgbClr val="FFFFFF"/>
          </a:solidFill>
          <a:ln w="12700">
            <a:solidFill>
              <a:srgbClr val="D9E1EA"/>
            </a:solidFill>
            <a:prstDash val="solid"/>
          </a:ln>
        </p:spPr>
      </p:sp>
      <p:sp>
        <p:nvSpPr>
          <p:cNvPr id="5" name="Shape 3"/>
          <p:cNvSpPr/>
          <p:nvPr/>
        </p:nvSpPr>
        <p:spPr>
          <a:xfrm>
            <a:off x="1005840" y="1344168"/>
            <a:ext cx="438912" cy="438912"/>
          </a:xfrm>
          <a:prstGeom prst="ellipse">
            <a:avLst/>
          </a:prstGeom>
          <a:solidFill>
            <a:srgbClr val="15B8A6"/>
          </a:solidFill>
          <a:ln w="12700">
            <a:solidFill>
              <a:srgbClr val="15B8A6"/>
            </a:solidFill>
            <a:prstDash val="solid"/>
          </a:ln>
        </p:spPr>
      </p:sp>
      <p:sp>
        <p:nvSpPr>
          <p:cNvPr id="6" name="Text 4"/>
          <p:cNvSpPr/>
          <p:nvPr/>
        </p:nvSpPr>
        <p:spPr>
          <a:xfrm>
            <a:off x="1005840" y="1463040"/>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7" name="Text 5"/>
          <p:cNvSpPr/>
          <p:nvPr/>
        </p:nvSpPr>
        <p:spPr>
          <a:xfrm>
            <a:off x="1737360" y="1399032"/>
            <a:ext cx="9098280" cy="274320"/>
          </a:xfrm>
          <a:prstGeom prst="rect">
            <a:avLst/>
          </a:prstGeom>
          <a:noFill/>
          <a:ln/>
        </p:spPr>
        <p:txBody>
          <a:bodyPr wrap="square" lIns="0" tIns="0" rIns="0" bIns="0" rtlCol="0" anchor="ctr"/>
          <a:lstStyle/>
          <a:p>
            <a:pPr marL="0" indent="0">
              <a:buNone/>
            </a:pPr>
            <a:r>
              <a:rPr lang="en-US" sz="1600" dirty="0">
                <a:solidFill>
                  <a:srgbClr val="172033"/>
                </a:solidFill>
              </a:rPr>
              <a:t>State expected and actual behaviour.</a:t>
            </a:r>
            <a:endParaRPr lang="en-US" sz="1600" dirty="0"/>
          </a:p>
        </p:txBody>
      </p:sp>
      <p:sp>
        <p:nvSpPr>
          <p:cNvPr id="8" name="Shape 6"/>
          <p:cNvSpPr/>
          <p:nvPr/>
        </p:nvSpPr>
        <p:spPr>
          <a:xfrm>
            <a:off x="786384" y="2157984"/>
            <a:ext cx="10561320" cy="685800"/>
          </a:xfrm>
          <a:prstGeom prst="roundRect">
            <a:avLst>
              <a:gd name="adj" fmla="val 10667"/>
            </a:avLst>
          </a:prstGeom>
          <a:solidFill>
            <a:srgbClr val="F0FAF8"/>
          </a:solidFill>
          <a:ln w="12700">
            <a:solidFill>
              <a:srgbClr val="D9E1EA"/>
            </a:solidFill>
            <a:prstDash val="solid"/>
          </a:ln>
        </p:spPr>
      </p:sp>
      <p:sp>
        <p:nvSpPr>
          <p:cNvPr id="9" name="Shape 7"/>
          <p:cNvSpPr/>
          <p:nvPr/>
        </p:nvSpPr>
        <p:spPr>
          <a:xfrm>
            <a:off x="1005840" y="2276856"/>
            <a:ext cx="438912" cy="438912"/>
          </a:xfrm>
          <a:prstGeom prst="ellipse">
            <a:avLst/>
          </a:prstGeom>
          <a:solidFill>
            <a:srgbClr val="15B8A6"/>
          </a:solidFill>
          <a:ln w="12700">
            <a:solidFill>
              <a:srgbClr val="15B8A6"/>
            </a:solidFill>
            <a:prstDash val="solid"/>
          </a:ln>
        </p:spPr>
      </p:sp>
      <p:sp>
        <p:nvSpPr>
          <p:cNvPr id="10" name="Text 8"/>
          <p:cNvSpPr/>
          <p:nvPr/>
        </p:nvSpPr>
        <p:spPr>
          <a:xfrm>
            <a:off x="1005840" y="2395728"/>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1" name="Text 9"/>
          <p:cNvSpPr/>
          <p:nvPr/>
        </p:nvSpPr>
        <p:spPr>
          <a:xfrm>
            <a:off x="1737360" y="2331720"/>
            <a:ext cx="9098280" cy="274320"/>
          </a:xfrm>
          <a:prstGeom prst="rect">
            <a:avLst/>
          </a:prstGeom>
          <a:noFill/>
          <a:ln/>
        </p:spPr>
        <p:txBody>
          <a:bodyPr wrap="square" lIns="0" tIns="0" rIns="0" bIns="0" rtlCol="0" anchor="ctr"/>
          <a:lstStyle/>
          <a:p>
            <a:pPr marL="0" indent="0">
              <a:buNone/>
            </a:pPr>
            <a:r>
              <a:rPr lang="en-US" sz="1600" dirty="0">
                <a:solidFill>
                  <a:srgbClr val="172033"/>
                </a:solidFill>
              </a:rPr>
              <a:t>Include code and test input.</a:t>
            </a:r>
            <a:endParaRPr lang="en-US" sz="1600" dirty="0"/>
          </a:p>
        </p:txBody>
      </p:sp>
      <p:sp>
        <p:nvSpPr>
          <p:cNvPr id="12" name="Shape 10"/>
          <p:cNvSpPr/>
          <p:nvPr/>
        </p:nvSpPr>
        <p:spPr>
          <a:xfrm>
            <a:off x="786384" y="3090672"/>
            <a:ext cx="10561320" cy="685800"/>
          </a:xfrm>
          <a:prstGeom prst="roundRect">
            <a:avLst>
              <a:gd name="adj" fmla="val 10667"/>
            </a:avLst>
          </a:prstGeom>
          <a:solidFill>
            <a:srgbClr val="FFFFFF"/>
          </a:solidFill>
          <a:ln w="12700">
            <a:solidFill>
              <a:srgbClr val="D9E1EA"/>
            </a:solidFill>
            <a:prstDash val="solid"/>
          </a:ln>
        </p:spPr>
      </p:sp>
      <p:sp>
        <p:nvSpPr>
          <p:cNvPr id="13" name="Shape 11"/>
          <p:cNvSpPr/>
          <p:nvPr/>
        </p:nvSpPr>
        <p:spPr>
          <a:xfrm>
            <a:off x="1005840" y="3209544"/>
            <a:ext cx="438912" cy="438912"/>
          </a:xfrm>
          <a:prstGeom prst="ellipse">
            <a:avLst/>
          </a:prstGeom>
          <a:solidFill>
            <a:srgbClr val="15B8A6"/>
          </a:solidFill>
          <a:ln w="12700">
            <a:solidFill>
              <a:srgbClr val="15B8A6"/>
            </a:solidFill>
            <a:prstDash val="solid"/>
          </a:ln>
        </p:spPr>
      </p:sp>
      <p:sp>
        <p:nvSpPr>
          <p:cNvPr id="14" name="Text 12"/>
          <p:cNvSpPr/>
          <p:nvPr/>
        </p:nvSpPr>
        <p:spPr>
          <a:xfrm>
            <a:off x="1005840" y="3328416"/>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5" name="Text 13"/>
          <p:cNvSpPr/>
          <p:nvPr/>
        </p:nvSpPr>
        <p:spPr>
          <a:xfrm>
            <a:off x="1737360" y="3264408"/>
            <a:ext cx="9098280" cy="274320"/>
          </a:xfrm>
          <a:prstGeom prst="rect">
            <a:avLst/>
          </a:prstGeom>
          <a:noFill/>
          <a:ln/>
        </p:spPr>
        <p:txBody>
          <a:bodyPr wrap="square" lIns="0" tIns="0" rIns="0" bIns="0" rtlCol="0" anchor="ctr"/>
          <a:lstStyle/>
          <a:p>
            <a:pPr marL="0" indent="0">
              <a:buNone/>
            </a:pPr>
            <a:r>
              <a:rPr lang="en-US" sz="1600" dirty="0">
                <a:solidFill>
                  <a:srgbClr val="172033"/>
                </a:solidFill>
              </a:rPr>
              <a:t>Review functional and date logic first.</a:t>
            </a:r>
            <a:endParaRPr lang="en-US" sz="1600" dirty="0"/>
          </a:p>
        </p:txBody>
      </p:sp>
      <p:sp>
        <p:nvSpPr>
          <p:cNvPr id="16" name="Shape 14"/>
          <p:cNvSpPr/>
          <p:nvPr/>
        </p:nvSpPr>
        <p:spPr>
          <a:xfrm>
            <a:off x="786384" y="4023360"/>
            <a:ext cx="10561320" cy="685800"/>
          </a:xfrm>
          <a:prstGeom prst="roundRect">
            <a:avLst>
              <a:gd name="adj" fmla="val 10667"/>
            </a:avLst>
          </a:prstGeom>
          <a:solidFill>
            <a:srgbClr val="F0FAF8"/>
          </a:solidFill>
          <a:ln w="12700">
            <a:solidFill>
              <a:srgbClr val="D9E1EA"/>
            </a:solidFill>
            <a:prstDash val="solid"/>
          </a:ln>
        </p:spPr>
      </p:sp>
      <p:sp>
        <p:nvSpPr>
          <p:cNvPr id="17" name="Shape 15"/>
          <p:cNvSpPr/>
          <p:nvPr/>
        </p:nvSpPr>
        <p:spPr>
          <a:xfrm>
            <a:off x="1005840" y="4142232"/>
            <a:ext cx="438912" cy="438912"/>
          </a:xfrm>
          <a:prstGeom prst="ellipse">
            <a:avLst/>
          </a:prstGeom>
          <a:solidFill>
            <a:srgbClr val="15B8A6"/>
          </a:solidFill>
          <a:ln w="12700">
            <a:solidFill>
              <a:srgbClr val="15B8A6"/>
            </a:solidFill>
            <a:prstDash val="solid"/>
          </a:ln>
        </p:spPr>
      </p:sp>
      <p:sp>
        <p:nvSpPr>
          <p:cNvPr id="18" name="Text 16"/>
          <p:cNvSpPr/>
          <p:nvPr/>
        </p:nvSpPr>
        <p:spPr>
          <a:xfrm>
            <a:off x="1005840" y="4261104"/>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19" name="Text 17"/>
          <p:cNvSpPr/>
          <p:nvPr/>
        </p:nvSpPr>
        <p:spPr>
          <a:xfrm>
            <a:off x="1737360" y="4197096"/>
            <a:ext cx="9098280" cy="274320"/>
          </a:xfrm>
          <a:prstGeom prst="rect">
            <a:avLst/>
          </a:prstGeom>
          <a:noFill/>
          <a:ln/>
        </p:spPr>
        <p:txBody>
          <a:bodyPr wrap="square" lIns="0" tIns="0" rIns="0" bIns="0" rtlCol="0" anchor="ctr"/>
          <a:lstStyle/>
          <a:p>
            <a:pPr marL="0" indent="0">
              <a:buNone/>
            </a:pPr>
            <a:r>
              <a:rPr lang="en-US" sz="1600" dirty="0">
                <a:solidFill>
                  <a:srgbClr val="172033"/>
                </a:solidFill>
              </a:rPr>
              <a:t>Review performance and security.</a:t>
            </a:r>
            <a:endParaRPr lang="en-US" sz="1600" dirty="0"/>
          </a:p>
        </p:txBody>
      </p:sp>
      <p:sp>
        <p:nvSpPr>
          <p:cNvPr id="20" name="Shape 18"/>
          <p:cNvSpPr/>
          <p:nvPr/>
        </p:nvSpPr>
        <p:spPr>
          <a:xfrm>
            <a:off x="786384" y="4956048"/>
            <a:ext cx="10561320" cy="685800"/>
          </a:xfrm>
          <a:prstGeom prst="roundRect">
            <a:avLst>
              <a:gd name="adj" fmla="val 10667"/>
            </a:avLst>
          </a:prstGeom>
          <a:solidFill>
            <a:srgbClr val="FFFFFF"/>
          </a:solidFill>
          <a:ln w="12700">
            <a:solidFill>
              <a:srgbClr val="D9E1EA"/>
            </a:solidFill>
            <a:prstDash val="solid"/>
          </a:ln>
        </p:spPr>
      </p:sp>
      <p:sp>
        <p:nvSpPr>
          <p:cNvPr id="21" name="Shape 19"/>
          <p:cNvSpPr/>
          <p:nvPr/>
        </p:nvSpPr>
        <p:spPr>
          <a:xfrm>
            <a:off x="1005840" y="5074920"/>
            <a:ext cx="438912" cy="438912"/>
          </a:xfrm>
          <a:prstGeom prst="ellipse">
            <a:avLst/>
          </a:prstGeom>
          <a:solidFill>
            <a:srgbClr val="F59E0B"/>
          </a:solidFill>
          <a:ln w="12700">
            <a:solidFill>
              <a:srgbClr val="F59E0B"/>
            </a:solidFill>
            <a:prstDash val="solid"/>
          </a:ln>
        </p:spPr>
      </p:sp>
      <p:sp>
        <p:nvSpPr>
          <p:cNvPr id="22" name="Text 20"/>
          <p:cNvSpPr/>
          <p:nvPr/>
        </p:nvSpPr>
        <p:spPr>
          <a:xfrm>
            <a:off x="1005840" y="5193792"/>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23" name="Text 21"/>
          <p:cNvSpPr/>
          <p:nvPr/>
        </p:nvSpPr>
        <p:spPr>
          <a:xfrm>
            <a:off x="1737360" y="5129784"/>
            <a:ext cx="9098280" cy="274320"/>
          </a:xfrm>
          <a:prstGeom prst="rect">
            <a:avLst/>
          </a:prstGeom>
          <a:noFill/>
          <a:ln/>
        </p:spPr>
        <p:txBody>
          <a:bodyPr wrap="square" lIns="0" tIns="0" rIns="0" bIns="0" rtlCol="0" anchor="ctr"/>
          <a:lstStyle/>
          <a:p>
            <a:pPr marL="0" indent="0">
              <a:buNone/>
            </a:pPr>
            <a:r>
              <a:rPr lang="en-US" sz="1600" dirty="0">
                <a:solidFill>
                  <a:srgbClr val="172033"/>
                </a:solidFill>
              </a:rPr>
              <a:t>Request patched code and regression tests.</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13: Model answer</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Use this as a reference, then replace placeholders with verified system details.</a:t>
            </a:r>
            <a:endParaRPr lang="en-US" sz="1150" dirty="0"/>
          </a:p>
        </p:txBody>
      </p:sp>
      <p:sp>
        <p:nvSpPr>
          <p:cNvPr id="4" name="Shape 2"/>
          <p:cNvSpPr/>
          <p:nvPr/>
        </p:nvSpPr>
        <p:spPr>
          <a:xfrm>
            <a:off x="713232" y="1207008"/>
            <a:ext cx="10972800" cy="5010912"/>
          </a:xfrm>
          <a:prstGeom prst="roundRect">
            <a:avLst>
              <a:gd name="adj" fmla="val 1460"/>
            </a:avLst>
          </a:prstGeom>
          <a:solidFill>
            <a:srgbClr val="10263B"/>
          </a:solidFill>
          <a:ln w="12700">
            <a:solidFill>
              <a:srgbClr val="284B66"/>
            </a:solidFill>
            <a:prstDash val="solid"/>
          </a:ln>
        </p:spPr>
      </p:sp>
      <p:sp>
        <p:nvSpPr>
          <p:cNvPr id="5" name="Text 3"/>
          <p:cNvSpPr/>
          <p:nvPr/>
        </p:nvSpPr>
        <p:spPr>
          <a:xfrm>
            <a:off x="877824" y="1344168"/>
            <a:ext cx="10643616" cy="4736592"/>
          </a:xfrm>
          <a:prstGeom prst="rect">
            <a:avLst/>
          </a:prstGeom>
          <a:noFill/>
          <a:ln/>
        </p:spPr>
        <p:txBody>
          <a:bodyPr wrap="square" lIns="254" tIns="254" rIns="254" bIns="254" rtlCol="0" anchor="ctr">
            <a:normAutofit/>
          </a:bodyPr>
          <a:lstStyle/>
          <a:p>
            <a:pPr marL="0" indent="0">
              <a:buNone/>
            </a:pPr>
            <a:r>
              <a:rPr lang="en-US" sz="1250" dirty="0">
                <a:solidFill>
                  <a:srgbClr val="EDF6FC"/>
                </a:solidFill>
                <a:latin typeface="Consolas" pitchFamily="34" charset="0"/>
                <a:ea typeface="Consolas" pitchFamily="34" charset="-122"/>
                <a:cs typeface="Consolas" pitchFamily="34" charset="-120"/>
              </a:rPr>
              <a:t>Review the supplied SAP HCM ABAP code. Expected: [result]. Actual: [result]. Test input: [values]. Preserve the stated business requirement. Analyse validity logic, multiple-record handling, selection filters, SELECT in LOOP, nested loops, FOR ALL ENTRIES safeguards, internal-table keys, authorisation and error handling. Identify the root cause, provide corrected release-compatible code, and include regression tests that fail before the change and pass afterwards.</a:t>
            </a:r>
            <a:endParaRPr lang="en-US" sz="125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14: Decide whether CDS is suitable</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Level: S/4HANA</a:t>
            </a:r>
            <a:endParaRPr lang="en-US" sz="1150" dirty="0"/>
          </a:p>
        </p:txBody>
      </p:sp>
      <p:sp>
        <p:nvSpPr>
          <p:cNvPr id="4" name="Shape 2"/>
          <p:cNvSpPr/>
          <p:nvPr/>
        </p:nvSpPr>
        <p:spPr>
          <a:xfrm>
            <a:off x="685800" y="1234440"/>
            <a:ext cx="3703320" cy="4800600"/>
          </a:xfrm>
          <a:prstGeom prst="roundRect">
            <a:avLst>
              <a:gd name="adj" fmla="val 1975"/>
            </a:avLst>
          </a:prstGeom>
          <a:solidFill>
            <a:srgbClr val="EEF5FB"/>
          </a:solidFill>
          <a:ln w="12700">
            <a:solidFill>
              <a:srgbClr val="D9E1EA"/>
            </a:solidFill>
            <a:prstDash val="solid"/>
          </a:ln>
        </p:spPr>
      </p:sp>
      <p:sp>
        <p:nvSpPr>
          <p:cNvPr id="5" name="Shape 3"/>
          <p:cNvSpPr/>
          <p:nvPr/>
        </p:nvSpPr>
        <p:spPr>
          <a:xfrm>
            <a:off x="932688" y="1508760"/>
            <a:ext cx="1143000" cy="310896"/>
          </a:xfrm>
          <a:prstGeom prst="roundRect">
            <a:avLst>
              <a:gd name="adj" fmla="val 23529"/>
            </a:avLst>
          </a:prstGeom>
          <a:solidFill>
            <a:srgbClr val="0B5CAD"/>
          </a:solidFill>
          <a:ln w="12700">
            <a:solidFill>
              <a:srgbClr val="0B5CAD"/>
            </a:solidFill>
            <a:prstDash val="solid"/>
          </a:ln>
        </p:spPr>
      </p:sp>
      <p:sp>
        <p:nvSpPr>
          <p:cNvPr id="6" name="Text 4"/>
          <p:cNvSpPr/>
          <p:nvPr/>
        </p:nvSpPr>
        <p:spPr>
          <a:xfrm>
            <a:off x="978408" y="1577340"/>
            <a:ext cx="1051560" cy="164592"/>
          </a:xfrm>
          <a:prstGeom prst="rect">
            <a:avLst/>
          </a:prstGeom>
          <a:noFill/>
          <a:ln/>
        </p:spPr>
        <p:txBody>
          <a:bodyPr wrap="square" lIns="0" tIns="0" rIns="0" bIns="0" rtlCol="0" anchor="ctr"/>
          <a:lstStyle/>
          <a:p>
            <a:pPr marL="0" indent="0" algn="ctr">
              <a:buNone/>
            </a:pPr>
            <a:r>
              <a:rPr lang="en-US" sz="900" b="1" dirty="0">
                <a:solidFill>
                  <a:srgbClr val="FFFFFF"/>
                </a:solidFill>
              </a:rPr>
              <a:t>SCENARIO</a:t>
            </a:r>
            <a:endParaRPr lang="en-US" sz="900" dirty="0"/>
          </a:p>
        </p:txBody>
      </p:sp>
      <p:sp>
        <p:nvSpPr>
          <p:cNvPr id="7" name="Text 5"/>
          <p:cNvSpPr/>
          <p:nvPr/>
        </p:nvSpPr>
        <p:spPr>
          <a:xfrm>
            <a:off x="960120" y="2148840"/>
            <a:ext cx="3154680" cy="2057400"/>
          </a:xfrm>
          <a:prstGeom prst="rect">
            <a:avLst/>
          </a:prstGeom>
          <a:noFill/>
          <a:ln/>
        </p:spPr>
        <p:txBody>
          <a:bodyPr wrap="square" lIns="0" tIns="0" rIns="0" bIns="0" rtlCol="0" anchor="ctr"/>
          <a:lstStyle/>
          <a:p>
            <a:pPr marL="0" indent="0" algn="ctr">
              <a:buNone/>
            </a:pPr>
            <a:r>
              <a:rPr lang="en-US" sz="1700" b="1" dirty="0">
                <a:solidFill>
                  <a:srgbClr val="172033"/>
                </a:solidFill>
              </a:rPr>
              <a:t>A team asks to convert an HR report to CDS solely because the database is HANA.</a:t>
            </a:r>
            <a:endParaRPr lang="en-US" sz="1700" dirty="0"/>
          </a:p>
        </p:txBody>
      </p:sp>
      <p:sp>
        <p:nvSpPr>
          <p:cNvPr id="8" name="Shape 6"/>
          <p:cNvSpPr/>
          <p:nvPr/>
        </p:nvSpPr>
        <p:spPr>
          <a:xfrm>
            <a:off x="4590288" y="1234440"/>
            <a:ext cx="6903720" cy="4800600"/>
          </a:xfrm>
          <a:prstGeom prst="roundRect">
            <a:avLst>
              <a:gd name="adj" fmla="val 1524"/>
            </a:avLst>
          </a:prstGeom>
          <a:solidFill>
            <a:srgbClr val="FFF9ED"/>
          </a:solidFill>
          <a:ln w="12700">
            <a:solidFill>
              <a:srgbClr val="F2D89C"/>
            </a:solidFill>
            <a:prstDash val="solid"/>
          </a:ln>
        </p:spPr>
      </p:sp>
      <p:sp>
        <p:nvSpPr>
          <p:cNvPr id="9" name="Shape 7"/>
          <p:cNvSpPr/>
          <p:nvPr/>
        </p:nvSpPr>
        <p:spPr>
          <a:xfrm>
            <a:off x="4873752" y="1508760"/>
            <a:ext cx="1188720" cy="310896"/>
          </a:xfrm>
          <a:prstGeom prst="roundRect">
            <a:avLst>
              <a:gd name="adj" fmla="val 23529"/>
            </a:avLst>
          </a:prstGeom>
          <a:solidFill>
            <a:srgbClr val="F59E0B"/>
          </a:solidFill>
          <a:ln w="12700">
            <a:solidFill>
              <a:srgbClr val="F59E0B"/>
            </a:solidFill>
            <a:prstDash val="solid"/>
          </a:ln>
        </p:spPr>
      </p:sp>
      <p:sp>
        <p:nvSpPr>
          <p:cNvPr id="10" name="Text 8"/>
          <p:cNvSpPr/>
          <p:nvPr/>
        </p:nvSpPr>
        <p:spPr>
          <a:xfrm>
            <a:off x="4919472" y="1577340"/>
            <a:ext cx="1097280" cy="164592"/>
          </a:xfrm>
          <a:prstGeom prst="rect">
            <a:avLst/>
          </a:prstGeom>
          <a:noFill/>
          <a:ln/>
        </p:spPr>
        <p:txBody>
          <a:bodyPr wrap="square" lIns="0" tIns="0" rIns="0" bIns="0" rtlCol="0" anchor="ctr"/>
          <a:lstStyle/>
          <a:p>
            <a:pPr marL="0" indent="0" algn="ctr">
              <a:buNone/>
            </a:pPr>
            <a:r>
              <a:rPr lang="en-US" sz="900" b="1" dirty="0">
                <a:solidFill>
                  <a:srgbClr val="FFFFFF"/>
                </a:solidFill>
              </a:rPr>
              <a:t>YOUR TASK</a:t>
            </a:r>
            <a:endParaRPr lang="en-US" sz="900" dirty="0"/>
          </a:p>
        </p:txBody>
      </p:sp>
      <p:sp>
        <p:nvSpPr>
          <p:cNvPr id="11" name="Shape 9"/>
          <p:cNvSpPr/>
          <p:nvPr/>
        </p:nvSpPr>
        <p:spPr>
          <a:xfrm>
            <a:off x="4937760" y="2313432"/>
            <a:ext cx="192024" cy="192024"/>
          </a:xfrm>
          <a:prstGeom prst="ellipse">
            <a:avLst/>
          </a:prstGeom>
          <a:solidFill>
            <a:srgbClr val="15B8A6"/>
          </a:solidFill>
          <a:ln w="12700">
            <a:solidFill>
              <a:srgbClr val="15B8A6"/>
            </a:solidFill>
            <a:prstDash val="solid"/>
          </a:ln>
        </p:spPr>
      </p:sp>
      <p:sp>
        <p:nvSpPr>
          <p:cNvPr id="12" name="Text 10"/>
          <p:cNvSpPr/>
          <p:nvPr/>
        </p:nvSpPr>
        <p:spPr>
          <a:xfrm>
            <a:off x="5266944" y="224028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Assess suitability.</a:t>
            </a:r>
            <a:endParaRPr lang="en-US" sz="1600" dirty="0"/>
          </a:p>
        </p:txBody>
      </p:sp>
      <p:sp>
        <p:nvSpPr>
          <p:cNvPr id="13" name="Shape 11"/>
          <p:cNvSpPr/>
          <p:nvPr/>
        </p:nvSpPr>
        <p:spPr>
          <a:xfrm>
            <a:off x="4937760" y="3136392"/>
            <a:ext cx="192024" cy="192024"/>
          </a:xfrm>
          <a:prstGeom prst="ellipse">
            <a:avLst/>
          </a:prstGeom>
          <a:solidFill>
            <a:srgbClr val="15B8A6"/>
          </a:solidFill>
          <a:ln w="12700">
            <a:solidFill>
              <a:srgbClr val="15B8A6"/>
            </a:solidFill>
            <a:prstDash val="solid"/>
          </a:ln>
        </p:spPr>
      </p:sp>
      <p:sp>
        <p:nvSpPr>
          <p:cNvPr id="14" name="Text 12"/>
          <p:cNvSpPr/>
          <p:nvPr/>
        </p:nvSpPr>
        <p:spPr>
          <a:xfrm>
            <a:off x="5266944" y="306324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Identify authorisation and validity concerns.</a:t>
            </a:r>
            <a:endParaRPr lang="en-US" sz="1600" dirty="0"/>
          </a:p>
        </p:txBody>
      </p:sp>
      <p:sp>
        <p:nvSpPr>
          <p:cNvPr id="15" name="Shape 13"/>
          <p:cNvSpPr/>
          <p:nvPr/>
        </p:nvSpPr>
        <p:spPr>
          <a:xfrm>
            <a:off x="4937760" y="3959352"/>
            <a:ext cx="192024" cy="192024"/>
          </a:xfrm>
          <a:prstGeom prst="ellipse">
            <a:avLst/>
          </a:prstGeom>
          <a:solidFill>
            <a:srgbClr val="15B8A6"/>
          </a:solidFill>
          <a:ln w="12700">
            <a:solidFill>
              <a:srgbClr val="15B8A6"/>
            </a:solidFill>
            <a:prstDash val="solid"/>
          </a:ln>
        </p:spPr>
      </p:sp>
      <p:sp>
        <p:nvSpPr>
          <p:cNvPr id="16" name="Text 14"/>
          <p:cNvSpPr/>
          <p:nvPr/>
        </p:nvSpPr>
        <p:spPr>
          <a:xfrm>
            <a:off x="5266944" y="388620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Request an alternative if CDS is unsuitable.</a:t>
            </a:r>
            <a:endParaRPr lang="en-US" sz="1600" dirty="0"/>
          </a:p>
        </p:txBody>
      </p:sp>
      <p:sp>
        <p:nvSpPr>
          <p:cNvPr id="17" name="Text 15"/>
          <p:cNvSpPr/>
          <p:nvPr/>
        </p:nvSpPr>
        <p:spPr>
          <a:xfrm>
            <a:off x="4983480" y="5166360"/>
            <a:ext cx="5852160" cy="411480"/>
          </a:xfrm>
          <a:prstGeom prst="rect">
            <a:avLst/>
          </a:prstGeom>
          <a:noFill/>
          <a:ln/>
        </p:spPr>
        <p:txBody>
          <a:bodyPr wrap="square" lIns="0" tIns="0" rIns="0" bIns="0" rtlCol="0" anchor="ctr"/>
          <a:lstStyle/>
          <a:p>
            <a:pPr marL="0" indent="0" algn="ctr">
              <a:buNone/>
            </a:pPr>
            <a:r>
              <a:rPr lang="en-US" sz="1400" b="1" dirty="0">
                <a:solidFill>
                  <a:srgbClr val="D14343"/>
                </a:solidFill>
              </a:rPr>
              <a:t>Pause here and create your answer before moving to the next slide.</a:t>
            </a:r>
            <a:endParaRPr lang="en-US" sz="14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14: Guided steps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Build the answer one decision at a time.</a:t>
            </a:r>
            <a:endParaRPr lang="en-US" sz="1150" dirty="0"/>
          </a:p>
        </p:txBody>
      </p:sp>
      <p:sp>
        <p:nvSpPr>
          <p:cNvPr id="4" name="Shape 2"/>
          <p:cNvSpPr/>
          <p:nvPr/>
        </p:nvSpPr>
        <p:spPr>
          <a:xfrm>
            <a:off x="786384" y="1225296"/>
            <a:ext cx="10561320" cy="685800"/>
          </a:xfrm>
          <a:prstGeom prst="roundRect">
            <a:avLst>
              <a:gd name="adj" fmla="val 10667"/>
            </a:avLst>
          </a:prstGeom>
          <a:solidFill>
            <a:srgbClr val="FFFFFF"/>
          </a:solidFill>
          <a:ln w="12700">
            <a:solidFill>
              <a:srgbClr val="D9E1EA"/>
            </a:solidFill>
            <a:prstDash val="solid"/>
          </a:ln>
        </p:spPr>
      </p:sp>
      <p:sp>
        <p:nvSpPr>
          <p:cNvPr id="5" name="Shape 3"/>
          <p:cNvSpPr/>
          <p:nvPr/>
        </p:nvSpPr>
        <p:spPr>
          <a:xfrm>
            <a:off x="1005840" y="1344168"/>
            <a:ext cx="438912" cy="438912"/>
          </a:xfrm>
          <a:prstGeom prst="ellipse">
            <a:avLst/>
          </a:prstGeom>
          <a:solidFill>
            <a:srgbClr val="15B8A6"/>
          </a:solidFill>
          <a:ln w="12700">
            <a:solidFill>
              <a:srgbClr val="15B8A6"/>
            </a:solidFill>
            <a:prstDash val="solid"/>
          </a:ln>
        </p:spPr>
      </p:sp>
      <p:sp>
        <p:nvSpPr>
          <p:cNvPr id="6" name="Text 4"/>
          <p:cNvSpPr/>
          <p:nvPr/>
        </p:nvSpPr>
        <p:spPr>
          <a:xfrm>
            <a:off x="1005840" y="1463040"/>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7" name="Text 5"/>
          <p:cNvSpPr/>
          <p:nvPr/>
        </p:nvSpPr>
        <p:spPr>
          <a:xfrm>
            <a:off x="1737360" y="1399032"/>
            <a:ext cx="9098280" cy="274320"/>
          </a:xfrm>
          <a:prstGeom prst="rect">
            <a:avLst/>
          </a:prstGeom>
          <a:noFill/>
          <a:ln/>
        </p:spPr>
        <p:txBody>
          <a:bodyPr wrap="square" lIns="0" tIns="0" rIns="0" bIns="0" rtlCol="0" anchor="ctr"/>
          <a:lstStyle/>
          <a:p>
            <a:pPr marL="0" indent="0">
              <a:buNone/>
            </a:pPr>
            <a:r>
              <a:rPr lang="en-US" sz="1600" dirty="0">
                <a:solidFill>
                  <a:srgbClr val="172033"/>
                </a:solidFill>
              </a:rPr>
              <a:t>Identify the consumer and required output.</a:t>
            </a:r>
            <a:endParaRPr lang="en-US" sz="1600" dirty="0"/>
          </a:p>
        </p:txBody>
      </p:sp>
      <p:sp>
        <p:nvSpPr>
          <p:cNvPr id="8" name="Shape 6"/>
          <p:cNvSpPr/>
          <p:nvPr/>
        </p:nvSpPr>
        <p:spPr>
          <a:xfrm>
            <a:off x="786384" y="2157984"/>
            <a:ext cx="10561320" cy="685800"/>
          </a:xfrm>
          <a:prstGeom prst="roundRect">
            <a:avLst>
              <a:gd name="adj" fmla="val 10667"/>
            </a:avLst>
          </a:prstGeom>
          <a:solidFill>
            <a:srgbClr val="F0FAF8"/>
          </a:solidFill>
          <a:ln w="12700">
            <a:solidFill>
              <a:srgbClr val="D9E1EA"/>
            </a:solidFill>
            <a:prstDash val="solid"/>
          </a:ln>
        </p:spPr>
      </p:sp>
      <p:sp>
        <p:nvSpPr>
          <p:cNvPr id="9" name="Shape 7"/>
          <p:cNvSpPr/>
          <p:nvPr/>
        </p:nvSpPr>
        <p:spPr>
          <a:xfrm>
            <a:off x="1005840" y="2276856"/>
            <a:ext cx="438912" cy="438912"/>
          </a:xfrm>
          <a:prstGeom prst="ellipse">
            <a:avLst/>
          </a:prstGeom>
          <a:solidFill>
            <a:srgbClr val="15B8A6"/>
          </a:solidFill>
          <a:ln w="12700">
            <a:solidFill>
              <a:srgbClr val="15B8A6"/>
            </a:solidFill>
            <a:prstDash val="solid"/>
          </a:ln>
        </p:spPr>
      </p:sp>
      <p:sp>
        <p:nvSpPr>
          <p:cNvPr id="10" name="Text 8"/>
          <p:cNvSpPr/>
          <p:nvPr/>
        </p:nvSpPr>
        <p:spPr>
          <a:xfrm>
            <a:off x="1005840" y="2395728"/>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1" name="Text 9"/>
          <p:cNvSpPr/>
          <p:nvPr/>
        </p:nvSpPr>
        <p:spPr>
          <a:xfrm>
            <a:off x="1737360" y="2331720"/>
            <a:ext cx="9098280" cy="274320"/>
          </a:xfrm>
          <a:prstGeom prst="rect">
            <a:avLst/>
          </a:prstGeom>
          <a:noFill/>
          <a:ln/>
        </p:spPr>
        <p:txBody>
          <a:bodyPr wrap="square" lIns="0" tIns="0" rIns="0" bIns="0" rtlCol="0" anchor="ctr"/>
          <a:lstStyle/>
          <a:p>
            <a:pPr marL="0" indent="0">
              <a:buNone/>
            </a:pPr>
            <a:r>
              <a:rPr lang="en-US" sz="1600" dirty="0">
                <a:solidFill>
                  <a:srgbClr val="172033"/>
                </a:solidFill>
              </a:rPr>
              <a:t>Check whether logic is set-oriented.</a:t>
            </a:r>
            <a:endParaRPr lang="en-US" sz="1600" dirty="0"/>
          </a:p>
        </p:txBody>
      </p:sp>
      <p:sp>
        <p:nvSpPr>
          <p:cNvPr id="12" name="Shape 10"/>
          <p:cNvSpPr/>
          <p:nvPr/>
        </p:nvSpPr>
        <p:spPr>
          <a:xfrm>
            <a:off x="786384" y="3090672"/>
            <a:ext cx="10561320" cy="685800"/>
          </a:xfrm>
          <a:prstGeom prst="roundRect">
            <a:avLst>
              <a:gd name="adj" fmla="val 10667"/>
            </a:avLst>
          </a:prstGeom>
          <a:solidFill>
            <a:srgbClr val="FFFFFF"/>
          </a:solidFill>
          <a:ln w="12700">
            <a:solidFill>
              <a:srgbClr val="D9E1EA"/>
            </a:solidFill>
            <a:prstDash val="solid"/>
          </a:ln>
        </p:spPr>
      </p:sp>
      <p:sp>
        <p:nvSpPr>
          <p:cNvPr id="13" name="Shape 11"/>
          <p:cNvSpPr/>
          <p:nvPr/>
        </p:nvSpPr>
        <p:spPr>
          <a:xfrm>
            <a:off x="1005840" y="3209544"/>
            <a:ext cx="438912" cy="438912"/>
          </a:xfrm>
          <a:prstGeom prst="ellipse">
            <a:avLst/>
          </a:prstGeom>
          <a:solidFill>
            <a:srgbClr val="15B8A6"/>
          </a:solidFill>
          <a:ln w="12700">
            <a:solidFill>
              <a:srgbClr val="15B8A6"/>
            </a:solidFill>
            <a:prstDash val="solid"/>
          </a:ln>
        </p:spPr>
      </p:sp>
      <p:sp>
        <p:nvSpPr>
          <p:cNvPr id="14" name="Text 12"/>
          <p:cNvSpPr/>
          <p:nvPr/>
        </p:nvSpPr>
        <p:spPr>
          <a:xfrm>
            <a:off x="1005840" y="3328416"/>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5" name="Text 13"/>
          <p:cNvSpPr/>
          <p:nvPr/>
        </p:nvSpPr>
        <p:spPr>
          <a:xfrm>
            <a:off x="1737360" y="3264408"/>
            <a:ext cx="9098280" cy="274320"/>
          </a:xfrm>
          <a:prstGeom prst="rect">
            <a:avLst/>
          </a:prstGeom>
          <a:noFill/>
          <a:ln/>
        </p:spPr>
        <p:txBody>
          <a:bodyPr wrap="square" lIns="0" tIns="0" rIns="0" bIns="0" rtlCol="0" anchor="ctr"/>
          <a:lstStyle/>
          <a:p>
            <a:pPr marL="0" indent="0">
              <a:buNone/>
            </a:pPr>
            <a:r>
              <a:rPr lang="en-US" sz="1600" dirty="0">
                <a:solidFill>
                  <a:srgbClr val="172033"/>
                </a:solidFill>
              </a:rPr>
              <a:t>Assess validity and country-specific rules.</a:t>
            </a:r>
            <a:endParaRPr lang="en-US" sz="1600" dirty="0"/>
          </a:p>
        </p:txBody>
      </p:sp>
      <p:sp>
        <p:nvSpPr>
          <p:cNvPr id="16" name="Shape 14"/>
          <p:cNvSpPr/>
          <p:nvPr/>
        </p:nvSpPr>
        <p:spPr>
          <a:xfrm>
            <a:off x="786384" y="4023360"/>
            <a:ext cx="10561320" cy="685800"/>
          </a:xfrm>
          <a:prstGeom prst="roundRect">
            <a:avLst>
              <a:gd name="adj" fmla="val 10667"/>
            </a:avLst>
          </a:prstGeom>
          <a:solidFill>
            <a:srgbClr val="F0FAF8"/>
          </a:solidFill>
          <a:ln w="12700">
            <a:solidFill>
              <a:srgbClr val="D9E1EA"/>
            </a:solidFill>
            <a:prstDash val="solid"/>
          </a:ln>
        </p:spPr>
      </p:sp>
      <p:sp>
        <p:nvSpPr>
          <p:cNvPr id="17" name="Shape 15"/>
          <p:cNvSpPr/>
          <p:nvPr/>
        </p:nvSpPr>
        <p:spPr>
          <a:xfrm>
            <a:off x="1005840" y="4142232"/>
            <a:ext cx="438912" cy="438912"/>
          </a:xfrm>
          <a:prstGeom prst="ellipse">
            <a:avLst/>
          </a:prstGeom>
          <a:solidFill>
            <a:srgbClr val="15B8A6"/>
          </a:solidFill>
          <a:ln w="12700">
            <a:solidFill>
              <a:srgbClr val="15B8A6"/>
            </a:solidFill>
            <a:prstDash val="solid"/>
          </a:ln>
        </p:spPr>
      </p:sp>
      <p:sp>
        <p:nvSpPr>
          <p:cNvPr id="18" name="Text 16"/>
          <p:cNvSpPr/>
          <p:nvPr/>
        </p:nvSpPr>
        <p:spPr>
          <a:xfrm>
            <a:off x="1005840" y="4261104"/>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19" name="Text 17"/>
          <p:cNvSpPr/>
          <p:nvPr/>
        </p:nvSpPr>
        <p:spPr>
          <a:xfrm>
            <a:off x="1737360" y="4197096"/>
            <a:ext cx="9098280" cy="274320"/>
          </a:xfrm>
          <a:prstGeom prst="rect">
            <a:avLst/>
          </a:prstGeom>
          <a:noFill/>
          <a:ln/>
        </p:spPr>
        <p:txBody>
          <a:bodyPr wrap="square" lIns="0" tIns="0" rIns="0" bIns="0" rtlCol="0" anchor="ctr"/>
          <a:lstStyle/>
          <a:p>
            <a:pPr marL="0" indent="0">
              <a:buNone/>
            </a:pPr>
            <a:r>
              <a:rPr lang="en-US" sz="1600" dirty="0">
                <a:solidFill>
                  <a:srgbClr val="172033"/>
                </a:solidFill>
              </a:rPr>
              <a:t>Define the authorisation model.</a:t>
            </a:r>
            <a:endParaRPr lang="en-US" sz="1600" dirty="0"/>
          </a:p>
        </p:txBody>
      </p:sp>
      <p:sp>
        <p:nvSpPr>
          <p:cNvPr id="20" name="Shape 18"/>
          <p:cNvSpPr/>
          <p:nvPr/>
        </p:nvSpPr>
        <p:spPr>
          <a:xfrm>
            <a:off x="786384" y="4956048"/>
            <a:ext cx="10561320" cy="685800"/>
          </a:xfrm>
          <a:prstGeom prst="roundRect">
            <a:avLst>
              <a:gd name="adj" fmla="val 10667"/>
            </a:avLst>
          </a:prstGeom>
          <a:solidFill>
            <a:srgbClr val="FFFFFF"/>
          </a:solidFill>
          <a:ln w="12700">
            <a:solidFill>
              <a:srgbClr val="D9E1EA"/>
            </a:solidFill>
            <a:prstDash val="solid"/>
          </a:ln>
        </p:spPr>
      </p:sp>
      <p:sp>
        <p:nvSpPr>
          <p:cNvPr id="21" name="Shape 19"/>
          <p:cNvSpPr/>
          <p:nvPr/>
        </p:nvSpPr>
        <p:spPr>
          <a:xfrm>
            <a:off x="1005840" y="5074920"/>
            <a:ext cx="438912" cy="438912"/>
          </a:xfrm>
          <a:prstGeom prst="ellipse">
            <a:avLst/>
          </a:prstGeom>
          <a:solidFill>
            <a:srgbClr val="F59E0B"/>
          </a:solidFill>
          <a:ln w="12700">
            <a:solidFill>
              <a:srgbClr val="F59E0B"/>
            </a:solidFill>
            <a:prstDash val="solid"/>
          </a:ln>
        </p:spPr>
      </p:sp>
      <p:sp>
        <p:nvSpPr>
          <p:cNvPr id="22" name="Text 20"/>
          <p:cNvSpPr/>
          <p:nvPr/>
        </p:nvSpPr>
        <p:spPr>
          <a:xfrm>
            <a:off x="1005840" y="5193792"/>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23" name="Text 21"/>
          <p:cNvSpPr/>
          <p:nvPr/>
        </p:nvSpPr>
        <p:spPr>
          <a:xfrm>
            <a:off x="1737360" y="5129784"/>
            <a:ext cx="9098280" cy="274320"/>
          </a:xfrm>
          <a:prstGeom prst="rect">
            <a:avLst/>
          </a:prstGeom>
          <a:noFill/>
          <a:ln/>
        </p:spPr>
        <p:txBody>
          <a:bodyPr wrap="square" lIns="0" tIns="0" rIns="0" bIns="0" rtlCol="0" anchor="ctr"/>
          <a:lstStyle/>
          <a:p>
            <a:pPr marL="0" indent="0">
              <a:buNone/>
            </a:pPr>
            <a:r>
              <a:rPr lang="en-US" sz="1600" dirty="0">
                <a:solidFill>
                  <a:srgbClr val="172033"/>
                </a:solidFill>
              </a:rPr>
              <a:t>Compare CDS with Open SQL/class-based extraction.</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14: Model answer</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Use this as a reference, then replace placeholders with verified system details.</a:t>
            </a:r>
            <a:endParaRPr lang="en-US" sz="1150" dirty="0"/>
          </a:p>
        </p:txBody>
      </p:sp>
      <p:sp>
        <p:nvSpPr>
          <p:cNvPr id="4" name="Shape 2"/>
          <p:cNvSpPr/>
          <p:nvPr/>
        </p:nvSpPr>
        <p:spPr>
          <a:xfrm>
            <a:off x="713232" y="1207008"/>
            <a:ext cx="10972800" cy="5010912"/>
          </a:xfrm>
          <a:prstGeom prst="roundRect">
            <a:avLst>
              <a:gd name="adj" fmla="val 1460"/>
            </a:avLst>
          </a:prstGeom>
          <a:solidFill>
            <a:srgbClr val="10263B"/>
          </a:solidFill>
          <a:ln w="12700">
            <a:solidFill>
              <a:srgbClr val="284B66"/>
            </a:solidFill>
            <a:prstDash val="solid"/>
          </a:ln>
        </p:spPr>
      </p:sp>
      <p:sp>
        <p:nvSpPr>
          <p:cNvPr id="5" name="Text 3"/>
          <p:cNvSpPr/>
          <p:nvPr/>
        </p:nvSpPr>
        <p:spPr>
          <a:xfrm>
            <a:off x="877824" y="1344168"/>
            <a:ext cx="10643616" cy="4736592"/>
          </a:xfrm>
          <a:prstGeom prst="rect">
            <a:avLst/>
          </a:prstGeom>
          <a:noFill/>
          <a:ln/>
        </p:spPr>
        <p:txBody>
          <a:bodyPr wrap="square" lIns="254" tIns="254" rIns="254" bIns="254" rtlCol="0" anchor="ctr">
            <a:normAutofit/>
          </a:bodyPr>
          <a:lstStyle/>
          <a:p>
            <a:pPr marL="0" indent="0">
              <a:buNone/>
            </a:pPr>
            <a:r>
              <a:rPr lang="en-US" sz="1250" dirty="0">
                <a:solidFill>
                  <a:srgbClr val="EDF6FC"/>
                </a:solidFill>
                <a:latin typeface="Consolas" pitchFamily="34" charset="0"/>
                <a:ea typeface="Consolas" pitchFamily="34" charset="-122"/>
                <a:cs typeface="Consolas" pitchFamily="34" charset="-120"/>
              </a:rPr>
              <a:t>Assess whether CDS is suitable for the stated HR report on [S/4HANA version/ABAP release]. Consider the consumer, key-date or interval logic, multiple validity records, calculations, country-specific rules, required authorisation and expected volume. If CDS is suitable, propose the view model and only the annotations required by the consumer. If not, propose a testable Open SQL or class-based alternative. Explain the trade-offs and provide a validation approach; do not assume CDS is preferable merely because the database is HANA.</a:t>
            </a:r>
            <a:endParaRPr lang="en-US" sz="125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15: Build acceptance criteria for generated code</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Level: Quality</a:t>
            </a:r>
            <a:endParaRPr lang="en-US" sz="1150" dirty="0"/>
          </a:p>
        </p:txBody>
      </p:sp>
      <p:sp>
        <p:nvSpPr>
          <p:cNvPr id="4" name="Shape 2"/>
          <p:cNvSpPr/>
          <p:nvPr/>
        </p:nvSpPr>
        <p:spPr>
          <a:xfrm>
            <a:off x="685800" y="1234440"/>
            <a:ext cx="3703320" cy="4800600"/>
          </a:xfrm>
          <a:prstGeom prst="roundRect">
            <a:avLst>
              <a:gd name="adj" fmla="val 1975"/>
            </a:avLst>
          </a:prstGeom>
          <a:solidFill>
            <a:srgbClr val="EEF5FB"/>
          </a:solidFill>
          <a:ln w="12700">
            <a:solidFill>
              <a:srgbClr val="D9E1EA"/>
            </a:solidFill>
            <a:prstDash val="solid"/>
          </a:ln>
        </p:spPr>
      </p:sp>
      <p:sp>
        <p:nvSpPr>
          <p:cNvPr id="5" name="Shape 3"/>
          <p:cNvSpPr/>
          <p:nvPr/>
        </p:nvSpPr>
        <p:spPr>
          <a:xfrm>
            <a:off x="932688" y="1508760"/>
            <a:ext cx="1143000" cy="310896"/>
          </a:xfrm>
          <a:prstGeom prst="roundRect">
            <a:avLst>
              <a:gd name="adj" fmla="val 23529"/>
            </a:avLst>
          </a:prstGeom>
          <a:solidFill>
            <a:srgbClr val="0B5CAD"/>
          </a:solidFill>
          <a:ln w="12700">
            <a:solidFill>
              <a:srgbClr val="0B5CAD"/>
            </a:solidFill>
            <a:prstDash val="solid"/>
          </a:ln>
        </p:spPr>
      </p:sp>
      <p:sp>
        <p:nvSpPr>
          <p:cNvPr id="6" name="Text 4"/>
          <p:cNvSpPr/>
          <p:nvPr/>
        </p:nvSpPr>
        <p:spPr>
          <a:xfrm>
            <a:off x="978408" y="1577340"/>
            <a:ext cx="1051560" cy="164592"/>
          </a:xfrm>
          <a:prstGeom prst="rect">
            <a:avLst/>
          </a:prstGeom>
          <a:noFill/>
          <a:ln/>
        </p:spPr>
        <p:txBody>
          <a:bodyPr wrap="square" lIns="0" tIns="0" rIns="0" bIns="0" rtlCol="0" anchor="ctr"/>
          <a:lstStyle/>
          <a:p>
            <a:pPr marL="0" indent="0" algn="ctr">
              <a:buNone/>
            </a:pPr>
            <a:r>
              <a:rPr lang="en-US" sz="900" b="1" dirty="0">
                <a:solidFill>
                  <a:srgbClr val="FFFFFF"/>
                </a:solidFill>
              </a:rPr>
              <a:t>SCENARIO</a:t>
            </a:r>
            <a:endParaRPr lang="en-US" sz="900" dirty="0"/>
          </a:p>
        </p:txBody>
      </p:sp>
      <p:sp>
        <p:nvSpPr>
          <p:cNvPr id="7" name="Text 5"/>
          <p:cNvSpPr/>
          <p:nvPr/>
        </p:nvSpPr>
        <p:spPr>
          <a:xfrm>
            <a:off x="960120" y="2148840"/>
            <a:ext cx="3154680" cy="2057400"/>
          </a:xfrm>
          <a:prstGeom prst="rect">
            <a:avLst/>
          </a:prstGeom>
          <a:noFill/>
          <a:ln/>
        </p:spPr>
        <p:txBody>
          <a:bodyPr wrap="square" lIns="0" tIns="0" rIns="0" bIns="0" rtlCol="0" anchor="ctr"/>
          <a:lstStyle/>
          <a:p>
            <a:pPr marL="0" indent="0" algn="ctr">
              <a:buNone/>
            </a:pPr>
            <a:r>
              <a:rPr lang="en-US" sz="1700" b="1" dirty="0">
                <a:solidFill>
                  <a:srgbClr val="172033"/>
                </a:solidFill>
              </a:rPr>
              <a:t>A production prompt has requirements but no definition of done.</a:t>
            </a:r>
            <a:endParaRPr lang="en-US" sz="1700" dirty="0"/>
          </a:p>
        </p:txBody>
      </p:sp>
      <p:sp>
        <p:nvSpPr>
          <p:cNvPr id="8" name="Shape 6"/>
          <p:cNvSpPr/>
          <p:nvPr/>
        </p:nvSpPr>
        <p:spPr>
          <a:xfrm>
            <a:off x="4590288" y="1234440"/>
            <a:ext cx="6903720" cy="4800600"/>
          </a:xfrm>
          <a:prstGeom prst="roundRect">
            <a:avLst>
              <a:gd name="adj" fmla="val 1524"/>
            </a:avLst>
          </a:prstGeom>
          <a:solidFill>
            <a:srgbClr val="FFF9ED"/>
          </a:solidFill>
          <a:ln w="12700">
            <a:solidFill>
              <a:srgbClr val="F2D89C"/>
            </a:solidFill>
            <a:prstDash val="solid"/>
          </a:ln>
        </p:spPr>
      </p:sp>
      <p:sp>
        <p:nvSpPr>
          <p:cNvPr id="9" name="Shape 7"/>
          <p:cNvSpPr/>
          <p:nvPr/>
        </p:nvSpPr>
        <p:spPr>
          <a:xfrm>
            <a:off x="4873752" y="1508760"/>
            <a:ext cx="1188720" cy="310896"/>
          </a:xfrm>
          <a:prstGeom prst="roundRect">
            <a:avLst>
              <a:gd name="adj" fmla="val 23529"/>
            </a:avLst>
          </a:prstGeom>
          <a:solidFill>
            <a:srgbClr val="F59E0B"/>
          </a:solidFill>
          <a:ln w="12700">
            <a:solidFill>
              <a:srgbClr val="F59E0B"/>
            </a:solidFill>
            <a:prstDash val="solid"/>
          </a:ln>
        </p:spPr>
      </p:sp>
      <p:sp>
        <p:nvSpPr>
          <p:cNvPr id="10" name="Text 8"/>
          <p:cNvSpPr/>
          <p:nvPr/>
        </p:nvSpPr>
        <p:spPr>
          <a:xfrm>
            <a:off x="4919472" y="1577340"/>
            <a:ext cx="1097280" cy="164592"/>
          </a:xfrm>
          <a:prstGeom prst="rect">
            <a:avLst/>
          </a:prstGeom>
          <a:noFill/>
          <a:ln/>
        </p:spPr>
        <p:txBody>
          <a:bodyPr wrap="square" lIns="0" tIns="0" rIns="0" bIns="0" rtlCol="0" anchor="ctr"/>
          <a:lstStyle/>
          <a:p>
            <a:pPr marL="0" indent="0" algn="ctr">
              <a:buNone/>
            </a:pPr>
            <a:r>
              <a:rPr lang="en-US" sz="900" b="1" dirty="0">
                <a:solidFill>
                  <a:srgbClr val="FFFFFF"/>
                </a:solidFill>
              </a:rPr>
              <a:t>YOUR TASK</a:t>
            </a:r>
            <a:endParaRPr lang="en-US" sz="900" dirty="0"/>
          </a:p>
        </p:txBody>
      </p:sp>
      <p:sp>
        <p:nvSpPr>
          <p:cNvPr id="11" name="Shape 9"/>
          <p:cNvSpPr/>
          <p:nvPr/>
        </p:nvSpPr>
        <p:spPr>
          <a:xfrm>
            <a:off x="4937760" y="2313432"/>
            <a:ext cx="192024" cy="192024"/>
          </a:xfrm>
          <a:prstGeom prst="ellipse">
            <a:avLst/>
          </a:prstGeom>
          <a:solidFill>
            <a:srgbClr val="15B8A6"/>
          </a:solidFill>
          <a:ln w="12700">
            <a:solidFill>
              <a:srgbClr val="15B8A6"/>
            </a:solidFill>
            <a:prstDash val="solid"/>
          </a:ln>
        </p:spPr>
      </p:sp>
      <p:sp>
        <p:nvSpPr>
          <p:cNvPr id="12" name="Text 10"/>
          <p:cNvSpPr/>
          <p:nvPr/>
        </p:nvSpPr>
        <p:spPr>
          <a:xfrm>
            <a:off x="5266944" y="224028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Write measurable criteria.</a:t>
            </a:r>
            <a:endParaRPr lang="en-US" sz="1600" dirty="0"/>
          </a:p>
        </p:txBody>
      </p:sp>
      <p:sp>
        <p:nvSpPr>
          <p:cNvPr id="13" name="Shape 11"/>
          <p:cNvSpPr/>
          <p:nvPr/>
        </p:nvSpPr>
        <p:spPr>
          <a:xfrm>
            <a:off x="4937760" y="3136392"/>
            <a:ext cx="192024" cy="192024"/>
          </a:xfrm>
          <a:prstGeom prst="ellipse">
            <a:avLst/>
          </a:prstGeom>
          <a:solidFill>
            <a:srgbClr val="15B8A6"/>
          </a:solidFill>
          <a:ln w="12700">
            <a:solidFill>
              <a:srgbClr val="15B8A6"/>
            </a:solidFill>
            <a:prstDash val="solid"/>
          </a:ln>
        </p:spPr>
      </p:sp>
      <p:sp>
        <p:nvSpPr>
          <p:cNvPr id="14" name="Text 12"/>
          <p:cNvSpPr/>
          <p:nvPr/>
        </p:nvSpPr>
        <p:spPr>
          <a:xfrm>
            <a:off x="5266944" y="306324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Cover function, security, compatibility and tests.</a:t>
            </a:r>
            <a:endParaRPr lang="en-US" sz="1600" dirty="0"/>
          </a:p>
        </p:txBody>
      </p:sp>
      <p:sp>
        <p:nvSpPr>
          <p:cNvPr id="15" name="Shape 13"/>
          <p:cNvSpPr/>
          <p:nvPr/>
        </p:nvSpPr>
        <p:spPr>
          <a:xfrm>
            <a:off x="4937760" y="3959352"/>
            <a:ext cx="192024" cy="192024"/>
          </a:xfrm>
          <a:prstGeom prst="ellipse">
            <a:avLst/>
          </a:prstGeom>
          <a:solidFill>
            <a:srgbClr val="15B8A6"/>
          </a:solidFill>
          <a:ln w="12700">
            <a:solidFill>
              <a:srgbClr val="15B8A6"/>
            </a:solidFill>
            <a:prstDash val="solid"/>
          </a:ln>
        </p:spPr>
      </p:sp>
      <p:sp>
        <p:nvSpPr>
          <p:cNvPr id="16" name="Text 14"/>
          <p:cNvSpPr/>
          <p:nvPr/>
        </p:nvSpPr>
        <p:spPr>
          <a:xfrm>
            <a:off x="5266944" y="3886200"/>
            <a:ext cx="570585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Add assumption handling.</a:t>
            </a:r>
            <a:endParaRPr lang="en-US" sz="1600" dirty="0"/>
          </a:p>
        </p:txBody>
      </p:sp>
      <p:sp>
        <p:nvSpPr>
          <p:cNvPr id="17" name="Text 15"/>
          <p:cNvSpPr/>
          <p:nvPr/>
        </p:nvSpPr>
        <p:spPr>
          <a:xfrm>
            <a:off x="4983480" y="5166360"/>
            <a:ext cx="5852160" cy="411480"/>
          </a:xfrm>
          <a:prstGeom prst="rect">
            <a:avLst/>
          </a:prstGeom>
          <a:noFill/>
          <a:ln/>
        </p:spPr>
        <p:txBody>
          <a:bodyPr wrap="square" lIns="0" tIns="0" rIns="0" bIns="0" rtlCol="0" anchor="ctr"/>
          <a:lstStyle/>
          <a:p>
            <a:pPr marL="0" indent="0" algn="ctr">
              <a:buNone/>
            </a:pPr>
            <a:r>
              <a:rPr lang="en-US" sz="1400" b="1" dirty="0">
                <a:solidFill>
                  <a:srgbClr val="D14343"/>
                </a:solidFill>
              </a:rPr>
              <a:t>Pause here and create your answer before moving to the next slide.</a:t>
            </a:r>
            <a:endParaRPr lang="en-US" sz="14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15: Guided steps</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Build the answer one decision at a time.</a:t>
            </a:r>
            <a:endParaRPr lang="en-US" sz="1150" dirty="0"/>
          </a:p>
        </p:txBody>
      </p:sp>
      <p:sp>
        <p:nvSpPr>
          <p:cNvPr id="4" name="Shape 2"/>
          <p:cNvSpPr/>
          <p:nvPr/>
        </p:nvSpPr>
        <p:spPr>
          <a:xfrm>
            <a:off x="786384" y="1225296"/>
            <a:ext cx="10561320" cy="685800"/>
          </a:xfrm>
          <a:prstGeom prst="roundRect">
            <a:avLst>
              <a:gd name="adj" fmla="val 10667"/>
            </a:avLst>
          </a:prstGeom>
          <a:solidFill>
            <a:srgbClr val="FFFFFF"/>
          </a:solidFill>
          <a:ln w="12700">
            <a:solidFill>
              <a:srgbClr val="D9E1EA"/>
            </a:solidFill>
            <a:prstDash val="solid"/>
          </a:ln>
        </p:spPr>
      </p:sp>
      <p:sp>
        <p:nvSpPr>
          <p:cNvPr id="5" name="Shape 3"/>
          <p:cNvSpPr/>
          <p:nvPr/>
        </p:nvSpPr>
        <p:spPr>
          <a:xfrm>
            <a:off x="1005840" y="1344168"/>
            <a:ext cx="438912" cy="438912"/>
          </a:xfrm>
          <a:prstGeom prst="ellipse">
            <a:avLst/>
          </a:prstGeom>
          <a:solidFill>
            <a:srgbClr val="15B8A6"/>
          </a:solidFill>
          <a:ln w="12700">
            <a:solidFill>
              <a:srgbClr val="15B8A6"/>
            </a:solidFill>
            <a:prstDash val="solid"/>
          </a:ln>
        </p:spPr>
      </p:sp>
      <p:sp>
        <p:nvSpPr>
          <p:cNvPr id="6" name="Text 4"/>
          <p:cNvSpPr/>
          <p:nvPr/>
        </p:nvSpPr>
        <p:spPr>
          <a:xfrm>
            <a:off x="1005840" y="1463040"/>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7" name="Text 5"/>
          <p:cNvSpPr/>
          <p:nvPr/>
        </p:nvSpPr>
        <p:spPr>
          <a:xfrm>
            <a:off x="1737360" y="1399032"/>
            <a:ext cx="9098280" cy="274320"/>
          </a:xfrm>
          <a:prstGeom prst="rect">
            <a:avLst/>
          </a:prstGeom>
          <a:noFill/>
          <a:ln/>
        </p:spPr>
        <p:txBody>
          <a:bodyPr wrap="square" lIns="0" tIns="0" rIns="0" bIns="0" rtlCol="0" anchor="ctr"/>
          <a:lstStyle/>
          <a:p>
            <a:pPr marL="0" indent="0">
              <a:buNone/>
            </a:pPr>
            <a:r>
              <a:rPr lang="en-US" sz="1600" dirty="0">
                <a:solidFill>
                  <a:srgbClr val="172033"/>
                </a:solidFill>
              </a:rPr>
              <a:t>Convert each rule into an observable result.</a:t>
            </a:r>
            <a:endParaRPr lang="en-US" sz="1600" dirty="0"/>
          </a:p>
        </p:txBody>
      </p:sp>
      <p:sp>
        <p:nvSpPr>
          <p:cNvPr id="8" name="Shape 6"/>
          <p:cNvSpPr/>
          <p:nvPr/>
        </p:nvSpPr>
        <p:spPr>
          <a:xfrm>
            <a:off x="786384" y="2157984"/>
            <a:ext cx="10561320" cy="685800"/>
          </a:xfrm>
          <a:prstGeom prst="roundRect">
            <a:avLst>
              <a:gd name="adj" fmla="val 10667"/>
            </a:avLst>
          </a:prstGeom>
          <a:solidFill>
            <a:srgbClr val="F0FAF8"/>
          </a:solidFill>
          <a:ln w="12700">
            <a:solidFill>
              <a:srgbClr val="D9E1EA"/>
            </a:solidFill>
            <a:prstDash val="solid"/>
          </a:ln>
        </p:spPr>
      </p:sp>
      <p:sp>
        <p:nvSpPr>
          <p:cNvPr id="9" name="Shape 7"/>
          <p:cNvSpPr/>
          <p:nvPr/>
        </p:nvSpPr>
        <p:spPr>
          <a:xfrm>
            <a:off x="1005840" y="2276856"/>
            <a:ext cx="438912" cy="438912"/>
          </a:xfrm>
          <a:prstGeom prst="ellipse">
            <a:avLst/>
          </a:prstGeom>
          <a:solidFill>
            <a:srgbClr val="15B8A6"/>
          </a:solidFill>
          <a:ln w="12700">
            <a:solidFill>
              <a:srgbClr val="15B8A6"/>
            </a:solidFill>
            <a:prstDash val="solid"/>
          </a:ln>
        </p:spPr>
      </p:sp>
      <p:sp>
        <p:nvSpPr>
          <p:cNvPr id="10" name="Text 8"/>
          <p:cNvSpPr/>
          <p:nvPr/>
        </p:nvSpPr>
        <p:spPr>
          <a:xfrm>
            <a:off x="1005840" y="2395728"/>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1" name="Text 9"/>
          <p:cNvSpPr/>
          <p:nvPr/>
        </p:nvSpPr>
        <p:spPr>
          <a:xfrm>
            <a:off x="1737360" y="2331720"/>
            <a:ext cx="9098280" cy="274320"/>
          </a:xfrm>
          <a:prstGeom prst="rect">
            <a:avLst/>
          </a:prstGeom>
          <a:noFill/>
          <a:ln/>
        </p:spPr>
        <p:txBody>
          <a:bodyPr wrap="square" lIns="0" tIns="0" rIns="0" bIns="0" rtlCol="0" anchor="ctr"/>
          <a:lstStyle/>
          <a:p>
            <a:pPr marL="0" indent="0">
              <a:buNone/>
            </a:pPr>
            <a:r>
              <a:rPr lang="en-US" sz="1600" dirty="0">
                <a:solidFill>
                  <a:srgbClr val="172033"/>
                </a:solidFill>
              </a:rPr>
              <a:t>Add failure behaviour.</a:t>
            </a:r>
            <a:endParaRPr lang="en-US" sz="1600" dirty="0"/>
          </a:p>
        </p:txBody>
      </p:sp>
      <p:sp>
        <p:nvSpPr>
          <p:cNvPr id="12" name="Shape 10"/>
          <p:cNvSpPr/>
          <p:nvPr/>
        </p:nvSpPr>
        <p:spPr>
          <a:xfrm>
            <a:off x="786384" y="3090672"/>
            <a:ext cx="10561320" cy="685800"/>
          </a:xfrm>
          <a:prstGeom prst="roundRect">
            <a:avLst>
              <a:gd name="adj" fmla="val 10667"/>
            </a:avLst>
          </a:prstGeom>
          <a:solidFill>
            <a:srgbClr val="FFFFFF"/>
          </a:solidFill>
          <a:ln w="12700">
            <a:solidFill>
              <a:srgbClr val="D9E1EA"/>
            </a:solidFill>
            <a:prstDash val="solid"/>
          </a:ln>
        </p:spPr>
      </p:sp>
      <p:sp>
        <p:nvSpPr>
          <p:cNvPr id="13" name="Shape 11"/>
          <p:cNvSpPr/>
          <p:nvPr/>
        </p:nvSpPr>
        <p:spPr>
          <a:xfrm>
            <a:off x="1005840" y="3209544"/>
            <a:ext cx="438912" cy="438912"/>
          </a:xfrm>
          <a:prstGeom prst="ellipse">
            <a:avLst/>
          </a:prstGeom>
          <a:solidFill>
            <a:srgbClr val="15B8A6"/>
          </a:solidFill>
          <a:ln w="12700">
            <a:solidFill>
              <a:srgbClr val="15B8A6"/>
            </a:solidFill>
            <a:prstDash val="solid"/>
          </a:ln>
        </p:spPr>
      </p:sp>
      <p:sp>
        <p:nvSpPr>
          <p:cNvPr id="14" name="Text 12"/>
          <p:cNvSpPr/>
          <p:nvPr/>
        </p:nvSpPr>
        <p:spPr>
          <a:xfrm>
            <a:off x="1005840" y="3328416"/>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5" name="Text 13"/>
          <p:cNvSpPr/>
          <p:nvPr/>
        </p:nvSpPr>
        <p:spPr>
          <a:xfrm>
            <a:off x="1737360" y="3264408"/>
            <a:ext cx="9098280" cy="274320"/>
          </a:xfrm>
          <a:prstGeom prst="rect">
            <a:avLst/>
          </a:prstGeom>
          <a:noFill/>
          <a:ln/>
        </p:spPr>
        <p:txBody>
          <a:bodyPr wrap="square" lIns="0" tIns="0" rIns="0" bIns="0" rtlCol="0" anchor="ctr"/>
          <a:lstStyle/>
          <a:p>
            <a:pPr marL="0" indent="0">
              <a:buNone/>
            </a:pPr>
            <a:r>
              <a:rPr lang="en-US" sz="1600" dirty="0">
                <a:solidFill>
                  <a:srgbClr val="172033"/>
                </a:solidFill>
              </a:rPr>
              <a:t>Add release and syntax compliance.</a:t>
            </a:r>
            <a:endParaRPr lang="en-US" sz="1600" dirty="0"/>
          </a:p>
        </p:txBody>
      </p:sp>
      <p:sp>
        <p:nvSpPr>
          <p:cNvPr id="16" name="Shape 14"/>
          <p:cNvSpPr/>
          <p:nvPr/>
        </p:nvSpPr>
        <p:spPr>
          <a:xfrm>
            <a:off x="786384" y="4023360"/>
            <a:ext cx="10561320" cy="685800"/>
          </a:xfrm>
          <a:prstGeom prst="roundRect">
            <a:avLst>
              <a:gd name="adj" fmla="val 10667"/>
            </a:avLst>
          </a:prstGeom>
          <a:solidFill>
            <a:srgbClr val="F0FAF8"/>
          </a:solidFill>
          <a:ln w="12700">
            <a:solidFill>
              <a:srgbClr val="D9E1EA"/>
            </a:solidFill>
            <a:prstDash val="solid"/>
          </a:ln>
        </p:spPr>
      </p:sp>
      <p:sp>
        <p:nvSpPr>
          <p:cNvPr id="17" name="Shape 15"/>
          <p:cNvSpPr/>
          <p:nvPr/>
        </p:nvSpPr>
        <p:spPr>
          <a:xfrm>
            <a:off x="1005840" y="4142232"/>
            <a:ext cx="438912" cy="438912"/>
          </a:xfrm>
          <a:prstGeom prst="ellipse">
            <a:avLst/>
          </a:prstGeom>
          <a:solidFill>
            <a:srgbClr val="15B8A6"/>
          </a:solidFill>
          <a:ln w="12700">
            <a:solidFill>
              <a:srgbClr val="15B8A6"/>
            </a:solidFill>
            <a:prstDash val="solid"/>
          </a:ln>
        </p:spPr>
      </p:sp>
      <p:sp>
        <p:nvSpPr>
          <p:cNvPr id="18" name="Text 16"/>
          <p:cNvSpPr/>
          <p:nvPr/>
        </p:nvSpPr>
        <p:spPr>
          <a:xfrm>
            <a:off x="1005840" y="4261104"/>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19" name="Text 17"/>
          <p:cNvSpPr/>
          <p:nvPr/>
        </p:nvSpPr>
        <p:spPr>
          <a:xfrm>
            <a:off x="1737360" y="4197096"/>
            <a:ext cx="9098280" cy="274320"/>
          </a:xfrm>
          <a:prstGeom prst="rect">
            <a:avLst/>
          </a:prstGeom>
          <a:noFill/>
          <a:ln/>
        </p:spPr>
        <p:txBody>
          <a:bodyPr wrap="square" lIns="0" tIns="0" rIns="0" bIns="0" rtlCol="0" anchor="ctr"/>
          <a:lstStyle/>
          <a:p>
            <a:pPr marL="0" indent="0">
              <a:buNone/>
            </a:pPr>
            <a:r>
              <a:rPr lang="en-US" sz="1600" dirty="0">
                <a:solidFill>
                  <a:srgbClr val="172033"/>
                </a:solidFill>
              </a:rPr>
              <a:t>Add performance or volume where known.</a:t>
            </a:r>
            <a:endParaRPr lang="en-US" sz="1600" dirty="0"/>
          </a:p>
        </p:txBody>
      </p:sp>
      <p:sp>
        <p:nvSpPr>
          <p:cNvPr id="20" name="Shape 18"/>
          <p:cNvSpPr/>
          <p:nvPr/>
        </p:nvSpPr>
        <p:spPr>
          <a:xfrm>
            <a:off x="786384" y="4956048"/>
            <a:ext cx="10561320" cy="685800"/>
          </a:xfrm>
          <a:prstGeom prst="roundRect">
            <a:avLst>
              <a:gd name="adj" fmla="val 10667"/>
            </a:avLst>
          </a:prstGeom>
          <a:solidFill>
            <a:srgbClr val="FFFFFF"/>
          </a:solidFill>
          <a:ln w="12700">
            <a:solidFill>
              <a:srgbClr val="D9E1EA"/>
            </a:solidFill>
            <a:prstDash val="solid"/>
          </a:ln>
        </p:spPr>
      </p:sp>
      <p:sp>
        <p:nvSpPr>
          <p:cNvPr id="21" name="Shape 19"/>
          <p:cNvSpPr/>
          <p:nvPr/>
        </p:nvSpPr>
        <p:spPr>
          <a:xfrm>
            <a:off x="1005840" y="5074920"/>
            <a:ext cx="438912" cy="438912"/>
          </a:xfrm>
          <a:prstGeom prst="ellipse">
            <a:avLst/>
          </a:prstGeom>
          <a:solidFill>
            <a:srgbClr val="F59E0B"/>
          </a:solidFill>
          <a:ln w="12700">
            <a:solidFill>
              <a:srgbClr val="F59E0B"/>
            </a:solidFill>
            <a:prstDash val="solid"/>
          </a:ln>
        </p:spPr>
      </p:sp>
      <p:sp>
        <p:nvSpPr>
          <p:cNvPr id="22" name="Text 20"/>
          <p:cNvSpPr/>
          <p:nvPr/>
        </p:nvSpPr>
        <p:spPr>
          <a:xfrm>
            <a:off x="1005840" y="5193792"/>
            <a:ext cx="438912" cy="164592"/>
          </a:xfrm>
          <a:prstGeom prst="rect">
            <a:avLst/>
          </a:prstGeom>
          <a:no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23" name="Text 21"/>
          <p:cNvSpPr/>
          <p:nvPr/>
        </p:nvSpPr>
        <p:spPr>
          <a:xfrm>
            <a:off x="1737360" y="5129784"/>
            <a:ext cx="9098280" cy="274320"/>
          </a:xfrm>
          <a:prstGeom prst="rect">
            <a:avLst/>
          </a:prstGeom>
          <a:noFill/>
          <a:ln/>
        </p:spPr>
        <p:txBody>
          <a:bodyPr wrap="square" lIns="0" tIns="0" rIns="0" bIns="0" rtlCol="0" anchor="ctr"/>
          <a:lstStyle/>
          <a:p>
            <a:pPr marL="0" indent="0">
              <a:buNone/>
            </a:pPr>
            <a:r>
              <a:rPr lang="en-US" sz="1600" dirty="0">
                <a:solidFill>
                  <a:srgbClr val="172033"/>
                </a:solidFill>
              </a:rPr>
              <a:t>Require assumptions and verification points.</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Exercise 15: Model answer</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Use this as a reference, then replace placeholders with verified system details.</a:t>
            </a:r>
            <a:endParaRPr lang="en-US" sz="1150" dirty="0"/>
          </a:p>
        </p:txBody>
      </p:sp>
      <p:sp>
        <p:nvSpPr>
          <p:cNvPr id="4" name="Shape 2"/>
          <p:cNvSpPr/>
          <p:nvPr/>
        </p:nvSpPr>
        <p:spPr>
          <a:xfrm>
            <a:off x="713232" y="1207008"/>
            <a:ext cx="10972800" cy="5010912"/>
          </a:xfrm>
          <a:prstGeom prst="roundRect">
            <a:avLst>
              <a:gd name="adj" fmla="val 1460"/>
            </a:avLst>
          </a:prstGeom>
          <a:solidFill>
            <a:srgbClr val="10263B"/>
          </a:solidFill>
          <a:ln w="12700">
            <a:solidFill>
              <a:srgbClr val="284B66"/>
            </a:solidFill>
            <a:prstDash val="solid"/>
          </a:ln>
        </p:spPr>
      </p:sp>
      <p:sp>
        <p:nvSpPr>
          <p:cNvPr id="5" name="Text 3"/>
          <p:cNvSpPr/>
          <p:nvPr/>
        </p:nvSpPr>
        <p:spPr>
          <a:xfrm>
            <a:off x="877824" y="1344168"/>
            <a:ext cx="10643616" cy="4736592"/>
          </a:xfrm>
          <a:prstGeom prst="rect">
            <a:avLst/>
          </a:prstGeom>
          <a:noFill/>
          <a:ln/>
        </p:spPr>
        <p:txBody>
          <a:bodyPr wrap="square" lIns="254" tIns="254" rIns="254" bIns="254" rtlCol="0" anchor="ctr">
            <a:normAutofit/>
          </a:bodyPr>
          <a:lstStyle/>
          <a:p>
            <a:pPr marL="0" indent="0">
              <a:buNone/>
            </a:pPr>
            <a:r>
              <a:rPr lang="en-US" sz="1250" dirty="0">
                <a:solidFill>
                  <a:srgbClr val="EDF6FC"/>
                </a:solidFill>
                <a:latin typeface="Consolas" pitchFamily="34" charset="0"/>
                <a:ea typeface="Consolas" pitchFamily="34" charset="-122"/>
                <a:cs typeface="Consolas" pitchFamily="34" charset="-120"/>
              </a:rPr>
              <a:t>Acceptance criteria: (1) returns only records satisfying the documented validity rule; (2) displays or returns the exact requested fields in the agreed order and type; (3) handles invalid input, no data and authorisation failure without a dump; (4) uses syntax valid for the stated ABAP release and no prohibited constructs; (5) contains no database access inside processing loops unless justified; (6) passes the supplied success, boundary and failure tests; (7) lists every assumption and every SAP object requiring verification.</a:t>
            </a:r>
            <a:endParaRPr lang="en-US" sz="125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1" cy="1"/>
          <a:chOff x="0" y="0"/>
          <a:chExt cx="1" cy="1"/>
        </a:xfrm>
      </p:grpSpPr>
      <p:sp>
        <p:nvSpPr>
          <p:cNvPr id="2" name="Text 0"/>
          <p:cNvSpPr/>
          <p:nvPr/>
        </p:nvSpPr>
        <p:spPr>
          <a:xfrm>
            <a:off x="566928" y="347472"/>
            <a:ext cx="10972800" cy="429768"/>
          </a:xfrm>
          <a:prstGeom prst="rect">
            <a:avLst/>
          </a:prstGeom>
          <a:noFill/>
          <a:ln/>
        </p:spPr>
        <p:txBody>
          <a:bodyPr wrap="square" lIns="0" tIns="0" rIns="0" bIns="0" rtlCol="0" anchor="ctr"/>
          <a:lstStyle/>
          <a:p>
            <a:pPr marL="0" indent="0">
              <a:buNone/>
            </a:pPr>
            <a:r>
              <a:rPr lang="en-US" sz="2400" b="1" dirty="0">
                <a:solidFill>
                  <a:srgbClr val="0B1F33"/>
                </a:solidFill>
              </a:rPr>
              <a:t>Self-review checklist</a:t>
            </a:r>
            <a:endParaRPr lang="en-US" sz="2400" dirty="0"/>
          </a:p>
        </p:txBody>
      </p:sp>
      <p:sp>
        <p:nvSpPr>
          <p:cNvPr id="3" name="Text 1"/>
          <p:cNvSpPr/>
          <p:nvPr/>
        </p:nvSpPr>
        <p:spPr>
          <a:xfrm>
            <a:off x="566928" y="822960"/>
            <a:ext cx="10972800" cy="274320"/>
          </a:xfrm>
          <a:prstGeom prst="rect">
            <a:avLst/>
          </a:prstGeom>
          <a:noFill/>
          <a:ln/>
        </p:spPr>
        <p:txBody>
          <a:bodyPr wrap="square" lIns="0" tIns="0" rIns="0" bIns="0" rtlCol="0" anchor="ctr"/>
          <a:lstStyle/>
          <a:p>
            <a:pPr marL="0" indent="0">
              <a:buNone/>
            </a:pPr>
            <a:r>
              <a:rPr lang="en-US" sz="1150" dirty="0">
                <a:solidFill>
                  <a:srgbClr val="667085"/>
                </a:solidFill>
              </a:rPr>
              <a:t>Use this after every exercise and before using the prompt in a real project.</a:t>
            </a:r>
            <a:endParaRPr lang="en-US" sz="1150" dirty="0"/>
          </a:p>
        </p:txBody>
      </p:sp>
      <p:sp>
        <p:nvSpPr>
          <p:cNvPr id="4" name="Shape 2"/>
          <p:cNvSpPr/>
          <p:nvPr/>
        </p:nvSpPr>
        <p:spPr>
          <a:xfrm>
            <a:off x="960120" y="1490472"/>
            <a:ext cx="192024" cy="192024"/>
          </a:xfrm>
          <a:prstGeom prst="ellipse">
            <a:avLst/>
          </a:prstGeom>
          <a:solidFill>
            <a:srgbClr val="15B8A6"/>
          </a:solidFill>
          <a:ln w="12700">
            <a:solidFill>
              <a:srgbClr val="15B8A6"/>
            </a:solidFill>
            <a:prstDash val="solid"/>
          </a:ln>
        </p:spPr>
      </p:sp>
      <p:sp>
        <p:nvSpPr>
          <p:cNvPr id="5" name="Text 3"/>
          <p:cNvSpPr/>
          <p:nvPr/>
        </p:nvSpPr>
        <p:spPr>
          <a:xfrm>
            <a:off x="1289304" y="1417320"/>
            <a:ext cx="972921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Object and objective are explicit.</a:t>
            </a:r>
            <a:endParaRPr lang="en-US" sz="1600" dirty="0"/>
          </a:p>
        </p:txBody>
      </p:sp>
      <p:sp>
        <p:nvSpPr>
          <p:cNvPr id="6" name="Shape 4"/>
          <p:cNvSpPr/>
          <p:nvPr/>
        </p:nvSpPr>
        <p:spPr>
          <a:xfrm>
            <a:off x="960120" y="2130552"/>
            <a:ext cx="192024" cy="192024"/>
          </a:xfrm>
          <a:prstGeom prst="ellipse">
            <a:avLst/>
          </a:prstGeom>
          <a:solidFill>
            <a:srgbClr val="15B8A6"/>
          </a:solidFill>
          <a:ln w="12700">
            <a:solidFill>
              <a:srgbClr val="15B8A6"/>
            </a:solidFill>
            <a:prstDash val="solid"/>
          </a:ln>
        </p:spPr>
      </p:sp>
      <p:sp>
        <p:nvSpPr>
          <p:cNvPr id="7" name="Text 5"/>
          <p:cNvSpPr/>
          <p:nvPr/>
        </p:nvSpPr>
        <p:spPr>
          <a:xfrm>
            <a:off x="1289304" y="2057400"/>
            <a:ext cx="972921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ECC/S/4HANA, ABAP release and database context are stated.</a:t>
            </a:r>
            <a:endParaRPr lang="en-US" sz="1600" dirty="0"/>
          </a:p>
        </p:txBody>
      </p:sp>
      <p:sp>
        <p:nvSpPr>
          <p:cNvPr id="8" name="Shape 6"/>
          <p:cNvSpPr/>
          <p:nvPr/>
        </p:nvSpPr>
        <p:spPr>
          <a:xfrm>
            <a:off x="960120" y="2770632"/>
            <a:ext cx="192024" cy="192024"/>
          </a:xfrm>
          <a:prstGeom prst="ellipse">
            <a:avLst/>
          </a:prstGeom>
          <a:solidFill>
            <a:srgbClr val="15B8A6"/>
          </a:solidFill>
          <a:ln w="12700">
            <a:solidFill>
              <a:srgbClr val="15B8A6"/>
            </a:solidFill>
            <a:prstDash val="solid"/>
          </a:ln>
        </p:spPr>
      </p:sp>
      <p:sp>
        <p:nvSpPr>
          <p:cNvPr id="9" name="Text 7"/>
          <p:cNvSpPr/>
          <p:nvPr/>
        </p:nvSpPr>
        <p:spPr>
          <a:xfrm>
            <a:off x="1289304" y="2697480"/>
            <a:ext cx="972921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Inputs, outputs, infotypes and fields are defined.</a:t>
            </a:r>
            <a:endParaRPr lang="en-US" sz="1600" dirty="0"/>
          </a:p>
        </p:txBody>
      </p:sp>
      <p:sp>
        <p:nvSpPr>
          <p:cNvPr id="10" name="Shape 8"/>
          <p:cNvSpPr/>
          <p:nvPr/>
        </p:nvSpPr>
        <p:spPr>
          <a:xfrm>
            <a:off x="960120" y="3410712"/>
            <a:ext cx="192024" cy="192024"/>
          </a:xfrm>
          <a:prstGeom prst="ellipse">
            <a:avLst/>
          </a:prstGeom>
          <a:solidFill>
            <a:srgbClr val="15B8A6"/>
          </a:solidFill>
          <a:ln w="12700">
            <a:solidFill>
              <a:srgbClr val="15B8A6"/>
            </a:solidFill>
            <a:prstDash val="solid"/>
          </a:ln>
        </p:spPr>
      </p:sp>
      <p:sp>
        <p:nvSpPr>
          <p:cNvPr id="11" name="Text 9"/>
          <p:cNvSpPr/>
          <p:nvPr/>
        </p:nvSpPr>
        <p:spPr>
          <a:xfrm>
            <a:off x="1289304" y="3337560"/>
            <a:ext cx="972921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Validity, multiple-record and authorisation rules are visible.</a:t>
            </a:r>
            <a:endParaRPr lang="en-US" sz="1600" dirty="0"/>
          </a:p>
        </p:txBody>
      </p:sp>
      <p:sp>
        <p:nvSpPr>
          <p:cNvPr id="12" name="Shape 10"/>
          <p:cNvSpPr/>
          <p:nvPr/>
        </p:nvSpPr>
        <p:spPr>
          <a:xfrm>
            <a:off x="960120" y="4050792"/>
            <a:ext cx="192024" cy="192024"/>
          </a:xfrm>
          <a:prstGeom prst="ellipse">
            <a:avLst/>
          </a:prstGeom>
          <a:solidFill>
            <a:srgbClr val="15B8A6"/>
          </a:solidFill>
          <a:ln w="12700">
            <a:solidFill>
              <a:srgbClr val="15B8A6"/>
            </a:solidFill>
            <a:prstDash val="solid"/>
          </a:ln>
        </p:spPr>
      </p:sp>
      <p:sp>
        <p:nvSpPr>
          <p:cNvPr id="13" name="Text 11"/>
          <p:cNvSpPr/>
          <p:nvPr/>
        </p:nvSpPr>
        <p:spPr>
          <a:xfrm>
            <a:off x="1289304" y="3977640"/>
            <a:ext cx="972921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Performance, error handling and transaction constraints are included.</a:t>
            </a:r>
            <a:endParaRPr lang="en-US" sz="1600" dirty="0"/>
          </a:p>
        </p:txBody>
      </p:sp>
      <p:sp>
        <p:nvSpPr>
          <p:cNvPr id="14" name="Shape 12"/>
          <p:cNvSpPr/>
          <p:nvPr/>
        </p:nvSpPr>
        <p:spPr>
          <a:xfrm>
            <a:off x="960120" y="4690872"/>
            <a:ext cx="192024" cy="192024"/>
          </a:xfrm>
          <a:prstGeom prst="ellipse">
            <a:avLst/>
          </a:prstGeom>
          <a:solidFill>
            <a:srgbClr val="15B8A6"/>
          </a:solidFill>
          <a:ln w="12700">
            <a:solidFill>
              <a:srgbClr val="15B8A6"/>
            </a:solidFill>
            <a:prstDash val="solid"/>
          </a:ln>
        </p:spPr>
      </p:sp>
      <p:sp>
        <p:nvSpPr>
          <p:cNvPr id="15" name="Text 13"/>
          <p:cNvSpPr/>
          <p:nvPr/>
        </p:nvSpPr>
        <p:spPr>
          <a:xfrm>
            <a:off x="1289304" y="4617720"/>
            <a:ext cx="972921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Deliverables, tests and acceptance criteria are measurable.</a:t>
            </a:r>
            <a:endParaRPr lang="en-US" sz="1600" dirty="0"/>
          </a:p>
        </p:txBody>
      </p:sp>
      <p:sp>
        <p:nvSpPr>
          <p:cNvPr id="16" name="Shape 14"/>
          <p:cNvSpPr/>
          <p:nvPr/>
        </p:nvSpPr>
        <p:spPr>
          <a:xfrm>
            <a:off x="960120" y="5330952"/>
            <a:ext cx="192024" cy="192024"/>
          </a:xfrm>
          <a:prstGeom prst="ellipse">
            <a:avLst/>
          </a:prstGeom>
          <a:solidFill>
            <a:srgbClr val="15B8A6"/>
          </a:solidFill>
          <a:ln w="12700">
            <a:solidFill>
              <a:srgbClr val="15B8A6"/>
            </a:solidFill>
            <a:prstDash val="solid"/>
          </a:ln>
        </p:spPr>
      </p:sp>
      <p:sp>
        <p:nvSpPr>
          <p:cNvPr id="17" name="Text 15"/>
          <p:cNvSpPr/>
          <p:nvPr/>
        </p:nvSpPr>
        <p:spPr>
          <a:xfrm>
            <a:off x="1289304" y="5257800"/>
            <a:ext cx="9729216" cy="365760"/>
          </a:xfrm>
          <a:prstGeom prst="rect">
            <a:avLst/>
          </a:prstGeom>
          <a:noFill/>
          <a:ln/>
        </p:spPr>
        <p:txBody>
          <a:bodyPr wrap="square" lIns="0" tIns="0" rIns="0" bIns="0" rtlCol="0" anchor="ctr">
            <a:normAutofit/>
          </a:bodyPr>
          <a:lstStyle/>
          <a:p>
            <a:pPr marL="0" indent="0">
              <a:buNone/>
            </a:pPr>
            <a:r>
              <a:rPr lang="en-US" sz="1600" dirty="0">
                <a:solidFill>
                  <a:srgbClr val="172033"/>
                </a:solidFill>
              </a:rPr>
              <a:t>Assumptions and unverified SAP objects are clearly marked.</a:t>
            </a:r>
            <a:endParaRPr lang="en-US" sz="1600" dirty="0"/>
          </a:p>
        </p:txBody>
      </p:sp>
      <p:sp>
        <p:nvSpPr>
          <p:cNvPr id="25" name="Slide Number Placeholder 0"/>
          <p:cNvSpPr>
            <a:spLocks noGrp="1"/>
          </p:cNvSpPr>
          <p:nvPr>
            <p:ph type="sldNum" sz="quarter" idx="4294967295"/>
          </p:nvPr>
        </p:nvSpPr>
        <p:spPr>
          <a:xfrm>
            <a:off x="11384280" y="6492240"/>
            <a:ext cx="320040" cy="182880"/>
          </a:xfrm>
          <a:prstGeom prst="rect">
            <a:avLst/>
          </a:prstGeom>
          <a:extLst>
            <a:ext uri="{C572A759-6A51-4108-AA02-DFA0A04FC94B}">
              <ma14:wrappingTextBoxFlag xmlns:ma14="http://schemas.microsoft.com/office/mac/drawingml/2011/main" xmlns="" val="0"/>
            </a:ext>
          </a:extLst>
        </p:spPr>
        <p:txBody>
          <a:bodyPr/>
          <a:lstStyle>
            <a:lvl1pPr>
              <a:defRPr sz="850">
                <a:solidFill>
                  <a:srgbClr val="7A8494"/>
                </a:solidFill>
              </a:defRPr>
            </a:lvl1pPr>
          </a:lstStyle>
          <a:p>
            <a:pPr algn="r"/>
            <a:fld id="{F7021451-1387-4CA6-816F-3879F97B5CBC}" type="slidenum">
              <a:rPr lang="en-US" b="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B1F33"/>
        </a:solidFill>
        <a:effectLst/>
      </p:bgPr>
    </p:bg>
    <p:spTree>
      <p:nvGrpSpPr>
        <p:cNvPr id="1" name=""/>
        <p:cNvGrpSpPr/>
        <p:nvPr/>
      </p:nvGrpSpPr>
      <p:grpSpPr>
        <a:xfrm>
          <a:off x="0" y="0"/>
          <a:ext cx="1" cy="1"/>
          <a:chOff x="0" y="0"/>
          <a:chExt cx="1" cy="1"/>
        </a:xfrm>
      </p:grpSpPr>
      <p:sp>
        <p:nvSpPr>
          <p:cNvPr id="2" name="Text 0"/>
          <p:cNvSpPr/>
          <p:nvPr/>
        </p:nvSpPr>
        <p:spPr>
          <a:xfrm>
            <a:off x="777240" y="960120"/>
            <a:ext cx="3657600" cy="320040"/>
          </a:xfrm>
          <a:prstGeom prst="rect">
            <a:avLst/>
          </a:prstGeom>
          <a:noFill/>
          <a:ln/>
        </p:spPr>
        <p:txBody>
          <a:bodyPr wrap="square" lIns="0" tIns="0" rIns="0" bIns="0" rtlCol="0" anchor="ctr"/>
          <a:lstStyle/>
          <a:p>
            <a:pPr marL="0" indent="0">
              <a:buNone/>
            </a:pPr>
            <a:r>
              <a:rPr lang="en-US" sz="1700" b="1" dirty="0">
                <a:solidFill>
                  <a:srgbClr val="7DD3FC"/>
                </a:solidFill>
              </a:rPr>
              <a:t>Practice pattern</a:t>
            </a:r>
            <a:endParaRPr lang="en-US" sz="1700" dirty="0"/>
          </a:p>
        </p:txBody>
      </p:sp>
      <p:sp>
        <p:nvSpPr>
          <p:cNvPr id="3" name="Text 1"/>
          <p:cNvSpPr/>
          <p:nvPr/>
        </p:nvSpPr>
        <p:spPr>
          <a:xfrm>
            <a:off x="777240" y="1600200"/>
            <a:ext cx="6492240" cy="1463040"/>
          </a:xfrm>
          <a:prstGeom prst="rect">
            <a:avLst/>
          </a:prstGeom>
          <a:noFill/>
          <a:ln/>
        </p:spPr>
        <p:txBody>
          <a:bodyPr wrap="square" lIns="0" tIns="0" rIns="0" bIns="0" rtlCol="0" anchor="ctr"/>
          <a:lstStyle/>
          <a:p>
            <a:pPr marL="0" indent="0">
              <a:buNone/>
            </a:pPr>
            <a:r>
              <a:rPr lang="en-US" sz="3000" b="1" dirty="0">
                <a:solidFill>
                  <a:srgbClr val="FFFFFF"/>
                </a:solidFill>
              </a:rPr>
              <a:t>Scenario → Missing details → Structured decisions → Prompt → Acceptance test</a:t>
            </a:r>
            <a:endParaRPr lang="en-US" sz="3000" dirty="0"/>
          </a:p>
        </p:txBody>
      </p:sp>
      <p:sp>
        <p:nvSpPr>
          <p:cNvPr id="4" name="Text 2"/>
          <p:cNvSpPr/>
          <p:nvPr/>
        </p:nvSpPr>
        <p:spPr>
          <a:xfrm>
            <a:off x="822960" y="3749040"/>
            <a:ext cx="6126480" cy="777240"/>
          </a:xfrm>
          <a:prstGeom prst="rect">
            <a:avLst/>
          </a:prstGeom>
          <a:noFill/>
          <a:ln/>
        </p:spPr>
        <p:txBody>
          <a:bodyPr wrap="square" lIns="0" tIns="0" rIns="0" bIns="0" rtlCol="0" anchor="ctr"/>
          <a:lstStyle/>
          <a:p>
            <a:pPr marL="0" indent="0">
              <a:buNone/>
            </a:pPr>
            <a:r>
              <a:rPr lang="en-US" sz="1800" dirty="0">
                <a:solidFill>
                  <a:srgbClr val="D7E7F2"/>
                </a:solidFill>
              </a:rPr>
              <a:t>Verify every SAP object and adapt every model answer to the target release, configuration and business rule.</a:t>
            </a:r>
            <a:endParaRPr lang="en-US" sz="1800" dirty="0"/>
          </a:p>
        </p:txBody>
      </p:sp>
      <p:pic>
        <p:nvPicPr>
          <p:cNvPr id="5" name="Image 0" descr="/mnt/data/cf2bfb0269.png"/>
          <p:cNvPicPr>
            <a:picLocks noChangeAspect="1"/>
          </p:cNvPicPr>
          <p:nvPr/>
        </p:nvPicPr>
        <p:blipFill>
          <a:blip r:embed="rId3"/>
          <a:stretch>
            <a:fillRect/>
          </a:stretch>
        </p:blipFill>
        <p:spPr>
          <a:xfrm>
            <a:off x="7360920" y="0"/>
            <a:ext cx="4830775" cy="6858000"/>
          </a:xfrm>
          <a:prstGeom prst="rect">
            <a:avLst/>
          </a:prstGeom>
        </p:spPr>
      </p:pic>
      <p:sp>
        <p:nvSpPr>
          <p:cNvPr id="6" name="Shape 3"/>
          <p:cNvSpPr/>
          <p:nvPr/>
        </p:nvSpPr>
        <p:spPr>
          <a:xfrm>
            <a:off x="7132320" y="0"/>
            <a:ext cx="5059375" cy="6858000"/>
          </a:xfrm>
          <a:prstGeom prst="rect">
            <a:avLst/>
          </a:prstGeom>
          <a:solidFill>
            <a:srgbClr val="0B1F33">
              <a:alpha val="54000"/>
            </a:srgbClr>
          </a:solidFill>
          <a:ln w="12700">
            <a:solidFill>
              <a:srgbClr val="0B1F33">
                <a:alpha val="0"/>
              </a:srgbClr>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50</Slides>
  <Notes>50</Notes>
  <HiddenSlides>0</HiddenSlides>
  <MMClips>0</MMClips>
  <ScaleCrop>false</ScaleCrop>
  <HeadingPairs>
    <vt:vector size="4" baseType="variant">
      <vt:variant>
        <vt:lpstr>Theme</vt:lpstr>
      </vt:variant>
      <vt:variant>
        <vt:i4>1</vt:i4>
      </vt:variant>
      <vt:variant>
        <vt:lpstr>Slide Titles</vt:lpstr>
      </vt:variant>
      <vt:variant>
        <vt:i4>50</vt:i4>
      </vt:variant>
    </vt:vector>
  </HeadingPairs>
  <TitlesOfParts>
    <vt:vector size="5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 HR ABAP Prompt Practice Exercises</dc:title>
  <dc:subject>Practice exercises with step-by-step answers</dc:subject>
  <dc:creator>Vamsi Reddy Mullangi</dc:creator>
  <cp:lastModifiedBy>Vamsi Reddy Mullangi</cp:lastModifiedBy>
  <cp:revision>2</cp:revision>
  <dcterms:created xsi:type="dcterms:W3CDTF">2026-10-19T06:37:16Z</dcterms:created>
  <dcterms:modified xsi:type="dcterms:W3CDTF">2026-10-21T07:34:02Z</dcterms:modified>
</cp:coreProperties>
</file>